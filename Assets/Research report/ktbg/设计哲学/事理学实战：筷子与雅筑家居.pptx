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jpeg-photo_sp" ContentType="image/jpeg-photo_sp"/>
  <Default Extension="c543a924fe07a86050b5644f621f7e6ac1fcf6d3" ContentType="image/c543a924fe07a86050b5644f621f7e6ac1fcf6d3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embeddedFontLst>
    <p:embeddedFont>
      <p:font typeface="MiSans" charset="-122" pitchFamily="34"/>
      <p:regular r:id="rId4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4.png"/><Relationship Id="rId3" Type="http://schemas.openxmlformats.org/officeDocument/2006/relationships/image" Target="../media/image-2-5.png"/><Relationship Id="rId4" Type="http://schemas.openxmlformats.org/officeDocument/2006/relationships/image" Target="../media/image-2-3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-photo_s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c543a924fe07a86050b5644f621f7e6ac1fcf6d3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3-d2t62pe1bb2p4onbqp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0"/>
            <a:ext cx="12310745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880046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事理学实战：筷子与雅筑家居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208135" y="5678805"/>
            <a:ext cx="2215515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</a:t>
            </a:r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：Kimi AI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395335" y="6047105"/>
            <a:ext cx="3028315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汇报时间</a:t>
            </a:r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：2025/08/05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04:52-d2t62p61bb2p4onbqpm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70" y="4319270"/>
            <a:ext cx="10521950" cy="182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2:04:51-d2t62ou1bb2p4onbqpg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5" y="4269740"/>
            <a:ext cx="701040" cy="6826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f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5400040"/>
            <a:ext cx="701040" cy="68262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2:04:51-d2t62ou1bb2p4onbqph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7405" y="4269740"/>
            <a:ext cx="701040" cy="68262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2:04:52-d2t62p61bb2p4onbqpj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405" y="5400040"/>
            <a:ext cx="701040" cy="682625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2:04:52-d2t62p61bb2p4onbqpk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2845" y="4269740"/>
            <a:ext cx="701040" cy="682625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5-12:04:52-d2t62p61bb2p4onbqpl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0935" y="5408930"/>
            <a:ext cx="701040" cy="682625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370965" y="4444365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项目缘起：从造物到造事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1370965" y="5563235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人群画像：锁定北京中产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5341620" y="444436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田野深描：早餐八情境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5341620" y="556323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洞察整合：四大需求24痛点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9535795" y="444436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概念输出：五大主题方案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9535795" y="556323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雅筑家居：广东中产居住研究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1-d2t62ou1bb2p4onbqp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135" y="3959225"/>
            <a:ext cx="701040" cy="68262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2:04:51-d2t62ou1bb2p4onbqpf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845" y="5082540"/>
            <a:ext cx="701040" cy="6826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h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865" y="4791075"/>
            <a:ext cx="3218815" cy="1841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556885" y="4103370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人群四分：生活方式画像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5556885" y="5222240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方法总结：事理学实战要诀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项目缘起：从造物到造事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00200"/>
            <a:ext cx="1198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研究转向：把早餐当戏剧看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2209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3800"/>
            <a:ext cx="8534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传统调研只问“买什么”，事理学要求先拍“早餐剧”。通过细粒度记录流程，让隐藏需求自然浮现。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479800"/>
            <a:ext cx="2171700" cy="1778000"/>
          </a:xfrm>
          <a:custGeom>
            <a:avLst/>
            <a:gdLst/>
            <a:ahLst/>
            <a:cxnLst/>
            <a:rect l="l" t="t" r="r" b="b"/>
            <a:pathLst>
              <a:path w="2171700" h="1778000">
                <a:moveTo>
                  <a:pt x="101595" y="0"/>
                </a:moveTo>
                <a:lnTo>
                  <a:pt x="2070105" y="0"/>
                </a:lnTo>
                <a:cubicBezTo>
                  <a:pt x="2126214" y="0"/>
                  <a:pt x="2171700" y="45486"/>
                  <a:pt x="2171700" y="101595"/>
                </a:cubicBezTo>
                <a:lnTo>
                  <a:pt x="2171700" y="1676405"/>
                </a:lnTo>
                <a:cubicBezTo>
                  <a:pt x="2171700" y="1732514"/>
                  <a:pt x="2126214" y="1778000"/>
                  <a:pt x="20701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4720" y="363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7" name="Shape 5"/>
          <p:cNvSpPr/>
          <p:nvPr/>
        </p:nvSpPr>
        <p:spPr>
          <a:xfrm>
            <a:off x="1153795" y="384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ubicBezTo>
                  <a:pt x="0" y="85360"/>
                  <a:pt x="85360" y="0"/>
                  <a:pt x="190500" y="0"/>
                </a:cubicBezTo>
                <a:close/>
                <a:moveTo>
                  <a:pt x="172641" y="89297"/>
                </a:moveTo>
                <a:lnTo>
                  <a:pt x="172641" y="190500"/>
                </a:lnTo>
                <a:cubicBezTo>
                  <a:pt x="172641" y="196453"/>
                  <a:pt x="175617" y="202034"/>
                  <a:pt x="180603" y="205383"/>
                </a:cubicBezTo>
                <a:lnTo>
                  <a:pt x="252040" y="253008"/>
                </a:lnTo>
                <a:cubicBezTo>
                  <a:pt x="260226" y="258514"/>
                  <a:pt x="271314" y="256282"/>
                  <a:pt x="276820" y="248022"/>
                </a:cubicBezTo>
                <a:cubicBezTo>
                  <a:pt x="282327" y="239762"/>
                  <a:pt x="280095" y="228749"/>
                  <a:pt x="271835" y="223242"/>
                </a:cubicBezTo>
                <a:lnTo>
                  <a:pt x="208359" y="180975"/>
                </a:lnTo>
                <a:lnTo>
                  <a:pt x="208359" y="89297"/>
                </a:lnTo>
                <a:cubicBezTo>
                  <a:pt x="208359" y="79400"/>
                  <a:pt x="200397" y="71438"/>
                  <a:pt x="190500" y="71438"/>
                </a:cubicBezTo>
                <a:cubicBezTo>
                  <a:pt x="180603" y="71438"/>
                  <a:pt x="172641" y="79400"/>
                  <a:pt x="172641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83920" y="4546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1049" y="4851400"/>
            <a:ext cx="114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清晨7点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31440" y="3479800"/>
            <a:ext cx="2171700" cy="1778000"/>
          </a:xfrm>
          <a:custGeom>
            <a:avLst/>
            <a:gdLst/>
            <a:ahLst/>
            <a:cxnLst/>
            <a:rect l="l" t="t" r="r" b="b"/>
            <a:pathLst>
              <a:path w="2171700" h="1778000">
                <a:moveTo>
                  <a:pt x="101595" y="0"/>
                </a:moveTo>
                <a:lnTo>
                  <a:pt x="2070105" y="0"/>
                </a:lnTo>
                <a:cubicBezTo>
                  <a:pt x="2126214" y="0"/>
                  <a:pt x="2171700" y="45486"/>
                  <a:pt x="2171700" y="101595"/>
                </a:cubicBezTo>
                <a:lnTo>
                  <a:pt x="2171700" y="1676405"/>
                </a:lnTo>
                <a:cubicBezTo>
                  <a:pt x="2171700" y="1732514"/>
                  <a:pt x="2126214" y="1778000"/>
                  <a:pt x="20701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2160" y="363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2" name="Shape 10"/>
          <p:cNvSpPr/>
          <p:nvPr/>
        </p:nvSpPr>
        <p:spPr>
          <a:xfrm>
            <a:off x="3483610" y="38481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61360" y="4546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4851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一家三口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8880" y="3479800"/>
            <a:ext cx="2171700" cy="1778000"/>
          </a:xfrm>
          <a:custGeom>
            <a:avLst/>
            <a:gdLst/>
            <a:ahLst/>
            <a:cxnLst/>
            <a:rect l="l" t="t" r="r" b="b"/>
            <a:pathLst>
              <a:path w="2171700" h="1778000">
                <a:moveTo>
                  <a:pt x="101595" y="0"/>
                </a:moveTo>
                <a:lnTo>
                  <a:pt x="2070105" y="0"/>
                </a:lnTo>
                <a:cubicBezTo>
                  <a:pt x="2126214" y="0"/>
                  <a:pt x="2171700" y="45486"/>
                  <a:pt x="2171700" y="101595"/>
                </a:cubicBezTo>
                <a:lnTo>
                  <a:pt x="2171700" y="1676405"/>
                </a:lnTo>
                <a:cubicBezTo>
                  <a:pt x="2171700" y="1732514"/>
                  <a:pt x="2126214" y="1778000"/>
                  <a:pt x="20701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89600" y="363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7" name="Shape 15"/>
          <p:cNvSpPr/>
          <p:nvPr/>
        </p:nvSpPr>
        <p:spPr>
          <a:xfrm>
            <a:off x="5884863" y="38481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12663" y="9823"/>
                </a:moveTo>
                <a:cubicBezTo>
                  <a:pt x="120253" y="14139"/>
                  <a:pt x="123453" y="23515"/>
                  <a:pt x="120104" y="31626"/>
                </a:cubicBezTo>
                <a:lnTo>
                  <a:pt x="102840" y="73521"/>
                </a:lnTo>
                <a:cubicBezTo>
                  <a:pt x="99938" y="80665"/>
                  <a:pt x="92646" y="84981"/>
                  <a:pt x="84981" y="84237"/>
                </a:cubicBezTo>
                <a:lnTo>
                  <a:pt x="69949" y="82748"/>
                </a:lnTo>
                <a:cubicBezTo>
                  <a:pt x="58564" y="113779"/>
                  <a:pt x="58043" y="148010"/>
                  <a:pt x="68387" y="179412"/>
                </a:cubicBezTo>
                <a:lnTo>
                  <a:pt x="85055" y="177775"/>
                </a:lnTo>
                <a:cubicBezTo>
                  <a:pt x="92720" y="177031"/>
                  <a:pt x="99938" y="181347"/>
                  <a:pt x="102915" y="188491"/>
                </a:cubicBezTo>
                <a:lnTo>
                  <a:pt x="120179" y="230386"/>
                </a:lnTo>
                <a:cubicBezTo>
                  <a:pt x="123527" y="238497"/>
                  <a:pt x="120328" y="247799"/>
                  <a:pt x="112737" y="252189"/>
                </a:cubicBezTo>
                <a:lnTo>
                  <a:pt x="110579" y="253380"/>
                </a:lnTo>
                <a:cubicBezTo>
                  <a:pt x="85576" y="267667"/>
                  <a:pt x="49783" y="265435"/>
                  <a:pt x="31552" y="237306"/>
                </a:cubicBezTo>
                <a:cubicBezTo>
                  <a:pt x="-10344" y="172864"/>
                  <a:pt x="-10344" y="89148"/>
                  <a:pt x="31552" y="24705"/>
                </a:cubicBezTo>
                <a:cubicBezTo>
                  <a:pt x="49857" y="-3349"/>
                  <a:pt x="85651" y="-5581"/>
                  <a:pt x="110579" y="8632"/>
                </a:cubicBezTo>
                <a:lnTo>
                  <a:pt x="112737" y="9823"/>
                </a:lnTo>
                <a:close/>
                <a:moveTo>
                  <a:pt x="166688" y="250031"/>
                </a:moveTo>
                <a:lnTo>
                  <a:pt x="144140" y="13022"/>
                </a:lnTo>
                <a:cubicBezTo>
                  <a:pt x="143470" y="6028"/>
                  <a:pt x="148977" y="0"/>
                  <a:pt x="155972" y="0"/>
                </a:cubicBezTo>
                <a:lnTo>
                  <a:pt x="397073" y="0"/>
                </a:lnTo>
                <a:cubicBezTo>
                  <a:pt x="412924" y="0"/>
                  <a:pt x="424309" y="15106"/>
                  <a:pt x="419993" y="30361"/>
                </a:cubicBezTo>
                <a:lnTo>
                  <a:pt x="411584" y="59531"/>
                </a:lnTo>
                <a:lnTo>
                  <a:pt x="327422" y="59531"/>
                </a:lnTo>
                <a:cubicBezTo>
                  <a:pt x="317525" y="59531"/>
                  <a:pt x="309563" y="67494"/>
                  <a:pt x="309563" y="77391"/>
                </a:cubicBezTo>
                <a:cubicBezTo>
                  <a:pt x="309563" y="87288"/>
                  <a:pt x="317525" y="95250"/>
                  <a:pt x="327422" y="95250"/>
                </a:cubicBezTo>
                <a:lnTo>
                  <a:pt x="401389" y="95250"/>
                </a:lnTo>
                <a:lnTo>
                  <a:pt x="387772" y="142875"/>
                </a:lnTo>
                <a:lnTo>
                  <a:pt x="327422" y="142875"/>
                </a:lnTo>
                <a:cubicBezTo>
                  <a:pt x="317525" y="142875"/>
                  <a:pt x="309563" y="150837"/>
                  <a:pt x="309563" y="160734"/>
                </a:cubicBezTo>
                <a:cubicBezTo>
                  <a:pt x="309563" y="170631"/>
                  <a:pt x="317525" y="178594"/>
                  <a:pt x="327422" y="178594"/>
                </a:cubicBezTo>
                <a:lnTo>
                  <a:pt x="377577" y="178594"/>
                </a:lnTo>
                <a:lnTo>
                  <a:pt x="357188" y="250031"/>
                </a:lnTo>
                <a:lnTo>
                  <a:pt x="166688" y="250031"/>
                </a:lnTo>
                <a:close/>
                <a:moveTo>
                  <a:pt x="172641" y="285750"/>
                </a:moveTo>
                <a:lnTo>
                  <a:pt x="351234" y="285750"/>
                </a:lnTo>
                <a:cubicBezTo>
                  <a:pt x="367680" y="285750"/>
                  <a:pt x="381000" y="299070"/>
                  <a:pt x="381000" y="315516"/>
                </a:cubicBezTo>
                <a:lnTo>
                  <a:pt x="381000" y="351234"/>
                </a:lnTo>
                <a:cubicBezTo>
                  <a:pt x="381000" y="367680"/>
                  <a:pt x="367680" y="381000"/>
                  <a:pt x="351234" y="381000"/>
                </a:cubicBezTo>
                <a:lnTo>
                  <a:pt x="172641" y="381000"/>
                </a:lnTo>
                <a:cubicBezTo>
                  <a:pt x="156195" y="381000"/>
                  <a:pt x="142875" y="367680"/>
                  <a:pt x="142875" y="351234"/>
                </a:cubicBezTo>
                <a:lnTo>
                  <a:pt x="142875" y="315516"/>
                </a:lnTo>
                <a:cubicBezTo>
                  <a:pt x="142875" y="299070"/>
                  <a:pt x="156195" y="285750"/>
                  <a:pt x="172641" y="285750"/>
                </a:cubicBezTo>
                <a:close/>
                <a:moveTo>
                  <a:pt x="261938" y="351234"/>
                </a:moveTo>
                <a:cubicBezTo>
                  <a:pt x="271794" y="351234"/>
                  <a:pt x="279797" y="343232"/>
                  <a:pt x="279797" y="333375"/>
                </a:cubicBezTo>
                <a:cubicBezTo>
                  <a:pt x="279797" y="323518"/>
                  <a:pt x="271794" y="315516"/>
                  <a:pt x="261938" y="315516"/>
                </a:cubicBezTo>
                <a:cubicBezTo>
                  <a:pt x="252081" y="315516"/>
                  <a:pt x="244078" y="323518"/>
                  <a:pt x="244078" y="333375"/>
                </a:cubicBezTo>
                <a:cubicBezTo>
                  <a:pt x="244078" y="343232"/>
                  <a:pt x="252081" y="351234"/>
                  <a:pt x="261938" y="35123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638800" y="4546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37029" y="48514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6分钟备餐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86320" y="3479800"/>
            <a:ext cx="2171700" cy="1778000"/>
          </a:xfrm>
          <a:custGeom>
            <a:avLst/>
            <a:gdLst/>
            <a:ahLst/>
            <a:cxnLst/>
            <a:rect l="l" t="t" r="r" b="b"/>
            <a:pathLst>
              <a:path w="2171700" h="1778000">
                <a:moveTo>
                  <a:pt x="101595" y="0"/>
                </a:moveTo>
                <a:lnTo>
                  <a:pt x="2070105" y="0"/>
                </a:lnTo>
                <a:cubicBezTo>
                  <a:pt x="2126214" y="0"/>
                  <a:pt x="2171700" y="45486"/>
                  <a:pt x="2171700" y="101595"/>
                </a:cubicBezTo>
                <a:lnTo>
                  <a:pt x="2171700" y="1676405"/>
                </a:lnTo>
                <a:cubicBezTo>
                  <a:pt x="2171700" y="1732514"/>
                  <a:pt x="2126214" y="1778000"/>
                  <a:pt x="20701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67040" y="363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8286115" y="384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321469"/>
                </a:moveTo>
                <a:lnTo>
                  <a:pt x="47625" y="190500"/>
                </a:lnTo>
                <a:cubicBezTo>
                  <a:pt x="21357" y="190500"/>
                  <a:pt x="0" y="169143"/>
                  <a:pt x="0" y="142875"/>
                </a:cubicBezTo>
                <a:cubicBezTo>
                  <a:pt x="0" y="-18231"/>
                  <a:pt x="381000" y="-18231"/>
                  <a:pt x="381000" y="142875"/>
                </a:cubicBezTo>
                <a:cubicBezTo>
                  <a:pt x="381000" y="169143"/>
                  <a:pt x="359643" y="190500"/>
                  <a:pt x="333375" y="190500"/>
                </a:cubicBezTo>
                <a:lnTo>
                  <a:pt x="333375" y="321469"/>
                </a:lnTo>
                <a:cubicBezTo>
                  <a:pt x="333375" y="341188"/>
                  <a:pt x="317376" y="357188"/>
                  <a:pt x="297656" y="357188"/>
                </a:cubicBezTo>
                <a:lnTo>
                  <a:pt x="83344" y="357188"/>
                </a:lnTo>
                <a:cubicBezTo>
                  <a:pt x="63624" y="357188"/>
                  <a:pt x="47625" y="341188"/>
                  <a:pt x="47625" y="3214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016240" y="4546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道具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63840" y="4851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牛奶面包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763760" y="3479800"/>
            <a:ext cx="2171700" cy="1778000"/>
          </a:xfrm>
          <a:custGeom>
            <a:avLst/>
            <a:gdLst/>
            <a:ahLst/>
            <a:cxnLst/>
            <a:rect l="l" t="t" r="r" b="b"/>
            <a:pathLst>
              <a:path w="2171700" h="1778000">
                <a:moveTo>
                  <a:pt x="101595" y="0"/>
                </a:moveTo>
                <a:lnTo>
                  <a:pt x="2070105" y="0"/>
                </a:lnTo>
                <a:cubicBezTo>
                  <a:pt x="2126214" y="0"/>
                  <a:pt x="2171700" y="45486"/>
                  <a:pt x="2171700" y="101595"/>
                </a:cubicBezTo>
                <a:lnTo>
                  <a:pt x="2171700" y="1676405"/>
                </a:lnTo>
                <a:cubicBezTo>
                  <a:pt x="2171700" y="1732514"/>
                  <a:pt x="2126214" y="1778000"/>
                  <a:pt x="20701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444480" y="363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63555" y="384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80293"/>
                </a:moveTo>
                <a:lnTo>
                  <a:pt x="179338" y="64815"/>
                </a:lnTo>
                <a:cubicBezTo>
                  <a:pt x="160734" y="39067"/>
                  <a:pt x="130894" y="23812"/>
                  <a:pt x="99045" y="23812"/>
                </a:cubicBezTo>
                <a:cubicBezTo>
                  <a:pt x="44351" y="23812"/>
                  <a:pt x="0" y="68163"/>
                  <a:pt x="0" y="122858"/>
                </a:cubicBezTo>
                <a:lnTo>
                  <a:pt x="0" y="124792"/>
                </a:lnTo>
                <a:cubicBezTo>
                  <a:pt x="0" y="142354"/>
                  <a:pt x="4614" y="160511"/>
                  <a:pt x="12353" y="178594"/>
                </a:cubicBezTo>
                <a:lnTo>
                  <a:pt x="91232" y="178594"/>
                </a:lnTo>
                <a:cubicBezTo>
                  <a:pt x="93613" y="178594"/>
                  <a:pt x="95771" y="177180"/>
                  <a:pt x="96738" y="174947"/>
                </a:cubicBezTo>
                <a:lnTo>
                  <a:pt x="120402" y="118170"/>
                </a:lnTo>
                <a:cubicBezTo>
                  <a:pt x="123155" y="111621"/>
                  <a:pt x="129555" y="107305"/>
                  <a:pt x="136624" y="107156"/>
                </a:cubicBezTo>
                <a:cubicBezTo>
                  <a:pt x="143694" y="107007"/>
                  <a:pt x="150242" y="111175"/>
                  <a:pt x="153144" y="117649"/>
                </a:cubicBezTo>
                <a:lnTo>
                  <a:pt x="191319" y="202406"/>
                </a:lnTo>
                <a:lnTo>
                  <a:pt x="222126" y="140791"/>
                </a:lnTo>
                <a:cubicBezTo>
                  <a:pt x="225177" y="134764"/>
                  <a:pt x="231353" y="130894"/>
                  <a:pt x="238125" y="130894"/>
                </a:cubicBezTo>
                <a:cubicBezTo>
                  <a:pt x="244897" y="130894"/>
                  <a:pt x="251073" y="134689"/>
                  <a:pt x="254124" y="140791"/>
                </a:cubicBezTo>
                <a:lnTo>
                  <a:pt x="271388" y="175245"/>
                </a:lnTo>
                <a:cubicBezTo>
                  <a:pt x="272430" y="177254"/>
                  <a:pt x="274439" y="178519"/>
                  <a:pt x="276746" y="178519"/>
                </a:cubicBezTo>
                <a:lnTo>
                  <a:pt x="368722" y="178519"/>
                </a:lnTo>
                <a:cubicBezTo>
                  <a:pt x="376535" y="160437"/>
                  <a:pt x="381074" y="142280"/>
                  <a:pt x="381074" y="124718"/>
                </a:cubicBezTo>
                <a:lnTo>
                  <a:pt x="381074" y="122783"/>
                </a:lnTo>
                <a:cubicBezTo>
                  <a:pt x="381000" y="68163"/>
                  <a:pt x="336649" y="23812"/>
                  <a:pt x="281955" y="23812"/>
                </a:cubicBezTo>
                <a:cubicBezTo>
                  <a:pt x="250180" y="23812"/>
                  <a:pt x="220266" y="39067"/>
                  <a:pt x="201662" y="64815"/>
                </a:cubicBezTo>
                <a:lnTo>
                  <a:pt x="190500" y="80218"/>
                </a:lnTo>
                <a:close/>
                <a:moveTo>
                  <a:pt x="349448" y="214313"/>
                </a:moveTo>
                <a:lnTo>
                  <a:pt x="276671" y="214313"/>
                </a:lnTo>
                <a:cubicBezTo>
                  <a:pt x="260896" y="214313"/>
                  <a:pt x="246459" y="205383"/>
                  <a:pt x="239390" y="191244"/>
                </a:cubicBezTo>
                <a:lnTo>
                  <a:pt x="238125" y="188714"/>
                </a:lnTo>
                <a:lnTo>
                  <a:pt x="206499" y="252040"/>
                </a:lnTo>
                <a:cubicBezTo>
                  <a:pt x="203448" y="258217"/>
                  <a:pt x="197048" y="262086"/>
                  <a:pt x="190128" y="261938"/>
                </a:cubicBezTo>
                <a:cubicBezTo>
                  <a:pt x="183207" y="261789"/>
                  <a:pt x="177031" y="257696"/>
                  <a:pt x="174203" y="251445"/>
                </a:cubicBezTo>
                <a:lnTo>
                  <a:pt x="137517" y="169962"/>
                </a:lnTo>
                <a:lnTo>
                  <a:pt x="129704" y="188714"/>
                </a:lnTo>
                <a:cubicBezTo>
                  <a:pt x="123230" y="204267"/>
                  <a:pt x="108049" y="214387"/>
                  <a:pt x="91232" y="214387"/>
                </a:cubicBezTo>
                <a:lnTo>
                  <a:pt x="31552" y="214387"/>
                </a:lnTo>
                <a:cubicBezTo>
                  <a:pt x="66675" y="269304"/>
                  <a:pt x="123081" y="319832"/>
                  <a:pt x="158353" y="346770"/>
                </a:cubicBezTo>
                <a:cubicBezTo>
                  <a:pt x="167580" y="353764"/>
                  <a:pt x="178891" y="357262"/>
                  <a:pt x="190426" y="357262"/>
                </a:cubicBezTo>
                <a:cubicBezTo>
                  <a:pt x="201960" y="357262"/>
                  <a:pt x="213345" y="353839"/>
                  <a:pt x="222498" y="346770"/>
                </a:cubicBezTo>
                <a:cubicBezTo>
                  <a:pt x="257919" y="319757"/>
                  <a:pt x="314325" y="269230"/>
                  <a:pt x="349448" y="214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393680" y="4546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41280" y="4851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匆忙温馨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256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生活方式：事系统与意义丛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2352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同一功能，因场景差异被赋予截然不同的情感价值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895600"/>
            <a:ext cx="5689600" cy="1676400"/>
          </a:xfrm>
          <a:custGeom>
            <a:avLst/>
            <a:gdLst/>
            <a:ahLst/>
            <a:cxnLst/>
            <a:rect l="l" t="t" r="r" b="b"/>
            <a:pathLst>
              <a:path w="5689600" h="1676400">
                <a:moveTo>
                  <a:pt x="101607" y="0"/>
                </a:moveTo>
                <a:lnTo>
                  <a:pt x="5587993" y="0"/>
                </a:lnTo>
                <a:cubicBezTo>
                  <a:pt x="5644109" y="0"/>
                  <a:pt x="5689600" y="45491"/>
                  <a:pt x="5689600" y="101607"/>
                </a:cubicBezTo>
                <a:lnTo>
                  <a:pt x="5689600" y="1574793"/>
                </a:lnTo>
                <a:cubicBezTo>
                  <a:pt x="5689600" y="1630909"/>
                  <a:pt x="5644109" y="1676400"/>
                  <a:pt x="55879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275" y="3314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551" y="10716"/>
                </a:moveTo>
                <a:cubicBezTo>
                  <a:pt x="46955" y="4614"/>
                  <a:pt x="41821" y="0"/>
                  <a:pt x="35719" y="0"/>
                </a:cubicBezTo>
                <a:cubicBezTo>
                  <a:pt x="29617" y="0"/>
                  <a:pt x="24482" y="4614"/>
                  <a:pt x="23812" y="10641"/>
                </a:cubicBezTo>
                <a:lnTo>
                  <a:pt x="13320" y="111398"/>
                </a:lnTo>
                <a:cubicBezTo>
                  <a:pt x="12353" y="115863"/>
                  <a:pt x="11906" y="120402"/>
                  <a:pt x="11906" y="124941"/>
                </a:cubicBezTo>
                <a:cubicBezTo>
                  <a:pt x="11906" y="159097"/>
                  <a:pt x="38026" y="187151"/>
                  <a:pt x="71438" y="190202"/>
                </a:cubicBezTo>
                <a:lnTo>
                  <a:pt x="71438" y="357188"/>
                </a:lnTo>
                <a:cubicBezTo>
                  <a:pt x="71438" y="370359"/>
                  <a:pt x="82079" y="381000"/>
                  <a:pt x="95250" y="381000"/>
                </a:cubicBezTo>
                <a:cubicBezTo>
                  <a:pt x="108421" y="381000"/>
                  <a:pt x="119063" y="370359"/>
                  <a:pt x="119063" y="357188"/>
                </a:cubicBezTo>
                <a:lnTo>
                  <a:pt x="119063" y="190202"/>
                </a:lnTo>
                <a:cubicBezTo>
                  <a:pt x="152474" y="187151"/>
                  <a:pt x="178594" y="159097"/>
                  <a:pt x="178594" y="124941"/>
                </a:cubicBezTo>
                <a:cubicBezTo>
                  <a:pt x="178594" y="120402"/>
                  <a:pt x="178147" y="115863"/>
                  <a:pt x="177180" y="111398"/>
                </a:cubicBezTo>
                <a:lnTo>
                  <a:pt x="166613" y="10641"/>
                </a:lnTo>
                <a:cubicBezTo>
                  <a:pt x="166018" y="4614"/>
                  <a:pt x="160883" y="0"/>
                  <a:pt x="154781" y="0"/>
                </a:cubicBezTo>
                <a:cubicBezTo>
                  <a:pt x="148679" y="0"/>
                  <a:pt x="143545" y="4614"/>
                  <a:pt x="142949" y="10716"/>
                </a:cubicBezTo>
                <a:lnTo>
                  <a:pt x="132829" y="111547"/>
                </a:lnTo>
                <a:cubicBezTo>
                  <a:pt x="132383" y="115788"/>
                  <a:pt x="128811" y="119063"/>
                  <a:pt x="124569" y="119063"/>
                </a:cubicBezTo>
                <a:cubicBezTo>
                  <a:pt x="120253" y="119063"/>
                  <a:pt x="116681" y="115788"/>
                  <a:pt x="116235" y="111472"/>
                </a:cubicBezTo>
                <a:lnTo>
                  <a:pt x="107082" y="10864"/>
                </a:lnTo>
                <a:cubicBezTo>
                  <a:pt x="106561" y="4688"/>
                  <a:pt x="101426" y="0"/>
                  <a:pt x="95250" y="0"/>
                </a:cubicBezTo>
                <a:cubicBezTo>
                  <a:pt x="89074" y="0"/>
                  <a:pt x="83939" y="4688"/>
                  <a:pt x="83418" y="10864"/>
                </a:cubicBezTo>
                <a:lnTo>
                  <a:pt x="74265" y="111472"/>
                </a:lnTo>
                <a:cubicBezTo>
                  <a:pt x="73893" y="115788"/>
                  <a:pt x="70247" y="119063"/>
                  <a:pt x="65931" y="119063"/>
                </a:cubicBezTo>
                <a:cubicBezTo>
                  <a:pt x="61615" y="119063"/>
                  <a:pt x="58043" y="115788"/>
                  <a:pt x="57671" y="111547"/>
                </a:cubicBezTo>
                <a:lnTo>
                  <a:pt x="47551" y="10716"/>
                </a:lnTo>
                <a:close/>
                <a:moveTo>
                  <a:pt x="333375" y="0"/>
                </a:moveTo>
                <a:cubicBezTo>
                  <a:pt x="321469" y="0"/>
                  <a:pt x="238125" y="23812"/>
                  <a:pt x="238125" y="130969"/>
                </a:cubicBezTo>
                <a:lnTo>
                  <a:pt x="238125" y="214313"/>
                </a:lnTo>
                <a:cubicBezTo>
                  <a:pt x="238125" y="240581"/>
                  <a:pt x="259482" y="261938"/>
                  <a:pt x="285750" y="261938"/>
                </a:cubicBezTo>
                <a:lnTo>
                  <a:pt x="309563" y="261938"/>
                </a:lnTo>
                <a:lnTo>
                  <a:pt x="309563" y="357188"/>
                </a:lnTo>
                <a:cubicBezTo>
                  <a:pt x="309563" y="370359"/>
                  <a:pt x="320204" y="381000"/>
                  <a:pt x="333375" y="381000"/>
                </a:cubicBezTo>
                <a:cubicBezTo>
                  <a:pt x="346546" y="381000"/>
                  <a:pt x="357188" y="370359"/>
                  <a:pt x="357188" y="357188"/>
                </a:cubicBezTo>
                <a:lnTo>
                  <a:pt x="357188" y="23812"/>
                </a:lnTo>
                <a:cubicBezTo>
                  <a:pt x="357188" y="10641"/>
                  <a:pt x="346546" y="0"/>
                  <a:pt x="333375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3020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卤煮火烧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800" y="39624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劳动者蹲在街边快速果腹，是效率与温饱的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功能性意义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400" y="2895600"/>
            <a:ext cx="5689600" cy="1676400"/>
          </a:xfrm>
          <a:custGeom>
            <a:avLst/>
            <a:gdLst/>
            <a:ahLst/>
            <a:cxnLst/>
            <a:rect l="l" t="t" r="r" b="b"/>
            <a:pathLst>
              <a:path w="5689600" h="1676400">
                <a:moveTo>
                  <a:pt x="101607" y="0"/>
                </a:moveTo>
                <a:lnTo>
                  <a:pt x="5587993" y="0"/>
                </a:lnTo>
                <a:cubicBezTo>
                  <a:pt x="5644109" y="0"/>
                  <a:pt x="5689600" y="45491"/>
                  <a:pt x="5689600" y="101607"/>
                </a:cubicBezTo>
                <a:lnTo>
                  <a:pt x="5689600" y="1574793"/>
                </a:lnTo>
                <a:cubicBezTo>
                  <a:pt x="5689600" y="1630909"/>
                  <a:pt x="5644109" y="1676400"/>
                  <a:pt x="55879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3050" y="33147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15788" y="12874"/>
                </a:moveTo>
                <a:cubicBezTo>
                  <a:pt x="121295" y="2232"/>
                  <a:pt x="133871" y="-2679"/>
                  <a:pt x="145107" y="1414"/>
                </a:cubicBezTo>
                <a:lnTo>
                  <a:pt x="238125" y="35347"/>
                </a:lnTo>
                <a:lnTo>
                  <a:pt x="331143" y="1414"/>
                </a:lnTo>
                <a:cubicBezTo>
                  <a:pt x="342379" y="-2679"/>
                  <a:pt x="354955" y="2232"/>
                  <a:pt x="360462" y="12874"/>
                </a:cubicBezTo>
                <a:lnTo>
                  <a:pt x="419100" y="126653"/>
                </a:lnTo>
                <a:cubicBezTo>
                  <a:pt x="440531" y="168176"/>
                  <a:pt x="426765" y="217661"/>
                  <a:pt x="390451" y="243185"/>
                </a:cubicBezTo>
                <a:lnTo>
                  <a:pt x="413742" y="307330"/>
                </a:lnTo>
                <a:lnTo>
                  <a:pt x="444252" y="296168"/>
                </a:lnTo>
                <a:cubicBezTo>
                  <a:pt x="456605" y="291703"/>
                  <a:pt x="470297" y="298028"/>
                  <a:pt x="474762" y="310381"/>
                </a:cubicBezTo>
                <a:cubicBezTo>
                  <a:pt x="479227" y="322734"/>
                  <a:pt x="472901" y="336426"/>
                  <a:pt x="460549" y="340891"/>
                </a:cubicBezTo>
                <a:cubicBezTo>
                  <a:pt x="425276" y="353764"/>
                  <a:pt x="390004" y="366564"/>
                  <a:pt x="354732" y="379437"/>
                </a:cubicBezTo>
                <a:cubicBezTo>
                  <a:pt x="342379" y="383977"/>
                  <a:pt x="328687" y="377577"/>
                  <a:pt x="324222" y="365224"/>
                </a:cubicBezTo>
                <a:cubicBezTo>
                  <a:pt x="319757" y="352871"/>
                  <a:pt x="326082" y="339179"/>
                  <a:pt x="338435" y="334714"/>
                </a:cubicBezTo>
                <a:lnTo>
                  <a:pt x="368945" y="323552"/>
                </a:lnTo>
                <a:lnTo>
                  <a:pt x="345653" y="259407"/>
                </a:lnTo>
                <a:cubicBezTo>
                  <a:pt x="301451" y="263277"/>
                  <a:pt x="259184" y="234181"/>
                  <a:pt x="248915" y="188565"/>
                </a:cubicBezTo>
                <a:lnTo>
                  <a:pt x="238051" y="140419"/>
                </a:lnTo>
                <a:lnTo>
                  <a:pt x="227186" y="188565"/>
                </a:lnTo>
                <a:cubicBezTo>
                  <a:pt x="216917" y="234181"/>
                  <a:pt x="174650" y="263277"/>
                  <a:pt x="130448" y="259407"/>
                </a:cubicBezTo>
                <a:lnTo>
                  <a:pt x="107156" y="323552"/>
                </a:lnTo>
                <a:lnTo>
                  <a:pt x="137666" y="334714"/>
                </a:lnTo>
                <a:cubicBezTo>
                  <a:pt x="150019" y="339254"/>
                  <a:pt x="156418" y="352871"/>
                  <a:pt x="151879" y="365224"/>
                </a:cubicBezTo>
                <a:cubicBezTo>
                  <a:pt x="147340" y="377577"/>
                  <a:pt x="133722" y="383977"/>
                  <a:pt x="121369" y="379437"/>
                </a:cubicBezTo>
                <a:cubicBezTo>
                  <a:pt x="86097" y="366564"/>
                  <a:pt x="50825" y="353690"/>
                  <a:pt x="15553" y="340891"/>
                </a:cubicBezTo>
                <a:cubicBezTo>
                  <a:pt x="3200" y="336352"/>
                  <a:pt x="-3200" y="322734"/>
                  <a:pt x="1339" y="310381"/>
                </a:cubicBezTo>
                <a:cubicBezTo>
                  <a:pt x="5879" y="298028"/>
                  <a:pt x="19571" y="291703"/>
                  <a:pt x="31924" y="296168"/>
                </a:cubicBezTo>
                <a:lnTo>
                  <a:pt x="62433" y="307330"/>
                </a:lnTo>
                <a:lnTo>
                  <a:pt x="85725" y="243185"/>
                </a:lnTo>
                <a:cubicBezTo>
                  <a:pt x="49485" y="217661"/>
                  <a:pt x="35793" y="168176"/>
                  <a:pt x="57224" y="126653"/>
                </a:cubicBezTo>
                <a:lnTo>
                  <a:pt x="115788" y="12874"/>
                </a:lnTo>
                <a:close/>
                <a:moveTo>
                  <a:pt x="148530" y="53355"/>
                </a:moveTo>
                <a:lnTo>
                  <a:pt x="128290" y="92646"/>
                </a:lnTo>
                <a:lnTo>
                  <a:pt x="194667" y="116830"/>
                </a:lnTo>
                <a:lnTo>
                  <a:pt x="204415" y="73744"/>
                </a:lnTo>
                <a:lnTo>
                  <a:pt x="148530" y="53355"/>
                </a:lnTo>
                <a:close/>
                <a:moveTo>
                  <a:pt x="327794" y="53355"/>
                </a:moveTo>
                <a:lnTo>
                  <a:pt x="271909" y="73744"/>
                </a:lnTo>
                <a:lnTo>
                  <a:pt x="281657" y="116830"/>
                </a:lnTo>
                <a:lnTo>
                  <a:pt x="348035" y="92646"/>
                </a:lnTo>
                <a:lnTo>
                  <a:pt x="327794" y="5335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366000" y="3302000"/>
            <a:ext cx="203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香港美食城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53200" y="39624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老板与官员社交，是身份彰显与关系维系的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象征性意义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" y="4876800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设计师需先画出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人群→事→意义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地图，再决定造物方向。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018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跨文化框架：港韩日京四地同题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3114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全球化浪潮下，亚洲传统被稀释。理解“吃”背后的文化脚本，是找到设计与商业缝隙的关键。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01700" y="30734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lnTo>
                  <a:pt x="762000" y="0"/>
                </a:lnTo>
                <a:cubicBezTo>
                  <a:pt x="1182559" y="0"/>
                  <a:pt x="1524000" y="341441"/>
                  <a:pt x="1524000" y="762000"/>
                </a:cubicBezTo>
                <a:lnTo>
                  <a:pt x="1524000" y="762000"/>
                </a:lnTo>
                <a:cubicBezTo>
                  <a:pt x="1524000" y="1182559"/>
                  <a:pt x="1182559" y="1524000"/>
                  <a:pt x="762000" y="1524000"/>
                </a:cubicBezTo>
                <a:lnTo>
                  <a:pt x="762000" y="1524000"/>
                </a:lnTo>
                <a:cubicBezTo>
                  <a:pt x="341441" y="1524000"/>
                  <a:pt x="0" y="1182559"/>
                  <a:pt x="0" y="762000"/>
                </a:cubicBezTo>
                <a:lnTo>
                  <a:pt x="0" y="762000"/>
                </a:lnTo>
                <a:cubicBezTo>
                  <a:pt x="0" y="341441"/>
                  <a:pt x="341441" y="0"/>
                  <a:pt x="762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pic>
        <p:nvPicPr>
          <p:cNvPr id="5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3124200"/>
            <a:ext cx="1524000" cy="1524000"/>
          </a:xfrm>
          <a:prstGeom prst="roundRect">
            <a:avLst>
              <a:gd name="adj" fmla="val 5000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647700" y="48006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香港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22700" y="30734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lnTo>
                  <a:pt x="762000" y="0"/>
                </a:lnTo>
                <a:cubicBezTo>
                  <a:pt x="1182559" y="0"/>
                  <a:pt x="1524000" y="341441"/>
                  <a:pt x="1524000" y="762000"/>
                </a:cubicBezTo>
                <a:lnTo>
                  <a:pt x="1524000" y="762000"/>
                </a:lnTo>
                <a:cubicBezTo>
                  <a:pt x="1524000" y="1182559"/>
                  <a:pt x="1182559" y="1524000"/>
                  <a:pt x="762000" y="1524000"/>
                </a:cubicBezTo>
                <a:lnTo>
                  <a:pt x="762000" y="1524000"/>
                </a:lnTo>
                <a:cubicBezTo>
                  <a:pt x="341441" y="1524000"/>
                  <a:pt x="0" y="1182559"/>
                  <a:pt x="0" y="762000"/>
                </a:cubicBezTo>
                <a:lnTo>
                  <a:pt x="0" y="762000"/>
                </a:lnTo>
                <a:cubicBezTo>
                  <a:pt x="0" y="341441"/>
                  <a:pt x="341441" y="0"/>
                  <a:pt x="762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pic>
        <p:nvPicPr>
          <p:cNvPr id="8" name="Image 1" descr="https://kimi-web-img.moonshot.cn/img/thumbs.dreamstime.com/44fa54909e808df77671636791d720f0b83dfdd4.jpg">    </p:cNvPr>
          <p:cNvPicPr>
            <a:picLocks noChangeAspect="1"/>
          </p:cNvPicPr>
          <p:nvPr/>
        </p:nvPicPr>
        <p:blipFill>
          <a:blip r:embed="rId2"/>
          <a:srcRect l="13844" r="13844" t="0" b="0"/>
          <a:stretch/>
        </p:blipFill>
        <p:spPr>
          <a:xfrm>
            <a:off x="3873500" y="3124200"/>
            <a:ext cx="1524000" cy="1524000"/>
          </a:xfrm>
          <a:prstGeom prst="roundRect">
            <a:avLst>
              <a:gd name="adj" fmla="val 50000"/>
            </a:avLst>
          </a:prstGeom>
        </p:spPr>
      </p:pic>
      <p:sp>
        <p:nvSpPr>
          <p:cNvPr id="9" name="Text 5"/>
          <p:cNvSpPr/>
          <p:nvPr/>
        </p:nvSpPr>
        <p:spPr>
          <a:xfrm>
            <a:off x="3568700" y="48006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韩国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743700" y="30734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lnTo>
                  <a:pt x="762000" y="0"/>
                </a:lnTo>
                <a:cubicBezTo>
                  <a:pt x="1182559" y="0"/>
                  <a:pt x="1524000" y="341441"/>
                  <a:pt x="1524000" y="762000"/>
                </a:cubicBezTo>
                <a:lnTo>
                  <a:pt x="1524000" y="762000"/>
                </a:lnTo>
                <a:cubicBezTo>
                  <a:pt x="1524000" y="1182559"/>
                  <a:pt x="1182559" y="1524000"/>
                  <a:pt x="762000" y="1524000"/>
                </a:cubicBezTo>
                <a:lnTo>
                  <a:pt x="762000" y="1524000"/>
                </a:lnTo>
                <a:cubicBezTo>
                  <a:pt x="341441" y="1524000"/>
                  <a:pt x="0" y="1182559"/>
                  <a:pt x="0" y="762000"/>
                </a:cubicBezTo>
                <a:lnTo>
                  <a:pt x="0" y="762000"/>
                </a:lnTo>
                <a:cubicBezTo>
                  <a:pt x="0" y="341441"/>
                  <a:pt x="341441" y="0"/>
                  <a:pt x="762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pic>
        <p:nvPicPr>
          <p:cNvPr id="11" name="Image 2" descr="https://kimi-web-img.moonshot.cn/img/windows10spotlight.com/4b53e573d17f02bd13a452163e593782e39049a7.jpg">    </p:cNvPr>
          <p:cNvPicPr>
            <a:picLocks noChangeAspect="1"/>
          </p:cNvPicPr>
          <p:nvPr/>
        </p:nvPicPr>
        <p:blipFill>
          <a:blip r:embed="rId3"/>
          <a:srcRect l="21875" r="21875" t="0" b="0"/>
          <a:stretch/>
        </p:blipFill>
        <p:spPr>
          <a:xfrm>
            <a:off x="6794500" y="3124200"/>
            <a:ext cx="1524000" cy="1524000"/>
          </a:xfrm>
          <a:prstGeom prst="roundRect">
            <a:avLst>
              <a:gd name="adj" fmla="val 50000"/>
            </a:avLst>
          </a:prstGeom>
        </p:spPr>
      </p:pic>
      <p:sp>
        <p:nvSpPr>
          <p:cNvPr id="12" name="Text 7"/>
          <p:cNvSpPr/>
          <p:nvPr/>
        </p:nvSpPr>
        <p:spPr>
          <a:xfrm>
            <a:off x="6489700" y="48006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日本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9664700" y="30734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lnTo>
                  <a:pt x="762000" y="0"/>
                </a:lnTo>
                <a:cubicBezTo>
                  <a:pt x="1182559" y="0"/>
                  <a:pt x="1524000" y="341441"/>
                  <a:pt x="1524000" y="762000"/>
                </a:cubicBezTo>
                <a:lnTo>
                  <a:pt x="1524000" y="762000"/>
                </a:lnTo>
                <a:cubicBezTo>
                  <a:pt x="1524000" y="1182559"/>
                  <a:pt x="1182559" y="1524000"/>
                  <a:pt x="762000" y="1524000"/>
                </a:cubicBezTo>
                <a:lnTo>
                  <a:pt x="762000" y="1524000"/>
                </a:lnTo>
                <a:cubicBezTo>
                  <a:pt x="341441" y="1524000"/>
                  <a:pt x="0" y="1182559"/>
                  <a:pt x="0" y="762000"/>
                </a:cubicBezTo>
                <a:lnTo>
                  <a:pt x="0" y="762000"/>
                </a:lnTo>
                <a:cubicBezTo>
                  <a:pt x="0" y="341441"/>
                  <a:pt x="341441" y="0"/>
                  <a:pt x="762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pic>
        <p:nvPicPr>
          <p:cNvPr id="14" name="Image 3" descr="https://kimi-web-img.moonshot.cn/img/www.publicdomainpictures.net/674cff8f4b53a293484a14de978c6f1dcba651dc.jpg">    </p:cNvPr>
          <p:cNvPicPr>
            <a:picLocks noChangeAspect="1"/>
          </p:cNvPicPr>
          <p:nvPr/>
        </p:nvPicPr>
        <p:blipFill>
          <a:blip r:embed="rId4"/>
          <a:srcRect l="16667" r="16667" t="0" b="0"/>
          <a:stretch/>
        </p:blipFill>
        <p:spPr>
          <a:xfrm>
            <a:off x="9715500" y="3124200"/>
            <a:ext cx="1524000" cy="1524000"/>
          </a:xfrm>
          <a:prstGeom prst="roundRect">
            <a:avLst>
              <a:gd name="adj" fmla="val 50000"/>
            </a:avLst>
          </a:prstGeom>
        </p:spPr>
      </p:pic>
      <p:sp>
        <p:nvSpPr>
          <p:cNvPr id="15" name="Text 9"/>
          <p:cNvSpPr/>
          <p:nvPr/>
        </p:nvSpPr>
        <p:spPr>
          <a:xfrm>
            <a:off x="9410700" y="48006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北京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人群画像：锁定北京中产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478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人群画像：三维指标精准锁定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舍弃抽象理论，以可量化门槛划定样本，确保研究针对性与商业可行性。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0227" y="32512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88156" y="166688"/>
                </a:moveTo>
                <a:lnTo>
                  <a:pt x="273844" y="166688"/>
                </a:lnTo>
                <a:lnTo>
                  <a:pt x="218331" y="55811"/>
                </a:lnTo>
                <a:cubicBezTo>
                  <a:pt x="215652" y="50453"/>
                  <a:pt x="214313" y="44500"/>
                  <a:pt x="214313" y="38546"/>
                </a:cubicBezTo>
                <a:cubicBezTo>
                  <a:pt x="214313" y="17264"/>
                  <a:pt x="231577" y="0"/>
                  <a:pt x="252859" y="0"/>
                </a:cubicBezTo>
                <a:lnTo>
                  <a:pt x="509141" y="0"/>
                </a:lnTo>
                <a:cubicBezTo>
                  <a:pt x="530423" y="0"/>
                  <a:pt x="547687" y="17264"/>
                  <a:pt x="547687" y="38546"/>
                </a:cubicBezTo>
                <a:cubicBezTo>
                  <a:pt x="547687" y="44500"/>
                  <a:pt x="546348" y="50453"/>
                  <a:pt x="543669" y="55811"/>
                </a:cubicBezTo>
                <a:lnTo>
                  <a:pt x="488156" y="166688"/>
                </a:lnTo>
                <a:close/>
                <a:moveTo>
                  <a:pt x="252413" y="238125"/>
                </a:moveTo>
                <a:lnTo>
                  <a:pt x="509587" y="238125"/>
                </a:lnTo>
                <a:lnTo>
                  <a:pt x="582067" y="298549"/>
                </a:lnTo>
                <a:cubicBezTo>
                  <a:pt x="681038" y="381000"/>
                  <a:pt x="738188" y="503039"/>
                  <a:pt x="738188" y="631775"/>
                </a:cubicBezTo>
                <a:cubicBezTo>
                  <a:pt x="738188" y="703659"/>
                  <a:pt x="679847" y="762000"/>
                  <a:pt x="607963" y="762000"/>
                </a:cubicBezTo>
                <a:lnTo>
                  <a:pt x="153888" y="762000"/>
                </a:lnTo>
                <a:cubicBezTo>
                  <a:pt x="82153" y="762000"/>
                  <a:pt x="23812" y="703659"/>
                  <a:pt x="23812" y="631775"/>
                </a:cubicBezTo>
                <a:cubicBezTo>
                  <a:pt x="23812" y="503039"/>
                  <a:pt x="80962" y="381000"/>
                  <a:pt x="179933" y="298549"/>
                </a:cubicBezTo>
                <a:lnTo>
                  <a:pt x="252413" y="238125"/>
                </a:lnTo>
                <a:close/>
                <a:moveTo>
                  <a:pt x="386953" y="333375"/>
                </a:moveTo>
                <a:cubicBezTo>
                  <a:pt x="370582" y="333375"/>
                  <a:pt x="357188" y="346770"/>
                  <a:pt x="357188" y="363141"/>
                </a:cubicBezTo>
                <a:lnTo>
                  <a:pt x="357188" y="369094"/>
                </a:lnTo>
                <a:cubicBezTo>
                  <a:pt x="314325" y="369540"/>
                  <a:pt x="279797" y="404366"/>
                  <a:pt x="279797" y="447229"/>
                </a:cubicBezTo>
                <a:cubicBezTo>
                  <a:pt x="279797" y="485477"/>
                  <a:pt x="307330" y="518071"/>
                  <a:pt x="345132" y="524321"/>
                </a:cubicBezTo>
                <a:lnTo>
                  <a:pt x="407194" y="534739"/>
                </a:lnTo>
                <a:cubicBezTo>
                  <a:pt x="416123" y="536228"/>
                  <a:pt x="422672" y="543967"/>
                  <a:pt x="422672" y="553045"/>
                </a:cubicBezTo>
                <a:cubicBezTo>
                  <a:pt x="422672" y="563314"/>
                  <a:pt x="414337" y="571649"/>
                  <a:pt x="404068" y="571649"/>
                </a:cubicBezTo>
                <a:lnTo>
                  <a:pt x="321469" y="571500"/>
                </a:lnTo>
                <a:cubicBezTo>
                  <a:pt x="305098" y="571500"/>
                  <a:pt x="291703" y="584895"/>
                  <a:pt x="291703" y="601266"/>
                </a:cubicBezTo>
                <a:cubicBezTo>
                  <a:pt x="291703" y="617637"/>
                  <a:pt x="305098" y="631031"/>
                  <a:pt x="321469" y="631031"/>
                </a:cubicBezTo>
                <a:lnTo>
                  <a:pt x="357188" y="631031"/>
                </a:lnTo>
                <a:lnTo>
                  <a:pt x="357188" y="636984"/>
                </a:lnTo>
                <a:cubicBezTo>
                  <a:pt x="357188" y="653355"/>
                  <a:pt x="370582" y="666750"/>
                  <a:pt x="386953" y="666750"/>
                </a:cubicBezTo>
                <a:cubicBezTo>
                  <a:pt x="403324" y="666750"/>
                  <a:pt x="416719" y="653355"/>
                  <a:pt x="416719" y="636984"/>
                </a:cubicBezTo>
                <a:lnTo>
                  <a:pt x="416719" y="629989"/>
                </a:lnTo>
                <a:cubicBezTo>
                  <a:pt x="453926" y="623888"/>
                  <a:pt x="482203" y="591741"/>
                  <a:pt x="482203" y="552896"/>
                </a:cubicBezTo>
                <a:cubicBezTo>
                  <a:pt x="482203" y="514648"/>
                  <a:pt x="454670" y="482054"/>
                  <a:pt x="416868" y="475804"/>
                </a:cubicBezTo>
                <a:lnTo>
                  <a:pt x="354806" y="465386"/>
                </a:lnTo>
                <a:cubicBezTo>
                  <a:pt x="345877" y="463897"/>
                  <a:pt x="339328" y="456158"/>
                  <a:pt x="339328" y="447080"/>
                </a:cubicBezTo>
                <a:cubicBezTo>
                  <a:pt x="339328" y="436811"/>
                  <a:pt x="347663" y="428476"/>
                  <a:pt x="357932" y="428476"/>
                </a:cubicBezTo>
                <a:lnTo>
                  <a:pt x="428625" y="428476"/>
                </a:lnTo>
                <a:cubicBezTo>
                  <a:pt x="444996" y="428476"/>
                  <a:pt x="458391" y="415082"/>
                  <a:pt x="458391" y="398711"/>
                </a:cubicBezTo>
                <a:cubicBezTo>
                  <a:pt x="458391" y="382339"/>
                  <a:pt x="444996" y="368945"/>
                  <a:pt x="428625" y="368945"/>
                </a:cubicBezTo>
                <a:lnTo>
                  <a:pt x="416719" y="368945"/>
                </a:lnTo>
                <a:lnTo>
                  <a:pt x="416719" y="362992"/>
                </a:lnTo>
                <a:cubicBezTo>
                  <a:pt x="416719" y="346621"/>
                  <a:pt x="403324" y="333226"/>
                  <a:pt x="386953" y="333226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203200" y="4394200"/>
            <a:ext cx="4000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家庭年收入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" y="4851242"/>
            <a:ext cx="400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1.2 - 3万美元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96714" y="2819400"/>
            <a:ext cx="0" cy="2590800"/>
          </a:xfrm>
          <a:prstGeom prst="line">
            <a:avLst/>
          </a:prstGeom>
          <a:noFill/>
          <a:ln w="20320">
            <a:solidFill>
              <a:srgbClr val="8C8C8C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148614" y="2819400"/>
            <a:ext cx="0" cy="2590800"/>
          </a:xfrm>
          <a:prstGeom prst="line">
            <a:avLst/>
          </a:prstGeom>
          <a:noFill/>
          <a:ln w="20320">
            <a:solidFill>
              <a:srgbClr val="8C8C8C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714841" y="32512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297656" y="71438"/>
                </a:moveTo>
                <a:lnTo>
                  <a:pt x="464344" y="71438"/>
                </a:lnTo>
                <a:cubicBezTo>
                  <a:pt x="470892" y="71438"/>
                  <a:pt x="476250" y="76795"/>
                  <a:pt x="476250" y="83344"/>
                </a:cubicBezTo>
                <a:lnTo>
                  <a:pt x="476250" y="142875"/>
                </a:lnTo>
                <a:lnTo>
                  <a:pt x="285750" y="142875"/>
                </a:lnTo>
                <a:lnTo>
                  <a:pt x="285750" y="83344"/>
                </a:lnTo>
                <a:cubicBezTo>
                  <a:pt x="285750" y="76795"/>
                  <a:pt x="291108" y="71438"/>
                  <a:pt x="297656" y="71438"/>
                </a:cubicBezTo>
                <a:close/>
                <a:moveTo>
                  <a:pt x="214313" y="83344"/>
                </a:moveTo>
                <a:lnTo>
                  <a:pt x="214313" y="142875"/>
                </a:lnTo>
                <a:lnTo>
                  <a:pt x="95250" y="142875"/>
                </a:lnTo>
                <a:cubicBezTo>
                  <a:pt x="42714" y="142875"/>
                  <a:pt x="0" y="185589"/>
                  <a:pt x="0" y="238125"/>
                </a:cubicBezTo>
                <a:lnTo>
                  <a:pt x="0" y="381000"/>
                </a:lnTo>
                <a:lnTo>
                  <a:pt x="762000" y="381000"/>
                </a:lnTo>
                <a:lnTo>
                  <a:pt x="762000" y="238125"/>
                </a:lnTo>
                <a:cubicBezTo>
                  <a:pt x="762000" y="185589"/>
                  <a:pt x="719286" y="142875"/>
                  <a:pt x="666750" y="142875"/>
                </a:cubicBezTo>
                <a:lnTo>
                  <a:pt x="547687" y="142875"/>
                </a:lnTo>
                <a:lnTo>
                  <a:pt x="547687" y="83344"/>
                </a:lnTo>
                <a:cubicBezTo>
                  <a:pt x="547687" y="37356"/>
                  <a:pt x="510332" y="0"/>
                  <a:pt x="464344" y="0"/>
                </a:cubicBezTo>
                <a:lnTo>
                  <a:pt x="297656" y="0"/>
                </a:lnTo>
                <a:cubicBezTo>
                  <a:pt x="251668" y="0"/>
                  <a:pt x="214313" y="37356"/>
                  <a:pt x="214313" y="83344"/>
                </a:cubicBezTo>
                <a:close/>
                <a:moveTo>
                  <a:pt x="762000" y="452438"/>
                </a:moveTo>
                <a:lnTo>
                  <a:pt x="476250" y="452438"/>
                </a:lnTo>
                <a:lnTo>
                  <a:pt x="476250" y="476250"/>
                </a:lnTo>
                <a:cubicBezTo>
                  <a:pt x="476250" y="502593"/>
                  <a:pt x="454968" y="523875"/>
                  <a:pt x="428625" y="523875"/>
                </a:cubicBezTo>
                <a:lnTo>
                  <a:pt x="333375" y="523875"/>
                </a:lnTo>
                <a:cubicBezTo>
                  <a:pt x="307032" y="523875"/>
                  <a:pt x="285750" y="502593"/>
                  <a:pt x="285750" y="476250"/>
                </a:cubicBezTo>
                <a:lnTo>
                  <a:pt x="285750" y="452438"/>
                </a:lnTo>
                <a:lnTo>
                  <a:pt x="0" y="452438"/>
                </a:lnTo>
                <a:lnTo>
                  <a:pt x="0" y="619125"/>
                </a:lnTo>
                <a:cubicBezTo>
                  <a:pt x="0" y="671661"/>
                  <a:pt x="42714" y="714375"/>
                  <a:pt x="95250" y="714375"/>
                </a:cubicBezTo>
                <a:lnTo>
                  <a:pt x="666750" y="714375"/>
                </a:lnTo>
                <a:cubicBezTo>
                  <a:pt x="719286" y="714375"/>
                  <a:pt x="762000" y="671661"/>
                  <a:pt x="762000" y="619125"/>
                </a:cubicBezTo>
                <a:lnTo>
                  <a:pt x="762000" y="452438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118134" y="4394200"/>
            <a:ext cx="3949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职业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8134" y="4851242"/>
            <a:ext cx="394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中低层管理/技术/个体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9455" y="32512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7625" y="47625"/>
                </a:moveTo>
                <a:cubicBezTo>
                  <a:pt x="21282" y="47625"/>
                  <a:pt x="0" y="68907"/>
                  <a:pt x="0" y="95250"/>
                </a:cubicBezTo>
                <a:lnTo>
                  <a:pt x="0" y="642938"/>
                </a:lnTo>
                <a:cubicBezTo>
                  <a:pt x="0" y="682377"/>
                  <a:pt x="31998" y="714375"/>
                  <a:pt x="71438" y="714375"/>
                </a:cubicBezTo>
                <a:lnTo>
                  <a:pt x="690563" y="714375"/>
                </a:lnTo>
                <a:cubicBezTo>
                  <a:pt x="730002" y="714375"/>
                  <a:pt x="762000" y="682377"/>
                  <a:pt x="762000" y="642938"/>
                </a:cubicBezTo>
                <a:lnTo>
                  <a:pt x="762000" y="226516"/>
                </a:lnTo>
                <a:cubicBezTo>
                  <a:pt x="762000" y="199430"/>
                  <a:pt x="733127" y="182314"/>
                  <a:pt x="709315" y="195114"/>
                </a:cubicBezTo>
                <a:lnTo>
                  <a:pt x="476250" y="320576"/>
                </a:lnTo>
                <a:lnTo>
                  <a:pt x="476250" y="226516"/>
                </a:lnTo>
                <a:cubicBezTo>
                  <a:pt x="476250" y="199430"/>
                  <a:pt x="447377" y="182314"/>
                  <a:pt x="423565" y="195114"/>
                </a:cubicBezTo>
                <a:lnTo>
                  <a:pt x="190500" y="320576"/>
                </a:lnTo>
                <a:lnTo>
                  <a:pt x="190500" y="95250"/>
                </a:lnTo>
                <a:cubicBezTo>
                  <a:pt x="190500" y="68907"/>
                  <a:pt x="169218" y="47625"/>
                  <a:pt x="142875" y="47625"/>
                </a:cubicBezTo>
                <a:lnTo>
                  <a:pt x="47625" y="4762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7992428" y="4394200"/>
            <a:ext cx="4000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92428" y="4851242"/>
            <a:ext cx="400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地产/金融/外资/垄断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00" y="254000"/>
            <a:ext cx="5842000" cy="6350000"/>
          </a:xfrm>
          <a:custGeom>
            <a:avLst/>
            <a:gdLst/>
            <a:ahLst/>
            <a:cxnLst/>
            <a:rect l="l" t="t" r="r" b="b"/>
            <a:pathLst>
              <a:path w="5842000" h="6350000">
                <a:moveTo>
                  <a:pt x="101592" y="0"/>
                </a:moveTo>
                <a:lnTo>
                  <a:pt x="5842000" y="0"/>
                </a:lnTo>
                <a:lnTo>
                  <a:pt x="5842000" y="6350000"/>
                </a:lnTo>
                <a:lnTo>
                  <a:pt x="101592" y="6350000"/>
                </a:lnTo>
                <a:cubicBezTo>
                  <a:pt x="45484" y="6350000"/>
                  <a:pt x="0" y="6304516"/>
                  <a:pt x="0" y="62484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870200" y="2387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Text 2"/>
          <p:cNvSpPr/>
          <p:nvPr/>
        </p:nvSpPr>
        <p:spPr>
          <a:xfrm>
            <a:off x="2413000" y="3403600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政治后卫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8800" y="3962400"/>
            <a:ext cx="5232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反对动荡，但拥抱变化。趋向温和改良和道德相对主义，对新生事物持开放、宽容态度。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0" y="254000"/>
            <a:ext cx="5842000" cy="6350000"/>
          </a:xfrm>
          <a:custGeom>
            <a:avLst/>
            <a:gdLst/>
            <a:ahLst/>
            <a:cxnLst/>
            <a:rect l="l" t="t" r="r" b="b"/>
            <a:pathLst>
              <a:path w="5842000" h="6350000">
                <a:moveTo>
                  <a:pt x="0" y="0"/>
                </a:moveTo>
                <a:lnTo>
                  <a:pt x="5740408" y="0"/>
                </a:lnTo>
                <a:cubicBezTo>
                  <a:pt x="5796516" y="0"/>
                  <a:pt x="5842000" y="45484"/>
                  <a:pt x="5842000" y="101592"/>
                </a:cubicBezTo>
                <a:lnTo>
                  <a:pt x="5842000" y="6248408"/>
                </a:lnTo>
                <a:cubicBezTo>
                  <a:pt x="5842000" y="6304516"/>
                  <a:pt x="5796516" y="6350000"/>
                  <a:pt x="5740408" y="6350000"/>
                </a:cubicBezTo>
                <a:lnTo>
                  <a:pt x="0" y="63500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12200" y="2387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381000"/>
                </a:moveTo>
                <a:lnTo>
                  <a:pt x="29170" y="381000"/>
                </a:lnTo>
                <a:cubicBezTo>
                  <a:pt x="-476" y="381000"/>
                  <a:pt x="-18693" y="348734"/>
                  <a:pt x="-3453" y="323255"/>
                </a:cubicBezTo>
                <a:lnTo>
                  <a:pt x="59531" y="218242"/>
                </a:lnTo>
                <a:cubicBezTo>
                  <a:pt x="69890" y="200978"/>
                  <a:pt x="88463" y="190500"/>
                  <a:pt x="108585" y="190500"/>
                </a:cubicBezTo>
                <a:lnTo>
                  <a:pt x="221694" y="190500"/>
                </a:lnTo>
                <a:cubicBezTo>
                  <a:pt x="312301" y="37028"/>
                  <a:pt x="447437" y="29289"/>
                  <a:pt x="537805" y="42505"/>
                </a:cubicBezTo>
                <a:cubicBezTo>
                  <a:pt x="553045" y="44768"/>
                  <a:pt x="564952" y="56674"/>
                  <a:pt x="567095" y="71795"/>
                </a:cubicBezTo>
                <a:cubicBezTo>
                  <a:pt x="580311" y="162163"/>
                  <a:pt x="572572" y="297299"/>
                  <a:pt x="419100" y="387906"/>
                </a:cubicBezTo>
                <a:lnTo>
                  <a:pt x="419100" y="501015"/>
                </a:lnTo>
                <a:cubicBezTo>
                  <a:pt x="419100" y="521137"/>
                  <a:pt x="408623" y="539710"/>
                  <a:pt x="391358" y="550069"/>
                </a:cubicBezTo>
                <a:lnTo>
                  <a:pt x="286345" y="613053"/>
                </a:lnTo>
                <a:cubicBezTo>
                  <a:pt x="260985" y="628293"/>
                  <a:pt x="228600" y="609957"/>
                  <a:pt x="228600" y="580430"/>
                </a:cubicBezTo>
                <a:lnTo>
                  <a:pt x="228600" y="457200"/>
                </a:lnTo>
                <a:cubicBezTo>
                  <a:pt x="228600" y="415171"/>
                  <a:pt x="194429" y="381000"/>
                  <a:pt x="152400" y="381000"/>
                </a:cubicBezTo>
                <a:lnTo>
                  <a:pt x="152281" y="381000"/>
                </a:lnTo>
                <a:close/>
                <a:moveTo>
                  <a:pt x="476250" y="190500"/>
                </a:moveTo>
                <a:cubicBezTo>
                  <a:pt x="476250" y="158958"/>
                  <a:pt x="450642" y="133350"/>
                  <a:pt x="419100" y="133350"/>
                </a:cubicBezTo>
                <a:cubicBezTo>
                  <a:pt x="387558" y="133350"/>
                  <a:pt x="361950" y="158958"/>
                  <a:pt x="361950" y="190500"/>
                </a:cubicBezTo>
                <a:cubicBezTo>
                  <a:pt x="361950" y="222042"/>
                  <a:pt x="387558" y="247650"/>
                  <a:pt x="419100" y="247650"/>
                </a:cubicBezTo>
                <a:cubicBezTo>
                  <a:pt x="450642" y="247650"/>
                  <a:pt x="476250" y="222042"/>
                  <a:pt x="476250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55000" y="3403600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消费前卫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3962400"/>
            <a:ext cx="5232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追求生活品味和格调，似乎“只有生活方式，而没有生活”，对普通民众有强大引导性。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astingtable.com/941c68514038c68a2f948b5e06c67e3e6eb789a8.jpg">    </p:cNvPr>
          <p:cNvPicPr>
            <a:picLocks noChangeAspect="1"/>
          </p:cNvPicPr>
          <p:nvPr/>
        </p:nvPicPr>
        <p:blipFill>
          <a:blip r:embed="rId1"/>
          <a:srcRect l="24307" r="24307" t="0" b="0"/>
          <a:stretch/>
        </p:blipFill>
        <p:spPr>
          <a:xfrm>
            <a:off x="457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260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家庭共同体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9718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研究单元是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家庭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而非个人，关注餐桌互动、分工与传承。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8862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通过观察‘家’，发现真实决策链：孩子的美容诉求、老人的怀旧口味、主妇的效率焦虑。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田野深描：早餐八情境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812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田野深描：饮食日常的八幕戏剧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5908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将饮食日常拆解为八个情境，为洞察提供统一叙事模板。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2512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150" y="3454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8100" y="38100"/>
                </a:moveTo>
                <a:cubicBezTo>
                  <a:pt x="38100" y="27563"/>
                  <a:pt x="46613" y="19050"/>
                  <a:pt x="57150" y="19050"/>
                </a:cubicBezTo>
                <a:lnTo>
                  <a:pt x="266700" y="19050"/>
                </a:lnTo>
                <a:cubicBezTo>
                  <a:pt x="308789" y="19050"/>
                  <a:pt x="342900" y="53161"/>
                  <a:pt x="342900" y="95250"/>
                </a:cubicBezTo>
                <a:cubicBezTo>
                  <a:pt x="342900" y="137339"/>
                  <a:pt x="308789" y="171450"/>
                  <a:pt x="266700" y="171450"/>
                </a:cubicBezTo>
                <a:cubicBezTo>
                  <a:pt x="266700" y="203002"/>
                  <a:pt x="241102" y="228600"/>
                  <a:pt x="209550" y="228600"/>
                </a:cubicBezTo>
                <a:lnTo>
                  <a:pt x="95250" y="228600"/>
                </a:lnTo>
                <a:cubicBezTo>
                  <a:pt x="63698" y="228600"/>
                  <a:pt x="38100" y="203002"/>
                  <a:pt x="38100" y="171450"/>
                </a:cubicBezTo>
                <a:lnTo>
                  <a:pt x="38100" y="38100"/>
                </a:lnTo>
                <a:close/>
                <a:moveTo>
                  <a:pt x="304800" y="95250"/>
                </a:moveTo>
                <a:cubicBezTo>
                  <a:pt x="304800" y="74235"/>
                  <a:pt x="287715" y="57150"/>
                  <a:pt x="266700" y="57150"/>
                </a:cubicBezTo>
                <a:lnTo>
                  <a:pt x="266700" y="133350"/>
                </a:lnTo>
                <a:cubicBezTo>
                  <a:pt x="287715" y="133350"/>
                  <a:pt x="304800" y="116265"/>
                  <a:pt x="304800" y="95250"/>
                </a:cubicBezTo>
                <a:close/>
                <a:moveTo>
                  <a:pt x="38100" y="266700"/>
                </a:moveTo>
                <a:lnTo>
                  <a:pt x="266700" y="266700"/>
                </a:lnTo>
                <a:cubicBezTo>
                  <a:pt x="277237" y="266700"/>
                  <a:pt x="285750" y="275213"/>
                  <a:pt x="285750" y="285750"/>
                </a:cubicBezTo>
                <a:cubicBezTo>
                  <a:pt x="285750" y="296287"/>
                  <a:pt x="277237" y="304800"/>
                  <a:pt x="266700" y="304800"/>
                </a:cubicBezTo>
                <a:lnTo>
                  <a:pt x="38100" y="304800"/>
                </a:lnTo>
                <a:cubicBezTo>
                  <a:pt x="27563" y="304800"/>
                  <a:pt x="19050" y="296287"/>
                  <a:pt x="19050" y="285750"/>
                </a:cubicBezTo>
                <a:cubicBezTo>
                  <a:pt x="19050" y="275213"/>
                  <a:pt x="27563" y="266700"/>
                  <a:pt x="38100" y="2667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3454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25800" y="32512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345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23813"/>
                </a:moveTo>
                <a:cubicBezTo>
                  <a:pt x="104775" y="15895"/>
                  <a:pt x="111145" y="9525"/>
                  <a:pt x="119062" y="9525"/>
                </a:cubicBezTo>
                <a:lnTo>
                  <a:pt x="128588" y="9525"/>
                </a:lnTo>
                <a:cubicBezTo>
                  <a:pt x="136505" y="9525"/>
                  <a:pt x="142875" y="15895"/>
                  <a:pt x="142875" y="23813"/>
                </a:cubicBezTo>
                <a:cubicBezTo>
                  <a:pt x="142875" y="31730"/>
                  <a:pt x="136505" y="38100"/>
                  <a:pt x="128588" y="38100"/>
                </a:cubicBezTo>
                <a:lnTo>
                  <a:pt x="119062" y="38100"/>
                </a:lnTo>
                <a:cubicBezTo>
                  <a:pt x="111145" y="38100"/>
                  <a:pt x="104775" y="31730"/>
                  <a:pt x="104775" y="23813"/>
                </a:cubicBezTo>
                <a:close/>
                <a:moveTo>
                  <a:pt x="119062" y="52388"/>
                </a:moveTo>
                <a:lnTo>
                  <a:pt x="128588" y="52388"/>
                </a:lnTo>
                <a:cubicBezTo>
                  <a:pt x="136505" y="52388"/>
                  <a:pt x="142875" y="58757"/>
                  <a:pt x="142875" y="66675"/>
                </a:cubicBezTo>
                <a:cubicBezTo>
                  <a:pt x="142875" y="74593"/>
                  <a:pt x="136505" y="80962"/>
                  <a:pt x="128588" y="80962"/>
                </a:cubicBezTo>
                <a:lnTo>
                  <a:pt x="119062" y="80962"/>
                </a:lnTo>
                <a:cubicBezTo>
                  <a:pt x="111145" y="80962"/>
                  <a:pt x="104775" y="74593"/>
                  <a:pt x="104775" y="66675"/>
                </a:cubicBezTo>
                <a:cubicBezTo>
                  <a:pt x="104775" y="58757"/>
                  <a:pt x="111145" y="52388"/>
                  <a:pt x="119062" y="52388"/>
                </a:cubicBezTo>
                <a:close/>
                <a:moveTo>
                  <a:pt x="33338" y="95250"/>
                </a:moveTo>
                <a:lnTo>
                  <a:pt x="42863" y="95250"/>
                </a:lnTo>
                <a:cubicBezTo>
                  <a:pt x="50780" y="95250"/>
                  <a:pt x="57150" y="101620"/>
                  <a:pt x="57150" y="109537"/>
                </a:cubicBezTo>
                <a:cubicBezTo>
                  <a:pt x="57150" y="117455"/>
                  <a:pt x="50780" y="123825"/>
                  <a:pt x="42863" y="123825"/>
                </a:cubicBezTo>
                <a:lnTo>
                  <a:pt x="33338" y="123825"/>
                </a:lnTo>
                <a:cubicBezTo>
                  <a:pt x="25420" y="123825"/>
                  <a:pt x="19050" y="117455"/>
                  <a:pt x="19050" y="109537"/>
                </a:cubicBezTo>
                <a:cubicBezTo>
                  <a:pt x="19050" y="101620"/>
                  <a:pt x="25420" y="95250"/>
                  <a:pt x="33338" y="95250"/>
                </a:cubicBezTo>
                <a:close/>
                <a:moveTo>
                  <a:pt x="0" y="168712"/>
                </a:moveTo>
                <a:cubicBezTo>
                  <a:pt x="0" y="159722"/>
                  <a:pt x="7322" y="152400"/>
                  <a:pt x="16312" y="152400"/>
                </a:cubicBezTo>
                <a:lnTo>
                  <a:pt x="288429" y="152400"/>
                </a:lnTo>
                <a:cubicBezTo>
                  <a:pt x="297418" y="152400"/>
                  <a:pt x="304740" y="159722"/>
                  <a:pt x="304740" y="168712"/>
                </a:cubicBezTo>
                <a:cubicBezTo>
                  <a:pt x="304740" y="210681"/>
                  <a:pt x="278309" y="246519"/>
                  <a:pt x="241221" y="260449"/>
                </a:cubicBezTo>
                <a:lnTo>
                  <a:pt x="240209" y="269081"/>
                </a:lnTo>
                <a:cubicBezTo>
                  <a:pt x="239018" y="278606"/>
                  <a:pt x="230922" y="285750"/>
                  <a:pt x="221278" y="285750"/>
                </a:cubicBezTo>
                <a:lnTo>
                  <a:pt x="83463" y="285750"/>
                </a:lnTo>
                <a:cubicBezTo>
                  <a:pt x="73878" y="285750"/>
                  <a:pt x="65723" y="278606"/>
                  <a:pt x="64532" y="269081"/>
                </a:cubicBezTo>
                <a:lnTo>
                  <a:pt x="63460" y="260509"/>
                </a:lnTo>
                <a:cubicBezTo>
                  <a:pt x="26432" y="246519"/>
                  <a:pt x="0" y="210681"/>
                  <a:pt x="0" y="168712"/>
                </a:cubicBezTo>
                <a:close/>
                <a:moveTo>
                  <a:pt x="133350" y="109537"/>
                </a:moveTo>
                <a:cubicBezTo>
                  <a:pt x="133350" y="101620"/>
                  <a:pt x="139720" y="95250"/>
                  <a:pt x="147638" y="95250"/>
                </a:cubicBezTo>
                <a:lnTo>
                  <a:pt x="157163" y="95250"/>
                </a:lnTo>
                <a:cubicBezTo>
                  <a:pt x="165080" y="95250"/>
                  <a:pt x="171450" y="101620"/>
                  <a:pt x="171450" y="109537"/>
                </a:cubicBezTo>
                <a:cubicBezTo>
                  <a:pt x="171450" y="117455"/>
                  <a:pt x="165080" y="123825"/>
                  <a:pt x="157163" y="123825"/>
                </a:cubicBezTo>
                <a:lnTo>
                  <a:pt x="147638" y="123825"/>
                </a:lnTo>
                <a:cubicBezTo>
                  <a:pt x="139720" y="123825"/>
                  <a:pt x="133350" y="117455"/>
                  <a:pt x="133350" y="109537"/>
                </a:cubicBezTo>
                <a:close/>
                <a:moveTo>
                  <a:pt x="76200" y="109537"/>
                </a:moveTo>
                <a:cubicBezTo>
                  <a:pt x="76200" y="101620"/>
                  <a:pt x="82570" y="95250"/>
                  <a:pt x="90488" y="95250"/>
                </a:cubicBezTo>
                <a:lnTo>
                  <a:pt x="100013" y="95250"/>
                </a:lnTo>
                <a:cubicBezTo>
                  <a:pt x="107930" y="95250"/>
                  <a:pt x="114300" y="101620"/>
                  <a:pt x="114300" y="109537"/>
                </a:cubicBezTo>
                <a:cubicBezTo>
                  <a:pt x="114300" y="117455"/>
                  <a:pt x="107930" y="123825"/>
                  <a:pt x="100013" y="123825"/>
                </a:cubicBezTo>
                <a:lnTo>
                  <a:pt x="90488" y="123825"/>
                </a:lnTo>
                <a:cubicBezTo>
                  <a:pt x="82570" y="123825"/>
                  <a:pt x="76200" y="117455"/>
                  <a:pt x="76200" y="109537"/>
                </a:cubicBezTo>
                <a:close/>
                <a:moveTo>
                  <a:pt x="61912" y="52388"/>
                </a:moveTo>
                <a:lnTo>
                  <a:pt x="71438" y="52388"/>
                </a:lnTo>
                <a:cubicBezTo>
                  <a:pt x="79355" y="52388"/>
                  <a:pt x="85725" y="58757"/>
                  <a:pt x="85725" y="66675"/>
                </a:cubicBezTo>
                <a:cubicBezTo>
                  <a:pt x="85725" y="74593"/>
                  <a:pt x="79355" y="80962"/>
                  <a:pt x="71438" y="80962"/>
                </a:cubicBezTo>
                <a:lnTo>
                  <a:pt x="61912" y="80962"/>
                </a:lnTo>
                <a:cubicBezTo>
                  <a:pt x="53995" y="80962"/>
                  <a:pt x="47625" y="74593"/>
                  <a:pt x="47625" y="66675"/>
                </a:cubicBezTo>
                <a:cubicBezTo>
                  <a:pt x="47625" y="58757"/>
                  <a:pt x="53995" y="52388"/>
                  <a:pt x="61912" y="52388"/>
                </a:cubicBezTo>
                <a:close/>
                <a:moveTo>
                  <a:pt x="190500" y="109537"/>
                </a:moveTo>
                <a:cubicBezTo>
                  <a:pt x="190500" y="101620"/>
                  <a:pt x="196870" y="95250"/>
                  <a:pt x="204787" y="95250"/>
                </a:cubicBezTo>
                <a:lnTo>
                  <a:pt x="214313" y="95250"/>
                </a:lnTo>
                <a:cubicBezTo>
                  <a:pt x="222230" y="95250"/>
                  <a:pt x="228600" y="101620"/>
                  <a:pt x="228600" y="109537"/>
                </a:cubicBezTo>
                <a:cubicBezTo>
                  <a:pt x="228600" y="117455"/>
                  <a:pt x="222230" y="123825"/>
                  <a:pt x="214313" y="123825"/>
                </a:cubicBezTo>
                <a:lnTo>
                  <a:pt x="204787" y="123825"/>
                </a:lnTo>
                <a:cubicBezTo>
                  <a:pt x="196870" y="123825"/>
                  <a:pt x="190500" y="117455"/>
                  <a:pt x="190500" y="109537"/>
                </a:cubicBezTo>
                <a:close/>
                <a:moveTo>
                  <a:pt x="176212" y="52388"/>
                </a:moveTo>
                <a:lnTo>
                  <a:pt x="185738" y="52388"/>
                </a:lnTo>
                <a:cubicBezTo>
                  <a:pt x="193655" y="52388"/>
                  <a:pt x="200025" y="58757"/>
                  <a:pt x="200025" y="66675"/>
                </a:cubicBezTo>
                <a:cubicBezTo>
                  <a:pt x="200025" y="74593"/>
                  <a:pt x="193655" y="80962"/>
                  <a:pt x="185738" y="80962"/>
                </a:cubicBezTo>
                <a:lnTo>
                  <a:pt x="176212" y="80962"/>
                </a:lnTo>
                <a:cubicBezTo>
                  <a:pt x="168295" y="80962"/>
                  <a:pt x="161925" y="74593"/>
                  <a:pt x="161925" y="66675"/>
                </a:cubicBezTo>
                <a:cubicBezTo>
                  <a:pt x="161925" y="58757"/>
                  <a:pt x="168295" y="52388"/>
                  <a:pt x="176212" y="52388"/>
                </a:cubicBezTo>
                <a:close/>
                <a:moveTo>
                  <a:pt x="247650" y="109537"/>
                </a:moveTo>
                <a:cubicBezTo>
                  <a:pt x="247650" y="101620"/>
                  <a:pt x="254020" y="95250"/>
                  <a:pt x="261937" y="95250"/>
                </a:cubicBezTo>
                <a:lnTo>
                  <a:pt x="271463" y="95250"/>
                </a:lnTo>
                <a:cubicBezTo>
                  <a:pt x="279380" y="95250"/>
                  <a:pt x="285750" y="101620"/>
                  <a:pt x="285750" y="109537"/>
                </a:cubicBezTo>
                <a:cubicBezTo>
                  <a:pt x="285750" y="117455"/>
                  <a:pt x="279380" y="123825"/>
                  <a:pt x="271463" y="123825"/>
                </a:cubicBezTo>
                <a:lnTo>
                  <a:pt x="261937" y="123825"/>
                </a:lnTo>
                <a:cubicBezTo>
                  <a:pt x="254020" y="123825"/>
                  <a:pt x="247650" y="117455"/>
                  <a:pt x="247650" y="109537"/>
                </a:cubicBezTo>
                <a:close/>
                <a:moveTo>
                  <a:pt x="233363" y="52388"/>
                </a:moveTo>
                <a:lnTo>
                  <a:pt x="242888" y="52388"/>
                </a:lnTo>
                <a:cubicBezTo>
                  <a:pt x="250805" y="52388"/>
                  <a:pt x="257175" y="58757"/>
                  <a:pt x="257175" y="66675"/>
                </a:cubicBezTo>
                <a:cubicBezTo>
                  <a:pt x="257175" y="74593"/>
                  <a:pt x="250805" y="80962"/>
                  <a:pt x="242888" y="80962"/>
                </a:cubicBezTo>
                <a:lnTo>
                  <a:pt x="233363" y="80962"/>
                </a:lnTo>
                <a:cubicBezTo>
                  <a:pt x="225445" y="80962"/>
                  <a:pt x="219075" y="74593"/>
                  <a:pt x="219075" y="66675"/>
                </a:cubicBezTo>
                <a:cubicBezTo>
                  <a:pt x="219075" y="58757"/>
                  <a:pt x="225445" y="52388"/>
                  <a:pt x="233363" y="52388"/>
                </a:cubicBezTo>
                <a:close/>
                <a:moveTo>
                  <a:pt x="176212" y="9525"/>
                </a:moveTo>
                <a:lnTo>
                  <a:pt x="185738" y="9525"/>
                </a:lnTo>
                <a:cubicBezTo>
                  <a:pt x="193655" y="9525"/>
                  <a:pt x="200025" y="15895"/>
                  <a:pt x="200025" y="23813"/>
                </a:cubicBezTo>
                <a:cubicBezTo>
                  <a:pt x="200025" y="31730"/>
                  <a:pt x="193655" y="38100"/>
                  <a:pt x="185738" y="38100"/>
                </a:cubicBezTo>
                <a:lnTo>
                  <a:pt x="176212" y="38100"/>
                </a:lnTo>
                <a:cubicBezTo>
                  <a:pt x="168295" y="38100"/>
                  <a:pt x="161925" y="31730"/>
                  <a:pt x="161925" y="23813"/>
                </a:cubicBezTo>
                <a:cubicBezTo>
                  <a:pt x="161925" y="15895"/>
                  <a:pt x="168295" y="9525"/>
                  <a:pt x="176212" y="952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Text 7"/>
          <p:cNvSpPr/>
          <p:nvPr/>
        </p:nvSpPr>
        <p:spPr>
          <a:xfrm>
            <a:off x="3937000" y="3454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午餐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7600" y="32512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1750" y="3454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0"/>
                </a:moveTo>
                <a:cubicBezTo>
                  <a:pt x="175379" y="0"/>
                  <a:pt x="179130" y="1607"/>
                  <a:pt x="181808" y="4465"/>
                </a:cubicBezTo>
                <a:lnTo>
                  <a:pt x="267533" y="94952"/>
                </a:lnTo>
                <a:lnTo>
                  <a:pt x="267831" y="95250"/>
                </a:lnTo>
                <a:lnTo>
                  <a:pt x="314325" y="95250"/>
                </a:lnTo>
                <a:cubicBezTo>
                  <a:pt x="324862" y="95250"/>
                  <a:pt x="333375" y="103763"/>
                  <a:pt x="333375" y="114300"/>
                </a:cubicBezTo>
                <a:cubicBezTo>
                  <a:pt x="333375" y="122932"/>
                  <a:pt x="327660" y="130195"/>
                  <a:pt x="319802" y="132576"/>
                </a:cubicBezTo>
                <a:lnTo>
                  <a:pt x="292358" y="255925"/>
                </a:lnTo>
                <a:cubicBezTo>
                  <a:pt x="288488" y="273368"/>
                  <a:pt x="273010" y="285750"/>
                  <a:pt x="255151" y="285750"/>
                </a:cubicBezTo>
                <a:lnTo>
                  <a:pt x="87690" y="285750"/>
                </a:lnTo>
                <a:cubicBezTo>
                  <a:pt x="69830" y="285750"/>
                  <a:pt x="54352" y="273368"/>
                  <a:pt x="50483" y="255925"/>
                </a:cubicBezTo>
                <a:lnTo>
                  <a:pt x="23098" y="132576"/>
                </a:lnTo>
                <a:cubicBezTo>
                  <a:pt x="15240" y="130254"/>
                  <a:pt x="9525" y="122932"/>
                  <a:pt x="9525" y="114300"/>
                </a:cubicBezTo>
                <a:cubicBezTo>
                  <a:pt x="9525" y="103763"/>
                  <a:pt x="18038" y="95250"/>
                  <a:pt x="28575" y="95250"/>
                </a:cubicBezTo>
                <a:lnTo>
                  <a:pt x="75069" y="95250"/>
                </a:lnTo>
                <a:lnTo>
                  <a:pt x="75367" y="94952"/>
                </a:lnTo>
                <a:lnTo>
                  <a:pt x="161092" y="4465"/>
                </a:lnTo>
                <a:cubicBezTo>
                  <a:pt x="163770" y="1607"/>
                  <a:pt x="167521" y="0"/>
                  <a:pt x="171450" y="0"/>
                </a:cubicBezTo>
                <a:close/>
                <a:moveTo>
                  <a:pt x="171450" y="35064"/>
                </a:moveTo>
                <a:lnTo>
                  <a:pt x="114419" y="95250"/>
                </a:lnTo>
                <a:lnTo>
                  <a:pt x="228481" y="95250"/>
                </a:lnTo>
                <a:lnTo>
                  <a:pt x="171450" y="35064"/>
                </a:lnTo>
                <a:close/>
                <a:moveTo>
                  <a:pt x="123825" y="157163"/>
                </a:moveTo>
                <a:cubicBezTo>
                  <a:pt x="123825" y="149245"/>
                  <a:pt x="117455" y="142875"/>
                  <a:pt x="109537" y="142875"/>
                </a:cubicBezTo>
                <a:cubicBezTo>
                  <a:pt x="101620" y="142875"/>
                  <a:pt x="95250" y="149245"/>
                  <a:pt x="95250" y="157163"/>
                </a:cubicBezTo>
                <a:lnTo>
                  <a:pt x="95250" y="223838"/>
                </a:lnTo>
                <a:cubicBezTo>
                  <a:pt x="95250" y="231755"/>
                  <a:pt x="101620" y="238125"/>
                  <a:pt x="109537" y="238125"/>
                </a:cubicBezTo>
                <a:cubicBezTo>
                  <a:pt x="117455" y="238125"/>
                  <a:pt x="123825" y="231755"/>
                  <a:pt x="123825" y="223838"/>
                </a:cubicBezTo>
                <a:lnTo>
                  <a:pt x="123825" y="157163"/>
                </a:lnTo>
                <a:close/>
                <a:moveTo>
                  <a:pt x="171450" y="142875"/>
                </a:moveTo>
                <a:cubicBezTo>
                  <a:pt x="163532" y="142875"/>
                  <a:pt x="157163" y="149245"/>
                  <a:pt x="157163" y="157163"/>
                </a:cubicBezTo>
                <a:lnTo>
                  <a:pt x="157163" y="223838"/>
                </a:lnTo>
                <a:cubicBezTo>
                  <a:pt x="157163" y="231755"/>
                  <a:pt x="163532" y="238125"/>
                  <a:pt x="171450" y="238125"/>
                </a:cubicBezTo>
                <a:cubicBezTo>
                  <a:pt x="179368" y="238125"/>
                  <a:pt x="185738" y="231755"/>
                  <a:pt x="185738" y="223838"/>
                </a:cubicBezTo>
                <a:lnTo>
                  <a:pt x="185738" y="157163"/>
                </a:lnTo>
                <a:cubicBezTo>
                  <a:pt x="185738" y="149245"/>
                  <a:pt x="179368" y="142875"/>
                  <a:pt x="171450" y="142875"/>
                </a:cubicBezTo>
                <a:close/>
                <a:moveTo>
                  <a:pt x="247650" y="157163"/>
                </a:moveTo>
                <a:cubicBezTo>
                  <a:pt x="247650" y="149245"/>
                  <a:pt x="241280" y="142875"/>
                  <a:pt x="233363" y="142875"/>
                </a:cubicBezTo>
                <a:cubicBezTo>
                  <a:pt x="225445" y="142875"/>
                  <a:pt x="219075" y="149245"/>
                  <a:pt x="219075" y="157163"/>
                </a:cubicBezTo>
                <a:lnTo>
                  <a:pt x="219075" y="223838"/>
                </a:lnTo>
                <a:cubicBezTo>
                  <a:pt x="219075" y="231755"/>
                  <a:pt x="225445" y="238125"/>
                  <a:pt x="233363" y="238125"/>
                </a:cubicBezTo>
                <a:cubicBezTo>
                  <a:pt x="241280" y="238125"/>
                  <a:pt x="247650" y="231755"/>
                  <a:pt x="247650" y="223838"/>
                </a:cubicBezTo>
                <a:lnTo>
                  <a:pt x="247650" y="157163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908800" y="3454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购物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69400" y="32512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72600" y="345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3338"/>
                </a:moveTo>
                <a:cubicBezTo>
                  <a:pt x="0" y="14942"/>
                  <a:pt x="14942" y="0"/>
                  <a:pt x="33338" y="0"/>
                </a:cubicBezTo>
                <a:lnTo>
                  <a:pt x="260509" y="0"/>
                </a:lnTo>
                <a:cubicBezTo>
                  <a:pt x="273189" y="0"/>
                  <a:pt x="282297" y="12085"/>
                  <a:pt x="278844" y="24289"/>
                </a:cubicBezTo>
                <a:lnTo>
                  <a:pt x="272117" y="47625"/>
                </a:lnTo>
                <a:lnTo>
                  <a:pt x="204787" y="47625"/>
                </a:lnTo>
                <a:cubicBezTo>
                  <a:pt x="196870" y="47625"/>
                  <a:pt x="190500" y="53995"/>
                  <a:pt x="190500" y="61912"/>
                </a:cubicBezTo>
                <a:cubicBezTo>
                  <a:pt x="190500" y="69830"/>
                  <a:pt x="196870" y="76200"/>
                  <a:pt x="204787" y="76200"/>
                </a:cubicBezTo>
                <a:lnTo>
                  <a:pt x="263962" y="76200"/>
                </a:lnTo>
                <a:lnTo>
                  <a:pt x="253067" y="114300"/>
                </a:lnTo>
                <a:lnTo>
                  <a:pt x="204787" y="114300"/>
                </a:lnTo>
                <a:cubicBezTo>
                  <a:pt x="196870" y="114300"/>
                  <a:pt x="190500" y="120670"/>
                  <a:pt x="190500" y="128588"/>
                </a:cubicBezTo>
                <a:cubicBezTo>
                  <a:pt x="190500" y="136505"/>
                  <a:pt x="196870" y="142875"/>
                  <a:pt x="204787" y="142875"/>
                </a:cubicBezTo>
                <a:lnTo>
                  <a:pt x="244912" y="142875"/>
                </a:lnTo>
                <a:lnTo>
                  <a:pt x="228600" y="200025"/>
                </a:lnTo>
                <a:lnTo>
                  <a:pt x="76200" y="200025"/>
                </a:lnTo>
                <a:lnTo>
                  <a:pt x="70783" y="142875"/>
                </a:lnTo>
                <a:lnTo>
                  <a:pt x="33338" y="142875"/>
                </a:lnTo>
                <a:cubicBezTo>
                  <a:pt x="14942" y="142875"/>
                  <a:pt x="0" y="127933"/>
                  <a:pt x="0" y="109537"/>
                </a:cubicBezTo>
                <a:lnTo>
                  <a:pt x="0" y="33338"/>
                </a:lnTo>
                <a:close/>
                <a:moveTo>
                  <a:pt x="68044" y="114300"/>
                </a:moveTo>
                <a:lnTo>
                  <a:pt x="59888" y="28575"/>
                </a:lnTo>
                <a:lnTo>
                  <a:pt x="33338" y="28575"/>
                </a:lnTo>
                <a:cubicBezTo>
                  <a:pt x="30718" y="28575"/>
                  <a:pt x="28575" y="30718"/>
                  <a:pt x="28575" y="33338"/>
                </a:cubicBezTo>
                <a:lnTo>
                  <a:pt x="28575" y="109537"/>
                </a:lnTo>
                <a:cubicBezTo>
                  <a:pt x="28575" y="112157"/>
                  <a:pt x="30718" y="114300"/>
                  <a:pt x="33338" y="114300"/>
                </a:cubicBezTo>
                <a:lnTo>
                  <a:pt x="68044" y="114300"/>
                </a:lnTo>
                <a:close/>
                <a:moveTo>
                  <a:pt x="80962" y="228600"/>
                </a:moveTo>
                <a:lnTo>
                  <a:pt x="223838" y="228600"/>
                </a:lnTo>
                <a:cubicBezTo>
                  <a:pt x="236994" y="228600"/>
                  <a:pt x="247650" y="239256"/>
                  <a:pt x="247650" y="252413"/>
                </a:cubicBezTo>
                <a:lnTo>
                  <a:pt x="247650" y="280987"/>
                </a:lnTo>
                <a:cubicBezTo>
                  <a:pt x="247650" y="294144"/>
                  <a:pt x="236994" y="304800"/>
                  <a:pt x="223838" y="304800"/>
                </a:cubicBezTo>
                <a:lnTo>
                  <a:pt x="80962" y="304800"/>
                </a:lnTo>
                <a:cubicBezTo>
                  <a:pt x="67806" y="304800"/>
                  <a:pt x="57150" y="294144"/>
                  <a:pt x="57150" y="280987"/>
                </a:cubicBezTo>
                <a:lnTo>
                  <a:pt x="57150" y="252413"/>
                </a:lnTo>
                <a:cubicBezTo>
                  <a:pt x="57150" y="239256"/>
                  <a:pt x="67806" y="228600"/>
                  <a:pt x="80962" y="228600"/>
                </a:cubicBezTo>
                <a:close/>
                <a:moveTo>
                  <a:pt x="152400" y="280987"/>
                </a:moveTo>
                <a:cubicBezTo>
                  <a:pt x="160285" y="280987"/>
                  <a:pt x="166688" y="274585"/>
                  <a:pt x="166688" y="266700"/>
                </a:cubicBezTo>
                <a:cubicBezTo>
                  <a:pt x="166688" y="258815"/>
                  <a:pt x="160285" y="252413"/>
                  <a:pt x="152400" y="252413"/>
                </a:cubicBezTo>
                <a:cubicBezTo>
                  <a:pt x="144515" y="252413"/>
                  <a:pt x="138113" y="258815"/>
                  <a:pt x="138113" y="266700"/>
                </a:cubicBezTo>
                <a:cubicBezTo>
                  <a:pt x="138113" y="274585"/>
                  <a:pt x="144515" y="280987"/>
                  <a:pt x="152400" y="280987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9880600" y="3454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4000" y="41656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36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040" y="8573"/>
                </a:moveTo>
                <a:cubicBezTo>
                  <a:pt x="37564" y="3691"/>
                  <a:pt x="33457" y="0"/>
                  <a:pt x="28575" y="0"/>
                </a:cubicBezTo>
                <a:cubicBezTo>
                  <a:pt x="23693" y="0"/>
                  <a:pt x="19586" y="3691"/>
                  <a:pt x="19050" y="8513"/>
                </a:cubicBezTo>
                <a:lnTo>
                  <a:pt x="10656" y="89118"/>
                </a:lnTo>
                <a:cubicBezTo>
                  <a:pt x="9882" y="92690"/>
                  <a:pt x="9525" y="96322"/>
                  <a:pt x="9525" y="99953"/>
                </a:cubicBezTo>
                <a:cubicBezTo>
                  <a:pt x="9525" y="127278"/>
                  <a:pt x="30420" y="149721"/>
                  <a:pt x="57150" y="152162"/>
                </a:cubicBezTo>
                <a:lnTo>
                  <a:pt x="57150" y="285750"/>
                </a:lnTo>
                <a:cubicBezTo>
                  <a:pt x="57150" y="296287"/>
                  <a:pt x="65663" y="304800"/>
                  <a:pt x="76200" y="304800"/>
                </a:cubicBezTo>
                <a:cubicBezTo>
                  <a:pt x="86737" y="304800"/>
                  <a:pt x="95250" y="296287"/>
                  <a:pt x="95250" y="285750"/>
                </a:cubicBezTo>
                <a:lnTo>
                  <a:pt x="95250" y="152162"/>
                </a:lnTo>
                <a:cubicBezTo>
                  <a:pt x="121980" y="149721"/>
                  <a:pt x="142875" y="127278"/>
                  <a:pt x="142875" y="99953"/>
                </a:cubicBezTo>
                <a:cubicBezTo>
                  <a:pt x="142875" y="96322"/>
                  <a:pt x="142518" y="92690"/>
                  <a:pt x="141744" y="89118"/>
                </a:cubicBezTo>
                <a:lnTo>
                  <a:pt x="133290" y="8513"/>
                </a:lnTo>
                <a:cubicBezTo>
                  <a:pt x="132814" y="3691"/>
                  <a:pt x="128707" y="0"/>
                  <a:pt x="123825" y="0"/>
                </a:cubicBezTo>
                <a:cubicBezTo>
                  <a:pt x="118943" y="0"/>
                  <a:pt x="114836" y="3691"/>
                  <a:pt x="114360" y="8573"/>
                </a:cubicBezTo>
                <a:lnTo>
                  <a:pt x="106263" y="89237"/>
                </a:lnTo>
                <a:cubicBezTo>
                  <a:pt x="105906" y="92631"/>
                  <a:pt x="103049" y="95250"/>
                  <a:pt x="99655" y="95250"/>
                </a:cubicBezTo>
                <a:cubicBezTo>
                  <a:pt x="96203" y="95250"/>
                  <a:pt x="93345" y="92631"/>
                  <a:pt x="92988" y="89178"/>
                </a:cubicBezTo>
                <a:lnTo>
                  <a:pt x="85665" y="8692"/>
                </a:lnTo>
                <a:cubicBezTo>
                  <a:pt x="85249" y="3750"/>
                  <a:pt x="81141" y="0"/>
                  <a:pt x="76200" y="0"/>
                </a:cubicBezTo>
                <a:cubicBezTo>
                  <a:pt x="71259" y="0"/>
                  <a:pt x="67151" y="3750"/>
                  <a:pt x="66735" y="8692"/>
                </a:cubicBezTo>
                <a:lnTo>
                  <a:pt x="59412" y="89178"/>
                </a:lnTo>
                <a:cubicBezTo>
                  <a:pt x="59115" y="92631"/>
                  <a:pt x="56197" y="95250"/>
                  <a:pt x="52745" y="95250"/>
                </a:cubicBezTo>
                <a:cubicBezTo>
                  <a:pt x="49292" y="95250"/>
                  <a:pt x="46434" y="92631"/>
                  <a:pt x="46137" y="89237"/>
                </a:cubicBezTo>
                <a:lnTo>
                  <a:pt x="38040" y="8573"/>
                </a:lnTo>
                <a:close/>
                <a:moveTo>
                  <a:pt x="266700" y="0"/>
                </a:moveTo>
                <a:cubicBezTo>
                  <a:pt x="257175" y="0"/>
                  <a:pt x="190500" y="19050"/>
                  <a:pt x="190500" y="104775"/>
                </a:cubicBezTo>
                <a:lnTo>
                  <a:pt x="190500" y="171450"/>
                </a:lnTo>
                <a:cubicBezTo>
                  <a:pt x="190500" y="192465"/>
                  <a:pt x="207585" y="209550"/>
                  <a:pt x="228600" y="209550"/>
                </a:cubicBezTo>
                <a:lnTo>
                  <a:pt x="247650" y="209550"/>
                </a:lnTo>
                <a:lnTo>
                  <a:pt x="247650" y="285750"/>
                </a:lnTo>
                <a:cubicBezTo>
                  <a:pt x="247650" y="296287"/>
                  <a:pt x="256163" y="304800"/>
                  <a:pt x="266700" y="304800"/>
                </a:cubicBezTo>
                <a:cubicBezTo>
                  <a:pt x="277237" y="304800"/>
                  <a:pt x="285750" y="296287"/>
                  <a:pt x="285750" y="285750"/>
                </a:cubicBezTo>
                <a:lnTo>
                  <a:pt x="285750" y="19050"/>
                </a:lnTo>
                <a:cubicBezTo>
                  <a:pt x="285750" y="8513"/>
                  <a:pt x="277237" y="0"/>
                  <a:pt x="2667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" y="43688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25800" y="41656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09950" y="4368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95250" y="19050"/>
                </a:moveTo>
                <a:lnTo>
                  <a:pt x="95250" y="66675"/>
                </a:lnTo>
                <a:lnTo>
                  <a:pt x="171450" y="66675"/>
                </a:lnTo>
                <a:lnTo>
                  <a:pt x="171450" y="19050"/>
                </a:lnTo>
                <a:cubicBezTo>
                  <a:pt x="171450" y="8513"/>
                  <a:pt x="162937" y="0"/>
                  <a:pt x="152400" y="0"/>
                </a:cubicBezTo>
                <a:lnTo>
                  <a:pt x="114300" y="0"/>
                </a:lnTo>
                <a:cubicBezTo>
                  <a:pt x="103763" y="0"/>
                  <a:pt x="95250" y="8513"/>
                  <a:pt x="95250" y="19050"/>
                </a:cubicBezTo>
                <a:close/>
                <a:moveTo>
                  <a:pt x="95250" y="95250"/>
                </a:moveTo>
                <a:cubicBezTo>
                  <a:pt x="63698" y="95250"/>
                  <a:pt x="38100" y="120848"/>
                  <a:pt x="38100" y="152400"/>
                </a:cubicBezTo>
                <a:lnTo>
                  <a:pt x="38100" y="276225"/>
                </a:lnTo>
                <a:cubicBezTo>
                  <a:pt x="38100" y="292001"/>
                  <a:pt x="50899" y="304800"/>
                  <a:pt x="66675" y="304800"/>
                </a:cubicBezTo>
                <a:lnTo>
                  <a:pt x="200025" y="304800"/>
                </a:lnTo>
                <a:cubicBezTo>
                  <a:pt x="215801" y="304800"/>
                  <a:pt x="228600" y="292001"/>
                  <a:pt x="228600" y="276225"/>
                </a:cubicBezTo>
                <a:lnTo>
                  <a:pt x="228600" y="152400"/>
                </a:lnTo>
                <a:cubicBezTo>
                  <a:pt x="228600" y="120848"/>
                  <a:pt x="203002" y="95250"/>
                  <a:pt x="171450" y="95250"/>
                </a:cubicBezTo>
                <a:lnTo>
                  <a:pt x="95250" y="95250"/>
                </a:lnTo>
                <a:close/>
                <a:moveTo>
                  <a:pt x="133350" y="152400"/>
                </a:moveTo>
                <a:cubicBezTo>
                  <a:pt x="159635" y="152400"/>
                  <a:pt x="180975" y="173740"/>
                  <a:pt x="180975" y="200025"/>
                </a:cubicBezTo>
                <a:cubicBezTo>
                  <a:pt x="180975" y="226310"/>
                  <a:pt x="159635" y="247650"/>
                  <a:pt x="133350" y="247650"/>
                </a:cubicBezTo>
                <a:cubicBezTo>
                  <a:pt x="107065" y="247650"/>
                  <a:pt x="85725" y="226310"/>
                  <a:pt x="85725" y="200025"/>
                </a:cubicBezTo>
                <a:cubicBezTo>
                  <a:pt x="85725" y="173740"/>
                  <a:pt x="107065" y="152400"/>
                  <a:pt x="133350" y="152400"/>
                </a:cubicBezTo>
                <a:close/>
                <a:moveTo>
                  <a:pt x="266700" y="28575"/>
                </a:moveTo>
                <a:cubicBezTo>
                  <a:pt x="266700" y="27742"/>
                  <a:pt x="266105" y="26789"/>
                  <a:pt x="265390" y="26432"/>
                </a:cubicBezTo>
                <a:lnTo>
                  <a:pt x="247650" y="19050"/>
                </a:lnTo>
                <a:lnTo>
                  <a:pt x="240268" y="1310"/>
                </a:lnTo>
                <a:cubicBezTo>
                  <a:pt x="239911" y="595"/>
                  <a:pt x="238958" y="0"/>
                  <a:pt x="238125" y="0"/>
                </a:cubicBezTo>
                <a:cubicBezTo>
                  <a:pt x="237292" y="0"/>
                  <a:pt x="236339" y="595"/>
                  <a:pt x="235982" y="1310"/>
                </a:cubicBezTo>
                <a:lnTo>
                  <a:pt x="228600" y="19050"/>
                </a:lnTo>
                <a:lnTo>
                  <a:pt x="210860" y="26432"/>
                </a:lnTo>
                <a:cubicBezTo>
                  <a:pt x="210145" y="26789"/>
                  <a:pt x="209550" y="27742"/>
                  <a:pt x="209550" y="28575"/>
                </a:cubicBezTo>
                <a:cubicBezTo>
                  <a:pt x="209550" y="29408"/>
                  <a:pt x="210145" y="30361"/>
                  <a:pt x="210860" y="30718"/>
                </a:cubicBezTo>
                <a:lnTo>
                  <a:pt x="228600" y="38100"/>
                </a:lnTo>
                <a:lnTo>
                  <a:pt x="235982" y="55840"/>
                </a:lnTo>
                <a:cubicBezTo>
                  <a:pt x="236339" y="56555"/>
                  <a:pt x="237292" y="57150"/>
                  <a:pt x="238125" y="57150"/>
                </a:cubicBezTo>
                <a:cubicBezTo>
                  <a:pt x="238958" y="57150"/>
                  <a:pt x="239911" y="56555"/>
                  <a:pt x="240268" y="55840"/>
                </a:cubicBezTo>
                <a:lnTo>
                  <a:pt x="247650" y="38100"/>
                </a:lnTo>
                <a:lnTo>
                  <a:pt x="265390" y="30718"/>
                </a:lnTo>
                <a:cubicBezTo>
                  <a:pt x="266105" y="30361"/>
                  <a:pt x="266700" y="29408"/>
                  <a:pt x="266700" y="28575"/>
                </a:cubicBezTo>
                <a:close/>
                <a:moveTo>
                  <a:pt x="312182" y="55840"/>
                </a:moveTo>
                <a:cubicBezTo>
                  <a:pt x="312539" y="56555"/>
                  <a:pt x="313492" y="57150"/>
                  <a:pt x="314325" y="57150"/>
                </a:cubicBezTo>
                <a:cubicBezTo>
                  <a:pt x="315158" y="57150"/>
                  <a:pt x="316111" y="56555"/>
                  <a:pt x="316468" y="55840"/>
                </a:cubicBezTo>
                <a:lnTo>
                  <a:pt x="323850" y="38100"/>
                </a:lnTo>
                <a:lnTo>
                  <a:pt x="341590" y="30718"/>
                </a:lnTo>
                <a:cubicBezTo>
                  <a:pt x="342305" y="30361"/>
                  <a:pt x="342900" y="29408"/>
                  <a:pt x="342900" y="28575"/>
                </a:cubicBezTo>
                <a:cubicBezTo>
                  <a:pt x="342900" y="27742"/>
                  <a:pt x="342305" y="26789"/>
                  <a:pt x="341590" y="26432"/>
                </a:cubicBezTo>
                <a:lnTo>
                  <a:pt x="323850" y="19050"/>
                </a:lnTo>
                <a:lnTo>
                  <a:pt x="316468" y="1310"/>
                </a:lnTo>
                <a:cubicBezTo>
                  <a:pt x="316111" y="595"/>
                  <a:pt x="315158" y="0"/>
                  <a:pt x="314325" y="0"/>
                </a:cubicBezTo>
                <a:cubicBezTo>
                  <a:pt x="313492" y="0"/>
                  <a:pt x="312539" y="595"/>
                  <a:pt x="312182" y="1310"/>
                </a:cubicBezTo>
                <a:lnTo>
                  <a:pt x="304800" y="19050"/>
                </a:lnTo>
                <a:lnTo>
                  <a:pt x="287060" y="26432"/>
                </a:lnTo>
                <a:cubicBezTo>
                  <a:pt x="286345" y="26789"/>
                  <a:pt x="285750" y="27742"/>
                  <a:pt x="285750" y="28575"/>
                </a:cubicBezTo>
                <a:cubicBezTo>
                  <a:pt x="285750" y="29408"/>
                  <a:pt x="286345" y="30361"/>
                  <a:pt x="287060" y="30718"/>
                </a:cubicBezTo>
                <a:lnTo>
                  <a:pt x="304800" y="38100"/>
                </a:lnTo>
                <a:lnTo>
                  <a:pt x="312182" y="55840"/>
                </a:lnTo>
                <a:close/>
                <a:moveTo>
                  <a:pt x="316468" y="115610"/>
                </a:moveTo>
                <a:cubicBezTo>
                  <a:pt x="316111" y="114895"/>
                  <a:pt x="315158" y="114300"/>
                  <a:pt x="314325" y="114300"/>
                </a:cubicBezTo>
                <a:cubicBezTo>
                  <a:pt x="313492" y="114300"/>
                  <a:pt x="312539" y="114895"/>
                  <a:pt x="312182" y="115610"/>
                </a:cubicBezTo>
                <a:lnTo>
                  <a:pt x="304800" y="133350"/>
                </a:lnTo>
                <a:lnTo>
                  <a:pt x="287060" y="140732"/>
                </a:lnTo>
                <a:cubicBezTo>
                  <a:pt x="286345" y="141089"/>
                  <a:pt x="285750" y="142042"/>
                  <a:pt x="285750" y="142875"/>
                </a:cubicBezTo>
                <a:cubicBezTo>
                  <a:pt x="285750" y="143708"/>
                  <a:pt x="286345" y="144661"/>
                  <a:pt x="287060" y="145018"/>
                </a:cubicBezTo>
                <a:lnTo>
                  <a:pt x="304800" y="152400"/>
                </a:lnTo>
                <a:lnTo>
                  <a:pt x="312182" y="170140"/>
                </a:lnTo>
                <a:cubicBezTo>
                  <a:pt x="312539" y="170855"/>
                  <a:pt x="313492" y="171450"/>
                  <a:pt x="314325" y="171450"/>
                </a:cubicBezTo>
                <a:cubicBezTo>
                  <a:pt x="315158" y="171450"/>
                  <a:pt x="316111" y="170855"/>
                  <a:pt x="316468" y="170140"/>
                </a:cubicBezTo>
                <a:lnTo>
                  <a:pt x="323850" y="152400"/>
                </a:lnTo>
                <a:lnTo>
                  <a:pt x="341590" y="145018"/>
                </a:lnTo>
                <a:cubicBezTo>
                  <a:pt x="342305" y="144661"/>
                  <a:pt x="342900" y="143708"/>
                  <a:pt x="342900" y="142875"/>
                </a:cubicBezTo>
                <a:cubicBezTo>
                  <a:pt x="342900" y="142042"/>
                  <a:pt x="342305" y="141089"/>
                  <a:pt x="341590" y="140732"/>
                </a:cubicBezTo>
                <a:lnTo>
                  <a:pt x="323850" y="133350"/>
                </a:lnTo>
                <a:lnTo>
                  <a:pt x="316468" y="115610"/>
                </a:lnTo>
                <a:close/>
                <a:moveTo>
                  <a:pt x="304800" y="85725"/>
                </a:moveTo>
                <a:cubicBezTo>
                  <a:pt x="304800" y="84892"/>
                  <a:pt x="304205" y="83939"/>
                  <a:pt x="303490" y="83582"/>
                </a:cubicBezTo>
                <a:lnTo>
                  <a:pt x="285750" y="76200"/>
                </a:lnTo>
                <a:lnTo>
                  <a:pt x="278368" y="58460"/>
                </a:lnTo>
                <a:cubicBezTo>
                  <a:pt x="278011" y="57745"/>
                  <a:pt x="277058" y="57150"/>
                  <a:pt x="276225" y="57150"/>
                </a:cubicBezTo>
                <a:cubicBezTo>
                  <a:pt x="275392" y="57150"/>
                  <a:pt x="274439" y="57745"/>
                  <a:pt x="274082" y="58460"/>
                </a:cubicBezTo>
                <a:lnTo>
                  <a:pt x="266700" y="76200"/>
                </a:lnTo>
                <a:lnTo>
                  <a:pt x="248960" y="83582"/>
                </a:lnTo>
                <a:cubicBezTo>
                  <a:pt x="248245" y="83939"/>
                  <a:pt x="247650" y="84892"/>
                  <a:pt x="247650" y="85725"/>
                </a:cubicBezTo>
                <a:cubicBezTo>
                  <a:pt x="247650" y="86558"/>
                  <a:pt x="248245" y="87511"/>
                  <a:pt x="248960" y="87868"/>
                </a:cubicBezTo>
                <a:lnTo>
                  <a:pt x="266700" y="95250"/>
                </a:lnTo>
                <a:lnTo>
                  <a:pt x="274082" y="112990"/>
                </a:lnTo>
                <a:cubicBezTo>
                  <a:pt x="274439" y="113705"/>
                  <a:pt x="275392" y="114300"/>
                  <a:pt x="276225" y="114300"/>
                </a:cubicBezTo>
                <a:cubicBezTo>
                  <a:pt x="277058" y="114300"/>
                  <a:pt x="278011" y="113705"/>
                  <a:pt x="278368" y="112990"/>
                </a:cubicBezTo>
                <a:lnTo>
                  <a:pt x="285750" y="95250"/>
                </a:lnTo>
                <a:lnTo>
                  <a:pt x="303490" y="87868"/>
                </a:lnTo>
                <a:cubicBezTo>
                  <a:pt x="304205" y="87511"/>
                  <a:pt x="304800" y="86558"/>
                  <a:pt x="304800" y="8572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937000" y="43688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清理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7600" y="41656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1750" y="4368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8100" y="57150"/>
                </a:moveTo>
                <a:lnTo>
                  <a:pt x="38100" y="200025"/>
                </a:lnTo>
                <a:lnTo>
                  <a:pt x="304800" y="200025"/>
                </a:lnTo>
                <a:lnTo>
                  <a:pt x="304800" y="57150"/>
                </a:lnTo>
                <a:lnTo>
                  <a:pt x="38100" y="57150"/>
                </a:lnTo>
                <a:close/>
                <a:moveTo>
                  <a:pt x="0" y="57150"/>
                </a:moveTo>
                <a:cubicBezTo>
                  <a:pt x="0" y="36135"/>
                  <a:pt x="17085" y="19050"/>
                  <a:pt x="38100" y="19050"/>
                </a:cubicBezTo>
                <a:lnTo>
                  <a:pt x="304800" y="19050"/>
                </a:lnTo>
                <a:cubicBezTo>
                  <a:pt x="325815" y="19050"/>
                  <a:pt x="342900" y="36135"/>
                  <a:pt x="342900" y="57150"/>
                </a:cubicBezTo>
                <a:lnTo>
                  <a:pt x="342900" y="200025"/>
                </a:lnTo>
                <a:cubicBezTo>
                  <a:pt x="342900" y="221040"/>
                  <a:pt x="325815" y="238125"/>
                  <a:pt x="304800" y="238125"/>
                </a:cubicBezTo>
                <a:lnTo>
                  <a:pt x="38100" y="238125"/>
                </a:lnTo>
                <a:cubicBezTo>
                  <a:pt x="17085" y="238125"/>
                  <a:pt x="0" y="221040"/>
                  <a:pt x="0" y="200025"/>
                </a:cubicBezTo>
                <a:lnTo>
                  <a:pt x="0" y="57150"/>
                </a:lnTo>
                <a:close/>
                <a:moveTo>
                  <a:pt x="95250" y="266700"/>
                </a:moveTo>
                <a:lnTo>
                  <a:pt x="247650" y="266700"/>
                </a:lnTo>
                <a:cubicBezTo>
                  <a:pt x="258187" y="266700"/>
                  <a:pt x="266700" y="275213"/>
                  <a:pt x="266700" y="285750"/>
                </a:cubicBezTo>
                <a:cubicBezTo>
                  <a:pt x="266700" y="296287"/>
                  <a:pt x="258187" y="304800"/>
                  <a:pt x="247650" y="304800"/>
                </a:cubicBezTo>
                <a:lnTo>
                  <a:pt x="95250" y="304800"/>
                </a:lnTo>
                <a:cubicBezTo>
                  <a:pt x="84713" y="304800"/>
                  <a:pt x="76200" y="296287"/>
                  <a:pt x="76200" y="285750"/>
                </a:cubicBezTo>
                <a:cubicBezTo>
                  <a:pt x="76200" y="275213"/>
                  <a:pt x="84713" y="266700"/>
                  <a:pt x="95250" y="2667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908800" y="43688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娱乐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69400" y="41656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72600" y="436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8276" y="43041"/>
                </a:moveTo>
                <a:cubicBezTo>
                  <a:pt x="22384" y="28813"/>
                  <a:pt x="35421" y="19050"/>
                  <a:pt x="50244" y="19050"/>
                </a:cubicBezTo>
                <a:lnTo>
                  <a:pt x="255032" y="19050"/>
                </a:lnTo>
                <a:cubicBezTo>
                  <a:pt x="269855" y="19050"/>
                  <a:pt x="282892" y="28813"/>
                  <a:pt x="287060" y="43041"/>
                </a:cubicBezTo>
                <a:lnTo>
                  <a:pt x="300990" y="90785"/>
                </a:lnTo>
                <a:cubicBezTo>
                  <a:pt x="308610" y="116800"/>
                  <a:pt x="289024" y="142875"/>
                  <a:pt x="261937" y="142875"/>
                </a:cubicBezTo>
                <a:cubicBezTo>
                  <a:pt x="246281" y="142875"/>
                  <a:pt x="232529" y="134005"/>
                  <a:pt x="225743" y="120789"/>
                </a:cubicBezTo>
                <a:cubicBezTo>
                  <a:pt x="218837" y="133826"/>
                  <a:pt x="205145" y="142875"/>
                  <a:pt x="189190" y="142875"/>
                </a:cubicBezTo>
                <a:cubicBezTo>
                  <a:pt x="173355" y="142875"/>
                  <a:pt x="159603" y="133945"/>
                  <a:pt x="152698" y="120848"/>
                </a:cubicBezTo>
                <a:cubicBezTo>
                  <a:pt x="145792" y="133945"/>
                  <a:pt x="132040" y="142875"/>
                  <a:pt x="116205" y="142875"/>
                </a:cubicBezTo>
                <a:cubicBezTo>
                  <a:pt x="100251" y="142875"/>
                  <a:pt x="86558" y="133886"/>
                  <a:pt x="79653" y="120789"/>
                </a:cubicBezTo>
                <a:cubicBezTo>
                  <a:pt x="72866" y="133945"/>
                  <a:pt x="59115" y="142875"/>
                  <a:pt x="43458" y="142875"/>
                </a:cubicBezTo>
                <a:cubicBezTo>
                  <a:pt x="16312" y="142875"/>
                  <a:pt x="-3215" y="116860"/>
                  <a:pt x="4405" y="90785"/>
                </a:cubicBezTo>
                <a:lnTo>
                  <a:pt x="18276" y="43041"/>
                </a:lnTo>
                <a:close/>
                <a:moveTo>
                  <a:pt x="57388" y="209550"/>
                </a:moveTo>
                <a:lnTo>
                  <a:pt x="247888" y="209550"/>
                </a:lnTo>
                <a:lnTo>
                  <a:pt x="247888" y="170021"/>
                </a:lnTo>
                <a:cubicBezTo>
                  <a:pt x="252413" y="170974"/>
                  <a:pt x="257115" y="171450"/>
                  <a:pt x="261878" y="171450"/>
                </a:cubicBezTo>
                <a:cubicBezTo>
                  <a:pt x="270391" y="171450"/>
                  <a:pt x="278547" y="169902"/>
                  <a:pt x="285988" y="167164"/>
                </a:cubicBezTo>
                <a:lnTo>
                  <a:pt x="285988" y="257175"/>
                </a:lnTo>
                <a:cubicBezTo>
                  <a:pt x="285988" y="272951"/>
                  <a:pt x="273189" y="285750"/>
                  <a:pt x="257413" y="285750"/>
                </a:cubicBezTo>
                <a:lnTo>
                  <a:pt x="47863" y="285750"/>
                </a:lnTo>
                <a:cubicBezTo>
                  <a:pt x="32087" y="285750"/>
                  <a:pt x="19288" y="272951"/>
                  <a:pt x="19288" y="257175"/>
                </a:cubicBezTo>
                <a:lnTo>
                  <a:pt x="19288" y="167164"/>
                </a:lnTo>
                <a:cubicBezTo>
                  <a:pt x="26730" y="169902"/>
                  <a:pt x="34826" y="171450"/>
                  <a:pt x="43398" y="171450"/>
                </a:cubicBezTo>
                <a:cubicBezTo>
                  <a:pt x="48220" y="171450"/>
                  <a:pt x="52864" y="170974"/>
                  <a:pt x="57388" y="170021"/>
                </a:cubicBezTo>
                <a:lnTo>
                  <a:pt x="57388" y="20955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9880600" y="4368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外出就餐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006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厨房剧场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162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空间里的权力与情感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225645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10平米空间堆满10种电器，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凌乱揭示‘君子远庖厨’文化仍在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4140045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空间狭小导致流线冲突，清洁者被边缘化。厨房不仅是功能场所，更是家庭情感与性别角色的展演舞台。</a:t>
            </a:r>
            <a:endParaRPr lang="en-US" sz="1600" dirty="0"/>
          </a:p>
        </p:txBody>
      </p:sp>
      <p:pic>
        <p:nvPicPr>
          <p:cNvPr id="6" name="Image 0" descr="https://kimi-web-img.moonshot.cn/img/c8.alamy.com/4474c1e8bca8b01528ee24f9581b82735f604083.jpg">    </p:cNvPr>
          <p:cNvPicPr>
            <a:picLocks noChangeAspect="1"/>
          </p:cNvPicPr>
          <p:nvPr/>
        </p:nvPicPr>
        <p:blipFill>
          <a:blip r:embed="rId1"/>
          <a:srcRect l="7123" r="7123" t="0" b="0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76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代际差异：同一餐桌的多元宇宙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女儿牛奶、父亲方便面、母亲居中平衡，揭示同一空间内的价值系统冲突。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90028" y="3048000"/>
            <a:ext cx="1320800" cy="1320800"/>
          </a:xfrm>
          <a:custGeom>
            <a:avLst/>
            <a:gdLst/>
            <a:ahLst/>
            <a:cxnLst/>
            <a:rect l="l" t="t" r="r" b="b"/>
            <a:pathLst>
              <a:path w="1320800" h="1320800">
                <a:moveTo>
                  <a:pt x="660400" y="0"/>
                </a:moveTo>
                <a:lnTo>
                  <a:pt x="660400" y="0"/>
                </a:lnTo>
                <a:cubicBezTo>
                  <a:pt x="1024885" y="0"/>
                  <a:pt x="1320800" y="295915"/>
                  <a:pt x="1320800" y="660400"/>
                </a:cubicBezTo>
                <a:lnTo>
                  <a:pt x="1320800" y="660400"/>
                </a:lnTo>
                <a:cubicBezTo>
                  <a:pt x="1320800" y="1024885"/>
                  <a:pt x="1024885" y="1320800"/>
                  <a:pt x="660400" y="1320800"/>
                </a:cubicBezTo>
                <a:lnTo>
                  <a:pt x="660400" y="1320800"/>
                </a:lnTo>
                <a:cubicBezTo>
                  <a:pt x="295915" y="1320800"/>
                  <a:pt x="0" y="1024885"/>
                  <a:pt x="0" y="660400"/>
                </a:cubicBezTo>
                <a:lnTo>
                  <a:pt x="0" y="660400"/>
                </a:lnTo>
                <a:cubicBezTo>
                  <a:pt x="0" y="295915"/>
                  <a:pt x="295915" y="0"/>
                  <a:pt x="660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pic>
        <p:nvPicPr>
          <p:cNvPr id="5" name="Image 0" descr="https://kimi-web-img.moonshot.cn/img/c8.alamy.com/6d353033438dfaa9cffda28af43f9900d315f1d9.jpg">    </p:cNvPr>
          <p:cNvPicPr>
            <a:picLocks noChangeAspect="1"/>
          </p:cNvPicPr>
          <p:nvPr/>
        </p:nvPicPr>
        <p:blipFill>
          <a:blip r:embed="rId1"/>
          <a:srcRect l="0" r="0" t="18849" b="18849"/>
          <a:stretch/>
        </p:blipFill>
        <p:spPr>
          <a:xfrm>
            <a:off x="1540828" y="3098800"/>
            <a:ext cx="1320800" cy="1320800"/>
          </a:xfrm>
          <a:prstGeom prst="roundRect">
            <a:avLst>
              <a:gd name="adj" fmla="val 5000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0" y="45720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女儿：美容诉求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9276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牛奶+水果，为皮肤投资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84641" y="3048000"/>
            <a:ext cx="1320800" cy="1320800"/>
          </a:xfrm>
          <a:custGeom>
            <a:avLst/>
            <a:gdLst/>
            <a:ahLst/>
            <a:cxnLst/>
            <a:rect l="l" t="t" r="r" b="b"/>
            <a:pathLst>
              <a:path w="1320800" h="1320800">
                <a:moveTo>
                  <a:pt x="660400" y="0"/>
                </a:moveTo>
                <a:lnTo>
                  <a:pt x="660400" y="0"/>
                </a:lnTo>
                <a:cubicBezTo>
                  <a:pt x="1024885" y="0"/>
                  <a:pt x="1320800" y="295915"/>
                  <a:pt x="1320800" y="660400"/>
                </a:cubicBezTo>
                <a:lnTo>
                  <a:pt x="1320800" y="660400"/>
                </a:lnTo>
                <a:cubicBezTo>
                  <a:pt x="1320800" y="1024885"/>
                  <a:pt x="1024885" y="1320800"/>
                  <a:pt x="660400" y="1320800"/>
                </a:cubicBezTo>
                <a:lnTo>
                  <a:pt x="660400" y="1320800"/>
                </a:lnTo>
                <a:cubicBezTo>
                  <a:pt x="295915" y="1320800"/>
                  <a:pt x="0" y="1024885"/>
                  <a:pt x="0" y="660400"/>
                </a:cubicBezTo>
                <a:lnTo>
                  <a:pt x="0" y="660400"/>
                </a:lnTo>
                <a:cubicBezTo>
                  <a:pt x="0" y="295915"/>
                  <a:pt x="295915" y="0"/>
                  <a:pt x="660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pic>
        <p:nvPicPr>
          <p:cNvPr id="9" name="Image 1" descr="https://kimi-web-img.moonshot.cn/img/thumbs.dreamstime.com/44045bdbe72f4079cd4db3c96555d88728c79146.jpg">    </p:cNvPr>
          <p:cNvPicPr>
            <a:picLocks noChangeAspect="1"/>
          </p:cNvPicPr>
          <p:nvPr/>
        </p:nvPicPr>
        <p:blipFill>
          <a:blip r:embed="rId2"/>
          <a:srcRect l="13844" r="13844" t="0" b="0"/>
          <a:stretch/>
        </p:blipFill>
        <p:spPr>
          <a:xfrm>
            <a:off x="5435441" y="3098800"/>
            <a:ext cx="1320800" cy="1320800"/>
          </a:xfrm>
          <a:prstGeom prst="roundRect">
            <a:avLst>
              <a:gd name="adj" fmla="val 50000"/>
            </a:avLst>
          </a:prstGeom>
        </p:spPr>
      </p:pic>
      <p:sp>
        <p:nvSpPr>
          <p:cNvPr id="10" name="Text 6"/>
          <p:cNvSpPr/>
          <p:nvPr/>
        </p:nvSpPr>
        <p:spPr>
          <a:xfrm>
            <a:off x="3894614" y="45720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父亲：效率至上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894614" y="49276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方便面，夜班后的妥协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9279255" y="3048000"/>
            <a:ext cx="1320800" cy="1320800"/>
          </a:xfrm>
          <a:custGeom>
            <a:avLst/>
            <a:gdLst/>
            <a:ahLst/>
            <a:cxnLst/>
            <a:rect l="l" t="t" r="r" b="b"/>
            <a:pathLst>
              <a:path w="1320800" h="1320800">
                <a:moveTo>
                  <a:pt x="660400" y="0"/>
                </a:moveTo>
                <a:lnTo>
                  <a:pt x="660400" y="0"/>
                </a:lnTo>
                <a:cubicBezTo>
                  <a:pt x="1024885" y="0"/>
                  <a:pt x="1320800" y="295915"/>
                  <a:pt x="1320800" y="660400"/>
                </a:cubicBezTo>
                <a:lnTo>
                  <a:pt x="1320800" y="660400"/>
                </a:lnTo>
                <a:cubicBezTo>
                  <a:pt x="1320800" y="1024885"/>
                  <a:pt x="1024885" y="1320800"/>
                  <a:pt x="660400" y="1320800"/>
                </a:cubicBezTo>
                <a:lnTo>
                  <a:pt x="660400" y="1320800"/>
                </a:lnTo>
                <a:cubicBezTo>
                  <a:pt x="295915" y="1320800"/>
                  <a:pt x="0" y="1024885"/>
                  <a:pt x="0" y="660400"/>
                </a:cubicBezTo>
                <a:lnTo>
                  <a:pt x="0" y="660400"/>
                </a:lnTo>
                <a:cubicBezTo>
                  <a:pt x="0" y="295915"/>
                  <a:pt x="295915" y="0"/>
                  <a:pt x="660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pic>
        <p:nvPicPr>
          <p:cNvPr id="13" name="Image 2" descr="https://kimi-web-img.moonshot.cn/img/www.uobgroup.com/cafa4383b3228392c77c03c0658662b432a92d6b.jpg">    </p:cNvPr>
          <p:cNvPicPr>
            <a:picLocks noChangeAspect="1"/>
          </p:cNvPicPr>
          <p:nvPr/>
        </p:nvPicPr>
        <p:blipFill>
          <a:blip r:embed="rId3"/>
          <a:srcRect l="14815" r="14815" t="0" b="0"/>
          <a:stretch/>
        </p:blipFill>
        <p:spPr>
          <a:xfrm>
            <a:off x="9330055" y="3098800"/>
            <a:ext cx="1320800" cy="1320800"/>
          </a:xfrm>
          <a:prstGeom prst="roundRect">
            <a:avLst>
              <a:gd name="adj" fmla="val 50000"/>
            </a:avLst>
          </a:prstGeom>
        </p:spPr>
      </p:pic>
      <p:sp>
        <p:nvSpPr>
          <p:cNvPr id="14" name="Text 9"/>
          <p:cNvSpPr/>
          <p:nvPr/>
        </p:nvSpPr>
        <p:spPr>
          <a:xfrm>
            <a:off x="7789228" y="45720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母亲：平衡焦虑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789228" y="49276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兼顾营养与成本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洞察整合：四大需求24痛点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6510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问卷验证：安全与功能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2606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中产消费的共识与底线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870045"/>
            <a:ext cx="5435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10户问卷显示，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食品安全与味道营养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是共识性最高需求，而网络订餐、一次性餐具等“便捷”选项得分最低。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4140045"/>
            <a:ext cx="5435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中产愿为健康溢价付费，但前提是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安全焦虑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必须被首先回应。技术噱头若不能解决此问题，将难以获得市场信任。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0" y="2082800"/>
            <a:ext cx="5842000" cy="762000"/>
          </a:xfrm>
          <a:custGeom>
            <a:avLst/>
            <a:gdLst/>
            <a:ahLst/>
            <a:cxnLst/>
            <a:rect l="l" t="t" r="r" b="b"/>
            <a:pathLst>
              <a:path w="5842000" h="762000">
                <a:moveTo>
                  <a:pt x="101597" y="0"/>
                </a:moveTo>
                <a:lnTo>
                  <a:pt x="5740403" y="0"/>
                </a:lnTo>
                <a:cubicBezTo>
                  <a:pt x="5796513" y="0"/>
                  <a:pt x="5842000" y="45487"/>
                  <a:pt x="5842000" y="101597"/>
                </a:cubicBezTo>
                <a:lnTo>
                  <a:pt x="5842000" y="660403"/>
                </a:lnTo>
                <a:cubicBezTo>
                  <a:pt x="5842000" y="716513"/>
                  <a:pt x="5796513" y="762000"/>
                  <a:pt x="5740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99200" y="22860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食品安全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21190" y="2362200"/>
            <a:ext cx="1625600" cy="203200"/>
          </a:xfrm>
          <a:custGeom>
            <a:avLst/>
            <a:gdLst/>
            <a:ahLst/>
            <a:cxnLst/>
            <a:rect l="l" t="t" r="r" b="b"/>
            <a:pathLst>
              <a:path w="1625600" h="203200">
                <a:moveTo>
                  <a:pt x="101600" y="0"/>
                </a:moveTo>
                <a:lnTo>
                  <a:pt x="1524000" y="0"/>
                </a:lnTo>
                <a:cubicBezTo>
                  <a:pt x="1580075" y="0"/>
                  <a:pt x="1625600" y="45525"/>
                  <a:pt x="1625600" y="101600"/>
                </a:cubicBezTo>
                <a:lnTo>
                  <a:pt x="1625600" y="101600"/>
                </a:lnTo>
                <a:cubicBezTo>
                  <a:pt x="1625600" y="157675"/>
                  <a:pt x="1580075" y="203200"/>
                  <a:pt x="15240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Shape 7"/>
          <p:cNvSpPr/>
          <p:nvPr/>
        </p:nvSpPr>
        <p:spPr>
          <a:xfrm>
            <a:off x="9521190" y="2362200"/>
            <a:ext cx="1549400" cy="203200"/>
          </a:xfrm>
          <a:custGeom>
            <a:avLst/>
            <a:gdLst/>
            <a:ahLst/>
            <a:cxnLst/>
            <a:rect l="l" t="t" r="r" b="b"/>
            <a:pathLst>
              <a:path w="1549400" h="203200">
                <a:moveTo>
                  <a:pt x="101600" y="0"/>
                </a:moveTo>
                <a:lnTo>
                  <a:pt x="1447800" y="0"/>
                </a:lnTo>
                <a:cubicBezTo>
                  <a:pt x="1503875" y="0"/>
                  <a:pt x="1549400" y="45525"/>
                  <a:pt x="1549400" y="101600"/>
                </a:cubicBezTo>
                <a:lnTo>
                  <a:pt x="1549400" y="101600"/>
                </a:lnTo>
                <a:cubicBezTo>
                  <a:pt x="1549400" y="157675"/>
                  <a:pt x="1503875" y="203200"/>
                  <a:pt x="14478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1299190" y="2311400"/>
            <a:ext cx="93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0" y="3048000"/>
            <a:ext cx="5842000" cy="762000"/>
          </a:xfrm>
          <a:custGeom>
            <a:avLst/>
            <a:gdLst/>
            <a:ahLst/>
            <a:cxnLst/>
            <a:rect l="l" t="t" r="r" b="b"/>
            <a:pathLst>
              <a:path w="5842000" h="762000">
                <a:moveTo>
                  <a:pt x="101597" y="0"/>
                </a:moveTo>
                <a:lnTo>
                  <a:pt x="5740403" y="0"/>
                </a:lnTo>
                <a:cubicBezTo>
                  <a:pt x="5796513" y="0"/>
                  <a:pt x="5842000" y="45487"/>
                  <a:pt x="5842000" y="101597"/>
                </a:cubicBezTo>
                <a:lnTo>
                  <a:pt x="5842000" y="660403"/>
                </a:lnTo>
                <a:cubicBezTo>
                  <a:pt x="5842000" y="716513"/>
                  <a:pt x="5796513" y="762000"/>
                  <a:pt x="5740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9200" y="32512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味道营养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521190" y="3327400"/>
            <a:ext cx="1625600" cy="203200"/>
          </a:xfrm>
          <a:custGeom>
            <a:avLst/>
            <a:gdLst/>
            <a:ahLst/>
            <a:cxnLst/>
            <a:rect l="l" t="t" r="r" b="b"/>
            <a:pathLst>
              <a:path w="1625600" h="203200">
                <a:moveTo>
                  <a:pt x="101600" y="0"/>
                </a:moveTo>
                <a:lnTo>
                  <a:pt x="1524000" y="0"/>
                </a:lnTo>
                <a:cubicBezTo>
                  <a:pt x="1580075" y="0"/>
                  <a:pt x="1625600" y="45525"/>
                  <a:pt x="1625600" y="101600"/>
                </a:cubicBezTo>
                <a:lnTo>
                  <a:pt x="1625600" y="101600"/>
                </a:lnTo>
                <a:cubicBezTo>
                  <a:pt x="1625600" y="157675"/>
                  <a:pt x="1580075" y="203200"/>
                  <a:pt x="15240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1190" y="3327400"/>
            <a:ext cx="1435100" cy="203200"/>
          </a:xfrm>
          <a:custGeom>
            <a:avLst/>
            <a:gdLst/>
            <a:ahLst/>
            <a:cxnLst/>
            <a:rect l="l" t="t" r="r" b="b"/>
            <a:pathLst>
              <a:path w="1435100" h="203200">
                <a:moveTo>
                  <a:pt x="101600" y="0"/>
                </a:moveTo>
                <a:lnTo>
                  <a:pt x="1333500" y="0"/>
                </a:lnTo>
                <a:cubicBezTo>
                  <a:pt x="1389575" y="0"/>
                  <a:pt x="1435100" y="45525"/>
                  <a:pt x="1435100" y="101600"/>
                </a:cubicBezTo>
                <a:lnTo>
                  <a:pt x="1435100" y="101600"/>
                </a:lnTo>
                <a:cubicBezTo>
                  <a:pt x="1435100" y="157675"/>
                  <a:pt x="1389575" y="203200"/>
                  <a:pt x="13335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11299190" y="3276600"/>
            <a:ext cx="93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0" y="4013200"/>
            <a:ext cx="5842000" cy="762000"/>
          </a:xfrm>
          <a:custGeom>
            <a:avLst/>
            <a:gdLst/>
            <a:ahLst/>
            <a:cxnLst/>
            <a:rect l="l" t="t" r="r" b="b"/>
            <a:pathLst>
              <a:path w="5842000" h="762000">
                <a:moveTo>
                  <a:pt x="101597" y="0"/>
                </a:moveTo>
                <a:lnTo>
                  <a:pt x="5740403" y="0"/>
                </a:lnTo>
                <a:cubicBezTo>
                  <a:pt x="5796513" y="0"/>
                  <a:pt x="5842000" y="45487"/>
                  <a:pt x="5842000" y="101597"/>
                </a:cubicBezTo>
                <a:lnTo>
                  <a:pt x="5842000" y="660403"/>
                </a:lnTo>
                <a:cubicBezTo>
                  <a:pt x="5842000" y="716513"/>
                  <a:pt x="5796513" y="762000"/>
                  <a:pt x="5740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9200" y="42164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网络订餐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21190" y="4292600"/>
            <a:ext cx="1625600" cy="203200"/>
          </a:xfrm>
          <a:custGeom>
            <a:avLst/>
            <a:gdLst/>
            <a:ahLst/>
            <a:cxnLst/>
            <a:rect l="l" t="t" r="r" b="b"/>
            <a:pathLst>
              <a:path w="1625600" h="203200">
                <a:moveTo>
                  <a:pt x="101600" y="0"/>
                </a:moveTo>
                <a:lnTo>
                  <a:pt x="1524000" y="0"/>
                </a:lnTo>
                <a:cubicBezTo>
                  <a:pt x="1580075" y="0"/>
                  <a:pt x="1625600" y="45525"/>
                  <a:pt x="1625600" y="101600"/>
                </a:cubicBezTo>
                <a:lnTo>
                  <a:pt x="1625600" y="101600"/>
                </a:lnTo>
                <a:cubicBezTo>
                  <a:pt x="1625600" y="157675"/>
                  <a:pt x="1580075" y="203200"/>
                  <a:pt x="15240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9" name="Shape 17"/>
          <p:cNvSpPr/>
          <p:nvPr/>
        </p:nvSpPr>
        <p:spPr>
          <a:xfrm>
            <a:off x="9521190" y="4292600"/>
            <a:ext cx="241300" cy="203200"/>
          </a:xfrm>
          <a:custGeom>
            <a:avLst/>
            <a:gdLst/>
            <a:ahLst/>
            <a:cxnLst/>
            <a:rect l="l" t="t" r="r" b="b"/>
            <a:pathLst>
              <a:path w="241300" h="203200">
                <a:moveTo>
                  <a:pt x="101600" y="0"/>
                </a:moveTo>
                <a:lnTo>
                  <a:pt x="139700" y="0"/>
                </a:lnTo>
                <a:cubicBezTo>
                  <a:pt x="195775" y="0"/>
                  <a:pt x="241300" y="45525"/>
                  <a:pt x="241300" y="101600"/>
                </a:cubicBezTo>
                <a:lnTo>
                  <a:pt x="241300" y="101600"/>
                </a:lnTo>
                <a:cubicBezTo>
                  <a:pt x="241300" y="157675"/>
                  <a:pt x="195775" y="203200"/>
                  <a:pt x="1397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11299190" y="4241800"/>
            <a:ext cx="93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15%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76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情境交叉：需求矩阵洞察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将八情境与四大维度交叉，量化优先级，锁定关键冲突。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946400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914400"/>
                </a:lnTo>
                <a:cubicBezTo>
                  <a:pt x="5740400" y="970475"/>
                  <a:pt x="5694875" y="1016000"/>
                  <a:pt x="563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8488" y="32639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25388" y="0"/>
                </a:moveTo>
                <a:cubicBezTo>
                  <a:pt x="115491" y="0"/>
                  <a:pt x="107528" y="7962"/>
                  <a:pt x="107528" y="17859"/>
                </a:cubicBezTo>
                <a:cubicBezTo>
                  <a:pt x="107528" y="27756"/>
                  <a:pt x="115491" y="35719"/>
                  <a:pt x="125388" y="35719"/>
                </a:cubicBezTo>
                <a:lnTo>
                  <a:pt x="149200" y="35719"/>
                </a:lnTo>
                <a:lnTo>
                  <a:pt x="149200" y="54546"/>
                </a:lnTo>
                <a:cubicBezTo>
                  <a:pt x="68833" y="63401"/>
                  <a:pt x="6325" y="131564"/>
                  <a:pt x="6325" y="214313"/>
                </a:cubicBezTo>
                <a:cubicBezTo>
                  <a:pt x="6325" y="303088"/>
                  <a:pt x="78284" y="375047"/>
                  <a:pt x="167060" y="375047"/>
                </a:cubicBezTo>
                <a:cubicBezTo>
                  <a:pt x="255836" y="375047"/>
                  <a:pt x="327794" y="303088"/>
                  <a:pt x="327794" y="214313"/>
                </a:cubicBezTo>
                <a:cubicBezTo>
                  <a:pt x="327794" y="184696"/>
                  <a:pt x="319757" y="156939"/>
                  <a:pt x="305767" y="133052"/>
                </a:cubicBezTo>
                <a:lnTo>
                  <a:pt x="326752" y="112068"/>
                </a:lnTo>
                <a:cubicBezTo>
                  <a:pt x="336054" y="102766"/>
                  <a:pt x="336054" y="87660"/>
                  <a:pt x="326752" y="78358"/>
                </a:cubicBezTo>
                <a:cubicBezTo>
                  <a:pt x="317450" y="69056"/>
                  <a:pt x="302344" y="69056"/>
                  <a:pt x="293043" y="78358"/>
                </a:cubicBezTo>
                <a:lnTo>
                  <a:pt x="275630" y="95771"/>
                </a:lnTo>
                <a:cubicBezTo>
                  <a:pt x="251147" y="73298"/>
                  <a:pt x="219670" y="58341"/>
                  <a:pt x="184845" y="54471"/>
                </a:cubicBezTo>
                <a:lnTo>
                  <a:pt x="184845" y="35644"/>
                </a:lnTo>
                <a:lnTo>
                  <a:pt x="208657" y="35644"/>
                </a:lnTo>
                <a:cubicBezTo>
                  <a:pt x="218554" y="35644"/>
                  <a:pt x="226516" y="27682"/>
                  <a:pt x="226516" y="17785"/>
                </a:cubicBezTo>
                <a:cubicBezTo>
                  <a:pt x="226516" y="7888"/>
                  <a:pt x="218554" y="-74"/>
                  <a:pt x="208657" y="-74"/>
                </a:cubicBezTo>
                <a:lnTo>
                  <a:pt x="125313" y="-74"/>
                </a:lnTo>
                <a:close/>
                <a:moveTo>
                  <a:pt x="184919" y="136922"/>
                </a:moveTo>
                <a:lnTo>
                  <a:pt x="184919" y="214313"/>
                </a:lnTo>
                <a:cubicBezTo>
                  <a:pt x="184919" y="224210"/>
                  <a:pt x="176957" y="232172"/>
                  <a:pt x="167060" y="232172"/>
                </a:cubicBezTo>
                <a:cubicBezTo>
                  <a:pt x="157163" y="232172"/>
                  <a:pt x="149200" y="224210"/>
                  <a:pt x="149200" y="214313"/>
                </a:cubicBezTo>
                <a:lnTo>
                  <a:pt x="149200" y="136922"/>
                </a:lnTo>
                <a:cubicBezTo>
                  <a:pt x="149200" y="127025"/>
                  <a:pt x="157163" y="119063"/>
                  <a:pt x="167060" y="119063"/>
                </a:cubicBezTo>
                <a:cubicBezTo>
                  <a:pt x="176957" y="119063"/>
                  <a:pt x="184919" y="127025"/>
                  <a:pt x="184919" y="136922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3149600"/>
            <a:ext cx="289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省时(省事)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3505200"/>
            <a:ext cx="289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早餐速度 vs 营养、半成品开发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7600" y="2946400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914400"/>
                </a:lnTo>
                <a:cubicBezTo>
                  <a:pt x="5740400" y="970475"/>
                  <a:pt x="5694875" y="1016000"/>
                  <a:pt x="563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42088" y="32639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8" y="83344"/>
                </a:moveTo>
                <a:cubicBezTo>
                  <a:pt x="160139" y="83344"/>
                  <a:pt x="154781" y="77986"/>
                  <a:pt x="154781" y="71438"/>
                </a:cubicBezTo>
                <a:lnTo>
                  <a:pt x="154781" y="59531"/>
                </a:lnTo>
                <a:cubicBezTo>
                  <a:pt x="154781" y="26640"/>
                  <a:pt x="181421" y="0"/>
                  <a:pt x="214313" y="0"/>
                </a:cubicBezTo>
                <a:lnTo>
                  <a:pt x="226219" y="0"/>
                </a:lnTo>
                <a:cubicBezTo>
                  <a:pt x="232767" y="0"/>
                  <a:pt x="238125" y="5358"/>
                  <a:pt x="238125" y="11906"/>
                </a:cubicBezTo>
                <a:lnTo>
                  <a:pt x="238125" y="23812"/>
                </a:lnTo>
                <a:cubicBezTo>
                  <a:pt x="238125" y="56704"/>
                  <a:pt x="211485" y="83344"/>
                  <a:pt x="178594" y="83344"/>
                </a:cubicBezTo>
                <a:lnTo>
                  <a:pt x="166688" y="83344"/>
                </a:lnTo>
                <a:close/>
                <a:moveTo>
                  <a:pt x="0" y="214313"/>
                </a:moveTo>
                <a:cubicBezTo>
                  <a:pt x="0" y="157535"/>
                  <a:pt x="26566" y="95250"/>
                  <a:pt x="83344" y="95250"/>
                </a:cubicBezTo>
                <a:cubicBezTo>
                  <a:pt x="103659" y="95250"/>
                  <a:pt x="127769" y="102915"/>
                  <a:pt x="144884" y="109612"/>
                </a:cubicBezTo>
                <a:cubicBezTo>
                  <a:pt x="158874" y="115044"/>
                  <a:pt x="174575" y="115044"/>
                  <a:pt x="188565" y="109612"/>
                </a:cubicBezTo>
                <a:cubicBezTo>
                  <a:pt x="205606" y="102989"/>
                  <a:pt x="229791" y="95250"/>
                  <a:pt x="250106" y="95250"/>
                </a:cubicBezTo>
                <a:cubicBezTo>
                  <a:pt x="306884" y="95250"/>
                  <a:pt x="333449" y="157535"/>
                  <a:pt x="333449" y="214313"/>
                </a:cubicBezTo>
                <a:cubicBezTo>
                  <a:pt x="333449" y="309563"/>
                  <a:pt x="273918" y="381000"/>
                  <a:pt x="214387" y="381000"/>
                </a:cubicBezTo>
                <a:cubicBezTo>
                  <a:pt x="202109" y="381000"/>
                  <a:pt x="186035" y="376089"/>
                  <a:pt x="176064" y="372591"/>
                </a:cubicBezTo>
                <a:cubicBezTo>
                  <a:pt x="170036" y="370508"/>
                  <a:pt x="163488" y="370508"/>
                  <a:pt x="157460" y="372591"/>
                </a:cubicBezTo>
                <a:cubicBezTo>
                  <a:pt x="147489" y="376089"/>
                  <a:pt x="131415" y="381000"/>
                  <a:pt x="119137" y="381000"/>
                </a:cubicBezTo>
                <a:cubicBezTo>
                  <a:pt x="59606" y="381000"/>
                  <a:pt x="74" y="309563"/>
                  <a:pt x="74" y="21431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213600" y="3149600"/>
            <a:ext cx="299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健康(营养)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13600" y="35052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生熟食案板分离、健康食谱系统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000" y="4165600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914400"/>
                </a:lnTo>
                <a:cubicBezTo>
                  <a:pt x="5740400" y="970475"/>
                  <a:pt x="5694875" y="1016000"/>
                  <a:pt x="563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4675" y="4483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9338" y="64815"/>
                </a:moveTo>
                <a:lnTo>
                  <a:pt x="190500" y="80218"/>
                </a:lnTo>
                <a:lnTo>
                  <a:pt x="201662" y="64815"/>
                </a:lnTo>
                <a:cubicBezTo>
                  <a:pt x="220266" y="39067"/>
                  <a:pt x="250180" y="23812"/>
                  <a:pt x="281955" y="23812"/>
                </a:cubicBezTo>
                <a:cubicBezTo>
                  <a:pt x="336649" y="23812"/>
                  <a:pt x="381000" y="68163"/>
                  <a:pt x="381000" y="122858"/>
                </a:cubicBezTo>
                <a:lnTo>
                  <a:pt x="381000" y="124792"/>
                </a:lnTo>
                <a:cubicBezTo>
                  <a:pt x="381000" y="208285"/>
                  <a:pt x="276895" y="305246"/>
                  <a:pt x="222572" y="346695"/>
                </a:cubicBezTo>
                <a:cubicBezTo>
                  <a:pt x="213345" y="353690"/>
                  <a:pt x="202034" y="357188"/>
                  <a:pt x="190500" y="357188"/>
                </a:cubicBezTo>
                <a:cubicBezTo>
                  <a:pt x="178966" y="357188"/>
                  <a:pt x="167580" y="353764"/>
                  <a:pt x="158428" y="346695"/>
                </a:cubicBezTo>
                <a:cubicBezTo>
                  <a:pt x="104105" y="305246"/>
                  <a:pt x="0" y="208285"/>
                  <a:pt x="0" y="124792"/>
                </a:cubicBezTo>
                <a:lnTo>
                  <a:pt x="0" y="122858"/>
                </a:lnTo>
                <a:cubicBezTo>
                  <a:pt x="0" y="68163"/>
                  <a:pt x="44351" y="23812"/>
                  <a:pt x="99045" y="23812"/>
                </a:cubicBezTo>
                <a:cubicBezTo>
                  <a:pt x="130820" y="23812"/>
                  <a:pt x="160734" y="39067"/>
                  <a:pt x="179338" y="6481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4368800"/>
            <a:ext cx="281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情感(交流)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" y="4724400"/>
            <a:ext cx="281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晚餐分享劳动、餐桌沟通工具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7600" y="4165600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914400"/>
                </a:lnTo>
                <a:cubicBezTo>
                  <a:pt x="5740400" y="970475"/>
                  <a:pt x="5694875" y="1016000"/>
                  <a:pt x="563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8275" y="4483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105147"/>
                </a:moveTo>
                <a:lnTo>
                  <a:pt x="190500" y="335310"/>
                </a:lnTo>
                <a:lnTo>
                  <a:pt x="190872" y="335161"/>
                </a:lnTo>
                <a:cubicBezTo>
                  <a:pt x="231502" y="318269"/>
                  <a:pt x="275109" y="309563"/>
                  <a:pt x="319088" y="309563"/>
                </a:cubicBezTo>
                <a:lnTo>
                  <a:pt x="333375" y="309563"/>
                </a:lnTo>
                <a:lnTo>
                  <a:pt x="333375" y="71438"/>
                </a:lnTo>
                <a:lnTo>
                  <a:pt x="319088" y="71438"/>
                </a:lnTo>
                <a:cubicBezTo>
                  <a:pt x="287685" y="71438"/>
                  <a:pt x="256505" y="77688"/>
                  <a:pt x="227484" y="89743"/>
                </a:cubicBezTo>
                <a:cubicBezTo>
                  <a:pt x="214982" y="94952"/>
                  <a:pt x="202629" y="100087"/>
                  <a:pt x="190500" y="105147"/>
                </a:cubicBezTo>
                <a:close/>
                <a:moveTo>
                  <a:pt x="171822" y="45765"/>
                </a:moveTo>
                <a:lnTo>
                  <a:pt x="190500" y="53578"/>
                </a:lnTo>
                <a:lnTo>
                  <a:pt x="209178" y="45765"/>
                </a:lnTo>
                <a:cubicBezTo>
                  <a:pt x="244004" y="31254"/>
                  <a:pt x="281360" y="23812"/>
                  <a:pt x="319088" y="23812"/>
                </a:cubicBezTo>
                <a:lnTo>
                  <a:pt x="345281" y="23812"/>
                </a:lnTo>
                <a:cubicBezTo>
                  <a:pt x="365001" y="23812"/>
                  <a:pt x="381000" y="39812"/>
                  <a:pt x="381000" y="59531"/>
                </a:cubicBezTo>
                <a:lnTo>
                  <a:pt x="381000" y="321469"/>
                </a:lnTo>
                <a:cubicBezTo>
                  <a:pt x="381000" y="341188"/>
                  <a:pt x="365001" y="357188"/>
                  <a:pt x="345281" y="357188"/>
                </a:cubicBezTo>
                <a:lnTo>
                  <a:pt x="319088" y="357188"/>
                </a:lnTo>
                <a:cubicBezTo>
                  <a:pt x="281360" y="357188"/>
                  <a:pt x="244004" y="364629"/>
                  <a:pt x="209178" y="379140"/>
                </a:cubicBezTo>
                <a:lnTo>
                  <a:pt x="199653" y="383084"/>
                </a:lnTo>
                <a:cubicBezTo>
                  <a:pt x="193774" y="385539"/>
                  <a:pt x="187226" y="385539"/>
                  <a:pt x="181347" y="383084"/>
                </a:cubicBezTo>
                <a:lnTo>
                  <a:pt x="171822" y="379140"/>
                </a:lnTo>
                <a:cubicBezTo>
                  <a:pt x="136996" y="364629"/>
                  <a:pt x="99640" y="357188"/>
                  <a:pt x="61913" y="357188"/>
                </a:cubicBezTo>
                <a:lnTo>
                  <a:pt x="35719" y="357188"/>
                </a:lnTo>
                <a:cubicBezTo>
                  <a:pt x="15999" y="357188"/>
                  <a:pt x="0" y="341188"/>
                  <a:pt x="0" y="321469"/>
                </a:cubicBezTo>
                <a:lnTo>
                  <a:pt x="0" y="59531"/>
                </a:lnTo>
                <a:cubicBezTo>
                  <a:pt x="0" y="39812"/>
                  <a:pt x="15999" y="23812"/>
                  <a:pt x="35719" y="23812"/>
                </a:cubicBezTo>
                <a:lnTo>
                  <a:pt x="61913" y="23812"/>
                </a:lnTo>
                <a:cubicBezTo>
                  <a:pt x="99640" y="23812"/>
                  <a:pt x="136996" y="31254"/>
                  <a:pt x="171822" y="4576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7213600" y="4368800"/>
            <a:ext cx="281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文化(习惯)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13600" y="4724400"/>
            <a:ext cx="281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餐桌文化用品、中式快餐服务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889000"/>
            <a:ext cx="4673600" cy="5080000"/>
          </a:xfrm>
          <a:prstGeom prst="roundRect">
            <a:avLst>
              <a:gd name="adj" fmla="val 2174"/>
            </a:avLst>
          </a:prstGeom>
        </p:spPr>
      </p:pic>
      <p:sp>
        <p:nvSpPr>
          <p:cNvPr id="3" name="Text 0"/>
          <p:cNvSpPr/>
          <p:nvPr/>
        </p:nvSpPr>
        <p:spPr>
          <a:xfrm>
            <a:off x="5435600" y="2209800"/>
            <a:ext cx="701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0000"/>
              </a:lnSpc>
              <a:buNone/>
            </a:pPr>
            <a:r>
              <a:rPr lang="en-US" sz="4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全家齐“偷”欢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35600" y="3022600"/>
            <a:ext cx="6502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研究总结中产饮食状态为：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“优越感与压力感并存，闲暇不似幸福更像偷来的欢乐。”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35600" y="3937000"/>
            <a:ext cx="6502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设计主题应围绕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“发展”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而非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“跟随”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，产品需帮助用户在忙碌中创造可共享的“微偷欢”时刻。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概念输出：五大主题方案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8288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co-cook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4384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增进交流的厨房空间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047845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针对厨房孤岛化，提出开放式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co-cook岛台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，让备餐者面向客厅与家人互动。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3962245"/>
            <a:ext cx="5435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通过高度差与滑轨系统，同时满足切配与吧台功能，将‘背对家人’改为‘面对面’，情感价值大于功能价值。</a:t>
            </a:r>
            <a:endParaRPr lang="en-US" sz="1600" dirty="0"/>
          </a:p>
        </p:txBody>
      </p:sp>
      <p:pic>
        <p:nvPicPr>
          <p:cNvPr id="6" name="Image 0" descr="https://kimi-web-img.moonshot.cn/img/img.freepik.com/acd8d2d628202524067d70a6d02a251de9368ece.jpg">    </p:cNvPr>
          <p:cNvPicPr>
            <a:picLocks noChangeAspect="1"/>
          </p:cNvPicPr>
          <p:nvPr/>
        </p:nvPicPr>
        <p:blipFill>
          <a:blip r:embed="rId1"/>
          <a:srcRect l="19540" r="19540" t="0" b="0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sets.puxiang.com/17cdc82ec828e8fe08b6d0f81f2bda30c64a5c84.jpeg-photo_sp">    </p:cNvPr>
          <p:cNvPicPr>
            <a:picLocks noChangeAspect="1"/>
          </p:cNvPicPr>
          <p:nvPr/>
        </p:nvPicPr>
        <p:blipFill>
          <a:blip r:embed="rId1"/>
          <a:srcRect l="20964" r="20964" t="0" b="0"/>
          <a:stretch/>
        </p:blipFill>
        <p:spPr>
          <a:xfrm>
            <a:off x="457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006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cool-cook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6162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健康微气候终端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225645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解决中式爆炒油烟与炎热问题，集成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局部空调与空气净化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02400" y="4140045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在灶台上方形成洁净冷风幕，降低厨师体感温度并减少PM2.5，健康诉求可转化为高端溢价。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68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cookbar：社区自助厨房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7780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把共享概念引入住宅，从卖产品转向卖服务与体验。</a:t>
            </a:r>
            <a:endParaRPr lang="en-US" sz="1600" dirty="0"/>
          </a:p>
        </p:txBody>
      </p:sp>
      <p:pic>
        <p:nvPicPr>
          <p:cNvPr id="4" name="Image 0" descr="https://kimi-web-img.moonshot.cn/img/pic4.zhimg.com/2b45b76dfa09061387b21b11ce01458983863414.jpg">    </p:cNvPr>
          <p:cNvPicPr>
            <a:picLocks noChangeAspect="1"/>
          </p:cNvPicPr>
          <p:nvPr/>
        </p:nvPicPr>
        <p:blipFill>
          <a:blip r:embed="rId1"/>
          <a:srcRect l="0" r="0" t="27143" b="27143"/>
          <a:stretch/>
        </p:blipFill>
        <p:spPr>
          <a:xfrm>
            <a:off x="254000" y="2438400"/>
            <a:ext cx="5689600" cy="3251200"/>
          </a:xfrm>
          <a:prstGeom prst="roundRect">
            <a:avLst>
              <a:gd name="adj" fmla="val 3125"/>
            </a:avLst>
          </a:prstGeom>
        </p:spPr>
      </p:pic>
      <p:sp>
        <p:nvSpPr>
          <p:cNvPr id="5" name="Text 2"/>
          <p:cNvSpPr/>
          <p:nvPr/>
        </p:nvSpPr>
        <p:spPr>
          <a:xfrm>
            <a:off x="6248400" y="342900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在住宅底层提供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按时段租用的专业厨房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与食材零售。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48400" y="3987800"/>
            <a:ext cx="5689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年轻夫妻可在此举办主题晚宴，既解决空间不足又创造社交资产，为商业模式创新提供蓝本。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雅筑家居：广东中产居住研究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006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甲方困境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162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不知道30岁要什么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225639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“雅筑家居”立志做广东版IKEA，却摸不清30-40岁、家庭月收入万元级人群的家居偏好。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4140039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在供过于求时代，厂商必须从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生产导向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转为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需求导向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，研究潜在需求成为商业成功的关键。</a:t>
            </a:r>
            <a:endParaRPr lang="en-US" sz="1600" dirty="0"/>
          </a:p>
        </p:txBody>
      </p:sp>
      <p:pic>
        <p:nvPicPr>
          <p:cNvPr id="6" name="Image 0" descr="https://kimi-web-img.moonshot.cn/img/gd-hbimg.huaban.com/c543a924fe07a86050b5644f621f7e6ac1fcf6d3">    </p:cNvPr>
          <p:cNvPicPr>
            <a:picLocks noChangeAspect="1"/>
          </p:cNvPicPr>
          <p:nvPr/>
        </p:nvPicPr>
        <p:blipFill>
          <a:blip r:embed="rId1"/>
          <a:srcRect l="4274" r="4274" t="0" b="0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0828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视觉测评：用图片说话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7940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让81名被试从80张图片中选出最爱并打分，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用形象直抵偏好，避免语言失真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708400"/>
            <a:ext cx="5435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高频选择图片可聚类人群，为后续生活方式四分法提供量化入口，是一种绕过理性防御、直达感性认知的有效方法。</a:t>
            </a:r>
            <a:endParaRPr lang="en-US" sz="1600" dirty="0"/>
          </a:p>
        </p:txBody>
      </p:sp>
      <p:pic>
        <p:nvPicPr>
          <p:cNvPr id="5" name="Image 0" descr="https://kimi-web-img.moonshot.cn/img/img-blog.csdnimg.cn/dd87c14f9212bb699b6c08efc8476d710666299b.png">    </p:cNvPr>
          <p:cNvPicPr>
            <a:picLocks noChangeAspect="1"/>
          </p:cNvPicPr>
          <p:nvPr/>
        </p:nvPicPr>
        <p:blipFill>
          <a:blip r:embed="rId1"/>
          <a:srcRect l="38079" r="38079" t="0" b="0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462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多元分类：避开语言陷阱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9558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让被试自由分类24幅家具图，发现其潜意识中的关注点排序。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7178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9972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2130" y="2921000"/>
            <a:ext cx="19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31.6%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8400" y="27178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1600" y="29972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36530" y="2921000"/>
            <a:ext cx="19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24.0%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" y="39370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2164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色彩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2130" y="4140200"/>
            <a:ext cx="19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20.3%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400" y="39370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51600" y="42164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36530" y="4140200"/>
            <a:ext cx="19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15.0%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4000" y="5156200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结论：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整体性氛围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（风格+感觉）是首要关注点，远大于局部细节。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人群四分：生活方式画像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0fe1431f7e3771960f547d252e3ca1693af518d7.jpg">    </p:cNvPr>
          <p:cNvPicPr>
            <a:picLocks noChangeAspect="1"/>
          </p:cNvPicPr>
          <p:nvPr/>
        </p:nvPicPr>
        <p:blipFill>
          <a:blip r:embed="rId1"/>
          <a:srcRect l="16409" r="16409" t="0" b="0"/>
          <a:stretch/>
        </p:blipFill>
        <p:spPr>
          <a:xfrm>
            <a:off x="457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260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人群画像 1: 经典类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9718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偏好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深色实木、对称布局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，关键词为传统、稳重、亲切。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8862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群体多为公务员或传统企业中层，重视耐用与身份认同。卖场可通过胡桃木+暖光营造信赖感。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60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人群画像 2: 唯理类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9718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简洁线条、中性色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，关键词为现代、克制、高科技。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8862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群体以工程师、医生为主，关注收纳效率与易清洁。模块化与可扩展成为核心卖点。</a:t>
            </a:r>
            <a:endParaRPr lang="en-US" sz="1600" dirty="0"/>
          </a:p>
        </p:txBody>
      </p:sp>
      <p:pic>
        <p:nvPicPr>
          <p:cNvPr id="5" name="Image 0" descr="https://kimi-web-img.moonshot.cn/img/thumbs.dreamstime.com/8a06f397e7aa3a5a57d4f5aebfaddf9f7f767204.jpg">    </p:cNvPr>
          <p:cNvPicPr>
            <a:picLocks noChangeAspect="1"/>
          </p:cNvPicPr>
          <p:nvPr/>
        </p:nvPicPr>
        <p:blipFill>
          <a:blip r:embed="rId1"/>
          <a:srcRect l="21307" r="21307" t="0" b="0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2.bigstockphoto.com/fcf66ee58a79e21e6cb842f3fc47bc451f3caaa7.jpg">    </p:cNvPr>
          <p:cNvPicPr>
            <a:picLocks noChangeAspect="1"/>
          </p:cNvPicPr>
          <p:nvPr/>
        </p:nvPicPr>
        <p:blipFill>
          <a:blip r:embed="rId1"/>
          <a:srcRect l="15858" r="15858" t="0" b="0"/>
          <a:stretch/>
        </p:blipFill>
        <p:spPr>
          <a:xfrm>
            <a:off x="457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260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人群画像 3: 小康类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9718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偏爱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浅色板式、圆角造型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，关键词为温馨、实惠、明快。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8862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群体多为年轻三口之家，预算有限但追求情调。卖场可通过场景套餐降低决策成本。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4384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人群画像 4: 创意类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3149600"/>
            <a:ext cx="543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倾向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跳色混搭、工业风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，关键词为前卫、个性、酷。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7084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群体含自由职业者、广告人，愿为设计支付溢价。限量版与跨界合作可制造话题。</a:t>
            </a:r>
            <a:endParaRPr lang="en-US" sz="1600" dirty="0"/>
          </a:p>
        </p:txBody>
      </p:sp>
      <p:pic>
        <p:nvPicPr>
          <p:cNvPr id="5" name="Image 0" descr="https://kimi-web-img.moonshot.cn/img/www.tkhomedeco.com/392d518a22766a7cd1d486e6e6ad158eb2d9950d.jpg">    </p:cNvPr>
          <p:cNvPicPr>
            <a:picLocks noChangeAspect="1"/>
          </p:cNvPicPr>
          <p:nvPr/>
        </p:nvPicPr>
        <p:blipFill>
          <a:blip r:embed="rId1"/>
          <a:srcRect l="4274" r="4274" t="0" b="0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方法总结：事理学实战要诀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7018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方法总结：超以象外，得其圜中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413000"/>
            <a:ext cx="975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两案例共同验证：要定义物，先绕到物外，把人群、时间、空间、行为、意义五张网织好，物自然浮现。事理学把‘灵感驱动’转为‘关系驱动’，让创新可追踪、可验证。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489200" y="35306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8C8C8C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13050" y="3911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2641600" y="4851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68800" y="4089400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0" y="35306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8C8C8C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10250" y="3911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638800" y="4851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6000" y="4089400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83600" y="35306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8C8C8C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4600" y="391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4851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造物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9050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资源重组：知识即新品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162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创新不是发明新元素，而是对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硬件与软件资源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进行再编排。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30600"/>
            <a:ext cx="54356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筷子项目把旧厨房重新导演成交流剧场，雅筑项目把既有风格重新排序成四幕商品。事理学让设计从造型技巧升级为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知识管理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，为企业持续创造市场提供可复制引擎。</a:t>
            </a:r>
            <a:endParaRPr lang="en-US" sz="1600" dirty="0"/>
          </a:p>
        </p:txBody>
      </p:sp>
      <p:pic>
        <p:nvPicPr>
          <p:cNvPr id="5" name="Image 0" descr="https://kimi-web-img.moonshot.cn/img/lars-sudmann.com/af2d5c8f7b94cce368e1349da1d1d9ee52c86333.jpg">    </p:cNvPr>
          <p:cNvPicPr>
            <a:picLocks noChangeAspect="1"/>
          </p:cNvPicPr>
          <p:nvPr/>
        </p:nvPicPr>
        <p:blipFill>
          <a:blip r:embed="rId1"/>
          <a:srcRect l="22564" r="22564" t="0" b="0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9-d2t62qu1bb2p4onbqqk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685" y="0"/>
            <a:ext cx="1227518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3195320"/>
            <a:ext cx="533082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</a:t>
            </a:r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观看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8-d2t62qm1bb2p4onbqq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55" y="304800"/>
            <a:ext cx="5005070" cy="26396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24265" y="5219065"/>
            <a:ext cx="4064000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：Kimi AI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724265" y="5678170"/>
            <a:ext cx="4064000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汇报时间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：2025/08/05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事理学实战：筷子与雅筑家居</dc:title>
  <dc:subject>事理学实战：筷子与雅筑家居</dc:subject>
  <dc:creator>Kimi</dc:creator>
  <cp:lastModifiedBy>Kimi</cp:lastModifiedBy>
  <cp:revision>1</cp:revision>
  <dcterms:created xsi:type="dcterms:W3CDTF">2025-09-18T16:16:12Z</dcterms:created>
  <dcterms:modified xsi:type="dcterms:W3CDTF">2025-09-18T16:16:12Z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{"Label":"事理学实战：筷子与雅筑家居","ContentProducer":"001191110108MACG2KBH8F10000","ProduceID":"d362os4432e3recsn430","ReservedCode1":"","ContentPropagator":"001191110108MACG2KBH8F20000","PropagateID":"d362os4432e3recsn430","ReservedCode2":""}</vt:lpwstr>
  </property>
</Properties>
</file>