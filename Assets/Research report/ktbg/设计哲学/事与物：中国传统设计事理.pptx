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embeddedFontLst>
    <p:embeddedFont>
      <p:font typeface="MiSans" charset="-122" pitchFamily="34"/>
      <p:regular r:id="rId4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4.png"/><Relationship Id="rId3" Type="http://schemas.openxmlformats.org/officeDocument/2006/relationships/image" Target="../media/image-2-5.png"/><Relationship Id="rId4" Type="http://schemas.openxmlformats.org/officeDocument/2006/relationships/image" Target="../media/image-2-3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1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1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事与物：中国传统设计事理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208135" y="5678805"/>
            <a:ext cx="221551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</a:t>
            </a:r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：Kimi 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95335" y="6047105"/>
            <a:ext cx="302831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汇报时间</a:t>
            </a:r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：2025/08/05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k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" y="4327525"/>
            <a:ext cx="7486015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2845" y="4820920"/>
            <a:ext cx="701040" cy="68262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由物及事：方法论转向</a:t>
            </a:r>
            <a:endParaRPr 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车轮：滚动中的事理演进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升水器械：提水事中的造物智慧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金属礼器：权力符号的生成逻辑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9542145" y="49904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思维模型：天时地利人和物宜工巧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135" y="3959225"/>
            <a:ext cx="701040" cy="6826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45" y="5082540"/>
            <a:ext cx="701040" cy="6826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h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865" y="4791075"/>
            <a:ext cx="3218815" cy="184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56885" y="410337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现代启示：传统智慧的转译路径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556885" y="5222240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结论：事理不息，设计常新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由物及事：方法论转向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711450"/>
            <a:ext cx="4876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由物及事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333375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方法论转向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40957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927600" y="2501900"/>
            <a:ext cx="0" cy="1854200"/>
          </a:xfrm>
          <a:prstGeom prst="line">
            <a:avLst/>
          </a:prstGeom>
          <a:noFill/>
          <a:ln w="20320">
            <a:solidFill>
              <a:srgbClr val="8C8C8C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252720" y="2501900"/>
            <a:ext cx="6680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传统研究多聚焦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造型与断代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，本章则提出“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由物及事、由事明理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”的逆向视角，将器物放回其产生、发展、演变的天时、地利、人和网络中，考察外部限制如何驱动内部技术选择。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52720" y="3695700"/>
            <a:ext cx="6680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研究目的并非穷尽形式，而是揭示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需求—限制—手段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的平衡机制，为理解中国本土设计智慧提供可迁移的框架。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22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事理思想：人造物背后的文化秩序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81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古人造物是顺应天时、综合地利、讲究人和、因材施艺的系统决策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78000" y="26924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87575" y="3073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0"/>
                </a:moveTo>
                <a:cubicBezTo>
                  <a:pt x="130106" y="0"/>
                  <a:pt x="142875" y="12769"/>
                  <a:pt x="142875" y="28575"/>
                </a:cubicBezTo>
                <a:lnTo>
                  <a:pt x="142875" y="57150"/>
                </a:lnTo>
                <a:lnTo>
                  <a:pt x="257175" y="57150"/>
                </a:lnTo>
                <a:lnTo>
                  <a:pt x="257175" y="28575"/>
                </a:lnTo>
                <a:cubicBezTo>
                  <a:pt x="257175" y="12769"/>
                  <a:pt x="269944" y="0"/>
                  <a:pt x="285750" y="0"/>
                </a:cubicBezTo>
                <a:cubicBezTo>
                  <a:pt x="301556" y="0"/>
                  <a:pt x="314325" y="12769"/>
                  <a:pt x="314325" y="28575"/>
                </a:cubicBezTo>
                <a:lnTo>
                  <a:pt x="314325" y="57150"/>
                </a:lnTo>
                <a:lnTo>
                  <a:pt x="342900" y="57150"/>
                </a:lnTo>
                <a:cubicBezTo>
                  <a:pt x="374422" y="57150"/>
                  <a:pt x="400050" y="82778"/>
                  <a:pt x="400050" y="114300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114300"/>
                </a:lnTo>
                <a:cubicBezTo>
                  <a:pt x="0" y="82778"/>
                  <a:pt x="25628" y="57150"/>
                  <a:pt x="57150" y="57150"/>
                </a:cubicBezTo>
                <a:lnTo>
                  <a:pt x="85725" y="57150"/>
                </a:lnTo>
                <a:lnTo>
                  <a:pt x="85725" y="28575"/>
                </a:lnTo>
                <a:cubicBezTo>
                  <a:pt x="85725" y="12769"/>
                  <a:pt x="98494" y="0"/>
                  <a:pt x="114300" y="0"/>
                </a:cubicBezTo>
                <a:close/>
                <a:moveTo>
                  <a:pt x="57150" y="214313"/>
                </a:moveTo>
                <a:lnTo>
                  <a:pt x="57150" y="242888"/>
                </a:lnTo>
                <a:cubicBezTo>
                  <a:pt x="57150" y="250746"/>
                  <a:pt x="63579" y="257175"/>
                  <a:pt x="71438" y="257175"/>
                </a:cubicBezTo>
                <a:lnTo>
                  <a:pt x="100013" y="257175"/>
                </a:lnTo>
                <a:cubicBezTo>
                  <a:pt x="107871" y="257175"/>
                  <a:pt x="114300" y="250746"/>
                  <a:pt x="114300" y="242888"/>
                </a:cubicBezTo>
                <a:lnTo>
                  <a:pt x="114300" y="214313"/>
                </a:lnTo>
                <a:cubicBezTo>
                  <a:pt x="114300" y="206454"/>
                  <a:pt x="107871" y="200025"/>
                  <a:pt x="100013" y="200025"/>
                </a:cubicBezTo>
                <a:lnTo>
                  <a:pt x="71438" y="200025"/>
                </a:lnTo>
                <a:cubicBezTo>
                  <a:pt x="63579" y="200025"/>
                  <a:pt x="57150" y="206454"/>
                  <a:pt x="57150" y="214313"/>
                </a:cubicBezTo>
                <a:close/>
                <a:moveTo>
                  <a:pt x="171450" y="214313"/>
                </a:moveTo>
                <a:lnTo>
                  <a:pt x="171450" y="242888"/>
                </a:lnTo>
                <a:cubicBezTo>
                  <a:pt x="171450" y="250746"/>
                  <a:pt x="177879" y="257175"/>
                  <a:pt x="185738" y="257175"/>
                </a:cubicBezTo>
                <a:lnTo>
                  <a:pt x="214313" y="257175"/>
                </a:lnTo>
                <a:cubicBezTo>
                  <a:pt x="222171" y="257175"/>
                  <a:pt x="228600" y="250746"/>
                  <a:pt x="228600" y="242888"/>
                </a:cubicBezTo>
                <a:lnTo>
                  <a:pt x="228600" y="214313"/>
                </a:lnTo>
                <a:cubicBezTo>
                  <a:pt x="228600" y="206454"/>
                  <a:pt x="222171" y="200025"/>
                  <a:pt x="214313" y="200025"/>
                </a:cubicBezTo>
                <a:lnTo>
                  <a:pt x="185738" y="200025"/>
                </a:lnTo>
                <a:cubicBezTo>
                  <a:pt x="177879" y="200025"/>
                  <a:pt x="171450" y="206454"/>
                  <a:pt x="171450" y="214313"/>
                </a:cubicBezTo>
                <a:close/>
                <a:moveTo>
                  <a:pt x="300038" y="200025"/>
                </a:moveTo>
                <a:cubicBezTo>
                  <a:pt x="292179" y="200025"/>
                  <a:pt x="285750" y="206454"/>
                  <a:pt x="285750" y="214313"/>
                </a:cubicBezTo>
                <a:lnTo>
                  <a:pt x="285750" y="242888"/>
                </a:lnTo>
                <a:cubicBezTo>
                  <a:pt x="285750" y="250746"/>
                  <a:pt x="292179" y="257175"/>
                  <a:pt x="300038" y="257175"/>
                </a:cubicBezTo>
                <a:lnTo>
                  <a:pt x="328613" y="257175"/>
                </a:lnTo>
                <a:cubicBezTo>
                  <a:pt x="336471" y="257175"/>
                  <a:pt x="342900" y="250746"/>
                  <a:pt x="342900" y="242888"/>
                </a:cubicBezTo>
                <a:lnTo>
                  <a:pt x="342900" y="214313"/>
                </a:lnTo>
                <a:cubicBezTo>
                  <a:pt x="342900" y="206454"/>
                  <a:pt x="336471" y="200025"/>
                  <a:pt x="328613" y="200025"/>
                </a:cubicBezTo>
                <a:lnTo>
                  <a:pt x="300038" y="200025"/>
                </a:lnTo>
                <a:close/>
                <a:moveTo>
                  <a:pt x="57150" y="328613"/>
                </a:move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100013" y="371475"/>
                </a:lnTo>
                <a:cubicBezTo>
                  <a:pt x="107871" y="371475"/>
                  <a:pt x="114300" y="365046"/>
                  <a:pt x="114300" y="357188"/>
                </a:cubicBezTo>
                <a:lnTo>
                  <a:pt x="114300" y="328613"/>
                </a:lnTo>
                <a:cubicBezTo>
                  <a:pt x="114300" y="320754"/>
                  <a:pt x="107871" y="314325"/>
                  <a:pt x="100013" y="314325"/>
                </a:cubicBezTo>
                <a:lnTo>
                  <a:pt x="71438" y="314325"/>
                </a:lnTo>
                <a:cubicBezTo>
                  <a:pt x="63579" y="314325"/>
                  <a:pt x="57150" y="320754"/>
                  <a:pt x="57150" y="328613"/>
                </a:cubicBezTo>
                <a:close/>
                <a:moveTo>
                  <a:pt x="185738" y="314325"/>
                </a:moveTo>
                <a:cubicBezTo>
                  <a:pt x="177879" y="314325"/>
                  <a:pt x="171450" y="320754"/>
                  <a:pt x="171450" y="328613"/>
                </a:cubicBezTo>
                <a:lnTo>
                  <a:pt x="171450" y="357188"/>
                </a:lnTo>
                <a:cubicBezTo>
                  <a:pt x="171450" y="365046"/>
                  <a:pt x="177879" y="371475"/>
                  <a:pt x="185738" y="371475"/>
                </a:cubicBezTo>
                <a:lnTo>
                  <a:pt x="214313" y="371475"/>
                </a:lnTo>
                <a:cubicBezTo>
                  <a:pt x="222171" y="371475"/>
                  <a:pt x="228600" y="365046"/>
                  <a:pt x="228600" y="357188"/>
                </a:cubicBezTo>
                <a:lnTo>
                  <a:pt x="228600" y="328613"/>
                </a:lnTo>
                <a:cubicBezTo>
                  <a:pt x="228600" y="320754"/>
                  <a:pt x="222171" y="314325"/>
                  <a:pt x="214313" y="314325"/>
                </a:cubicBezTo>
                <a:lnTo>
                  <a:pt x="185738" y="314325"/>
                </a:lnTo>
                <a:close/>
                <a:moveTo>
                  <a:pt x="285750" y="328613"/>
                </a:moveTo>
                <a:lnTo>
                  <a:pt x="285750" y="357188"/>
                </a:lnTo>
                <a:cubicBezTo>
                  <a:pt x="285750" y="365046"/>
                  <a:pt x="292179" y="371475"/>
                  <a:pt x="300038" y="371475"/>
                </a:cubicBezTo>
                <a:lnTo>
                  <a:pt x="328613" y="371475"/>
                </a:lnTo>
                <a:cubicBezTo>
                  <a:pt x="336471" y="371475"/>
                  <a:pt x="342900" y="365046"/>
                  <a:pt x="342900" y="357188"/>
                </a:cubicBezTo>
                <a:lnTo>
                  <a:pt x="342900" y="328613"/>
                </a:lnTo>
                <a:cubicBezTo>
                  <a:pt x="342900" y="320754"/>
                  <a:pt x="336471" y="314325"/>
                  <a:pt x="328613" y="314325"/>
                </a:cubicBezTo>
                <a:lnTo>
                  <a:pt x="300038" y="314325"/>
                </a:lnTo>
                <a:cubicBezTo>
                  <a:pt x="292179" y="314325"/>
                  <a:pt x="285750" y="320754"/>
                  <a:pt x="285750" y="3286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40640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44196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顺应时序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89400" y="353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26924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C8C8C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67400" y="307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046" y="0"/>
                </a:moveTo>
                <a:cubicBezTo>
                  <a:pt x="242173" y="0"/>
                  <a:pt x="254228" y="7233"/>
                  <a:pt x="260479" y="18752"/>
                </a:cubicBezTo>
                <a:lnTo>
                  <a:pt x="453360" y="375940"/>
                </a:lnTo>
                <a:cubicBezTo>
                  <a:pt x="459343" y="387013"/>
                  <a:pt x="459075" y="400407"/>
                  <a:pt x="452646" y="411212"/>
                </a:cubicBezTo>
                <a:cubicBezTo>
                  <a:pt x="446216" y="422017"/>
                  <a:pt x="434519" y="428625"/>
                  <a:pt x="422017" y="428625"/>
                </a:cubicBezTo>
                <a:lnTo>
                  <a:pt x="36255" y="428625"/>
                </a:lnTo>
                <a:cubicBezTo>
                  <a:pt x="23664" y="428625"/>
                  <a:pt x="12055" y="422017"/>
                  <a:pt x="5626" y="411212"/>
                </a:cubicBezTo>
                <a:cubicBezTo>
                  <a:pt x="-804" y="400407"/>
                  <a:pt x="-1072" y="387013"/>
                  <a:pt x="4911" y="375940"/>
                </a:cubicBezTo>
                <a:lnTo>
                  <a:pt x="197793" y="18752"/>
                </a:lnTo>
                <a:lnTo>
                  <a:pt x="200382" y="14645"/>
                </a:lnTo>
                <a:cubicBezTo>
                  <a:pt x="206901" y="5536"/>
                  <a:pt x="217527" y="0"/>
                  <a:pt x="229046" y="0"/>
                </a:cubicBezTo>
                <a:close/>
                <a:moveTo>
                  <a:pt x="152162" y="223153"/>
                </a:moveTo>
                <a:lnTo>
                  <a:pt x="176093" y="247084"/>
                </a:lnTo>
                <a:cubicBezTo>
                  <a:pt x="181630" y="252621"/>
                  <a:pt x="190738" y="252621"/>
                  <a:pt x="196275" y="247084"/>
                </a:cubicBezTo>
                <a:lnTo>
                  <a:pt x="234940" y="208419"/>
                </a:lnTo>
                <a:cubicBezTo>
                  <a:pt x="240298" y="203061"/>
                  <a:pt x="247531" y="200025"/>
                  <a:pt x="255121" y="200025"/>
                </a:cubicBezTo>
                <a:lnTo>
                  <a:pt x="293340" y="200025"/>
                </a:lnTo>
                <a:lnTo>
                  <a:pt x="228957" y="80814"/>
                </a:lnTo>
                <a:lnTo>
                  <a:pt x="152073" y="2231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613400" y="40640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44196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利用地财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97800" y="353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9194800" y="2692400"/>
            <a:ext cx="1181100" cy="1181100"/>
          </a:xfrm>
          <a:custGeom>
            <a:avLst/>
            <a:gdLst/>
            <a:ahLst/>
            <a:cxnLst/>
            <a:rect l="l" t="t" r="r" b="b"/>
            <a:pathLst>
              <a:path w="1181100" h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18650" y="3073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321800" y="40640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94800" y="44196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以人为本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000" y="50800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器物是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礼乐、农政、战争 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等“大事”的物化接口，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“事”先于“物”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车轮：滚动中的事理演进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09700"/>
            <a:ext cx="604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起源假说：多源路径的汇聚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70100"/>
            <a:ext cx="5537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车轮的诞生并非单一灵感，而是多种可能性在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“省力+快捷”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目标下的汇聚。早期技术储备决定了其从玩具到实车的转化节奏。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5600" y="336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2952" y="60"/>
                </a:moveTo>
                <a:cubicBezTo>
                  <a:pt x="288846" y="-417"/>
                  <a:pt x="294620" y="1845"/>
                  <a:pt x="298787" y="6013"/>
                </a:cubicBezTo>
                <a:cubicBezTo>
                  <a:pt x="302955" y="10180"/>
                  <a:pt x="305217" y="15954"/>
                  <a:pt x="304740" y="21848"/>
                </a:cubicBezTo>
                <a:cubicBezTo>
                  <a:pt x="302359" y="51197"/>
                  <a:pt x="294382" y="96976"/>
                  <a:pt x="277178" y="140732"/>
                </a:cubicBezTo>
                <a:cubicBezTo>
                  <a:pt x="276106" y="143411"/>
                  <a:pt x="273903" y="145435"/>
                  <a:pt x="271105" y="146268"/>
                </a:cubicBezTo>
                <a:lnTo>
                  <a:pt x="222945" y="160734"/>
                </a:lnTo>
                <a:cubicBezTo>
                  <a:pt x="220623" y="161449"/>
                  <a:pt x="219075" y="163532"/>
                  <a:pt x="219075" y="165973"/>
                </a:cubicBezTo>
                <a:cubicBezTo>
                  <a:pt x="219075" y="169009"/>
                  <a:pt x="221516" y="171450"/>
                  <a:pt x="224552" y="171450"/>
                </a:cubicBezTo>
                <a:lnTo>
                  <a:pt x="247531" y="171450"/>
                </a:lnTo>
                <a:cubicBezTo>
                  <a:pt x="254675" y="171450"/>
                  <a:pt x="259259" y="179070"/>
                  <a:pt x="255568" y="185202"/>
                </a:cubicBezTo>
                <a:cubicBezTo>
                  <a:pt x="253186" y="189190"/>
                  <a:pt x="250627" y="193060"/>
                  <a:pt x="248007" y="196870"/>
                </a:cubicBezTo>
                <a:cubicBezTo>
                  <a:pt x="246817" y="198596"/>
                  <a:pt x="245031" y="199846"/>
                  <a:pt x="243007" y="200501"/>
                </a:cubicBezTo>
                <a:lnTo>
                  <a:pt x="184845" y="217884"/>
                </a:lnTo>
                <a:cubicBezTo>
                  <a:pt x="182523" y="218599"/>
                  <a:pt x="180975" y="220682"/>
                  <a:pt x="180975" y="223123"/>
                </a:cubicBezTo>
                <a:cubicBezTo>
                  <a:pt x="180975" y="226159"/>
                  <a:pt x="183416" y="228600"/>
                  <a:pt x="186452" y="228600"/>
                </a:cubicBezTo>
                <a:lnTo>
                  <a:pt x="195977" y="228600"/>
                </a:lnTo>
                <a:cubicBezTo>
                  <a:pt x="204668" y="228600"/>
                  <a:pt x="208478" y="238958"/>
                  <a:pt x="201216" y="243721"/>
                </a:cubicBezTo>
                <a:cubicBezTo>
                  <a:pt x="160734" y="270510"/>
                  <a:pt x="119241" y="269498"/>
                  <a:pt x="92631" y="262354"/>
                </a:cubicBezTo>
                <a:cubicBezTo>
                  <a:pt x="85070" y="260330"/>
                  <a:pt x="78343" y="256461"/>
                  <a:pt x="72152" y="251698"/>
                </a:cubicBezTo>
                <a:lnTo>
                  <a:pt x="28575" y="295275"/>
                </a:lnTo>
                <a:cubicBezTo>
                  <a:pt x="23336" y="300514"/>
                  <a:pt x="14764" y="300514"/>
                  <a:pt x="9525" y="295275"/>
                </a:cubicBezTo>
                <a:cubicBezTo>
                  <a:pt x="4286" y="290036"/>
                  <a:pt x="4286" y="281464"/>
                  <a:pt x="9525" y="276225"/>
                </a:cubicBezTo>
                <a:lnTo>
                  <a:pt x="57150" y="228600"/>
                </a:lnTo>
                <a:lnTo>
                  <a:pt x="57448" y="228898"/>
                </a:lnTo>
                <a:cubicBezTo>
                  <a:pt x="57864" y="228124"/>
                  <a:pt x="58400" y="227409"/>
                  <a:pt x="59055" y="226755"/>
                </a:cubicBezTo>
                <a:lnTo>
                  <a:pt x="152400" y="133350"/>
                </a:lnTo>
                <a:cubicBezTo>
                  <a:pt x="157639" y="128111"/>
                  <a:pt x="157639" y="119539"/>
                  <a:pt x="152400" y="114300"/>
                </a:cubicBezTo>
                <a:cubicBezTo>
                  <a:pt x="147161" y="109061"/>
                  <a:pt x="138589" y="109061"/>
                  <a:pt x="133350" y="114300"/>
                </a:cubicBezTo>
                <a:lnTo>
                  <a:pt x="53400" y="194191"/>
                </a:lnTo>
                <a:cubicBezTo>
                  <a:pt x="48101" y="199489"/>
                  <a:pt x="39112" y="196810"/>
                  <a:pt x="38517" y="189309"/>
                </a:cubicBezTo>
                <a:cubicBezTo>
                  <a:pt x="35957" y="157639"/>
                  <a:pt x="44053" y="116026"/>
                  <a:pt x="81736" y="78343"/>
                </a:cubicBezTo>
                <a:cubicBezTo>
                  <a:pt x="135969" y="24110"/>
                  <a:pt x="233065" y="4108"/>
                  <a:pt x="282892" y="6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3655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仿生说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6703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见飞蓬旋转，启发了轮子的概念。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5600" y="412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2576" y="19110"/>
                </a:moveTo>
                <a:cubicBezTo>
                  <a:pt x="135553" y="29170"/>
                  <a:pt x="129838" y="39826"/>
                  <a:pt x="119777" y="42803"/>
                </a:cubicBezTo>
                <a:cubicBezTo>
                  <a:pt x="72569" y="56852"/>
                  <a:pt x="38160" y="100608"/>
                  <a:pt x="38160" y="152400"/>
                </a:cubicBezTo>
                <a:cubicBezTo>
                  <a:pt x="38160" y="215503"/>
                  <a:pt x="89356" y="266700"/>
                  <a:pt x="152460" y="266700"/>
                </a:cubicBezTo>
                <a:cubicBezTo>
                  <a:pt x="215563" y="266700"/>
                  <a:pt x="266760" y="215503"/>
                  <a:pt x="266760" y="152400"/>
                </a:cubicBezTo>
                <a:cubicBezTo>
                  <a:pt x="266760" y="100667"/>
                  <a:pt x="232350" y="56912"/>
                  <a:pt x="185142" y="42803"/>
                </a:cubicBezTo>
                <a:cubicBezTo>
                  <a:pt x="175081" y="39826"/>
                  <a:pt x="169307" y="29170"/>
                  <a:pt x="172343" y="19110"/>
                </a:cubicBezTo>
                <a:cubicBezTo>
                  <a:pt x="175379" y="9049"/>
                  <a:pt x="185976" y="3274"/>
                  <a:pt x="196036" y="6310"/>
                </a:cubicBezTo>
                <a:cubicBezTo>
                  <a:pt x="258901" y="25063"/>
                  <a:pt x="304800" y="83344"/>
                  <a:pt x="304800" y="152400"/>
                </a:cubicBezTo>
                <a:cubicBezTo>
                  <a:pt x="304800" y="236577"/>
                  <a:pt x="236577" y="304800"/>
                  <a:pt x="152400" y="304800"/>
                </a:cubicBezTo>
                <a:cubicBezTo>
                  <a:pt x="68223" y="304800"/>
                  <a:pt x="0" y="236577"/>
                  <a:pt x="0" y="152400"/>
                </a:cubicBezTo>
                <a:cubicBezTo>
                  <a:pt x="0" y="83344"/>
                  <a:pt x="45899" y="25063"/>
                  <a:pt x="108883" y="6310"/>
                </a:cubicBezTo>
                <a:cubicBezTo>
                  <a:pt x="118943" y="3334"/>
                  <a:pt x="129600" y="9049"/>
                  <a:pt x="132576" y="1911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275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陶轮说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432300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制陶离心力经验，提供了技术原型。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650" y="4889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-19050"/>
                </a:moveTo>
                <a:cubicBezTo>
                  <a:pt x="137517" y="-19050"/>
                  <a:pt x="141506" y="-17205"/>
                  <a:pt x="144244" y="-13990"/>
                </a:cubicBezTo>
                <a:lnTo>
                  <a:pt x="225207" y="81260"/>
                </a:lnTo>
                <a:cubicBezTo>
                  <a:pt x="228838" y="85487"/>
                  <a:pt x="229612" y="91440"/>
                  <a:pt x="227290" y="96500"/>
                </a:cubicBezTo>
                <a:cubicBezTo>
                  <a:pt x="224969" y="101560"/>
                  <a:pt x="219908" y="104775"/>
                  <a:pt x="214313" y="104775"/>
                </a:cubicBezTo>
                <a:lnTo>
                  <a:pt x="199489" y="104775"/>
                </a:lnTo>
                <a:lnTo>
                  <a:pt x="244257" y="157460"/>
                </a:lnTo>
                <a:cubicBezTo>
                  <a:pt x="247888" y="161687"/>
                  <a:pt x="248662" y="167640"/>
                  <a:pt x="246340" y="172700"/>
                </a:cubicBezTo>
                <a:cubicBezTo>
                  <a:pt x="244019" y="177760"/>
                  <a:pt x="238958" y="180975"/>
                  <a:pt x="233363" y="180975"/>
                </a:cubicBezTo>
                <a:lnTo>
                  <a:pt x="210443" y="180975"/>
                </a:lnTo>
                <a:lnTo>
                  <a:pt x="263307" y="243185"/>
                </a:lnTo>
                <a:cubicBezTo>
                  <a:pt x="266938" y="247412"/>
                  <a:pt x="267712" y="253365"/>
                  <a:pt x="265390" y="258425"/>
                </a:cubicBezTo>
                <a:cubicBezTo>
                  <a:pt x="263069" y="263485"/>
                  <a:pt x="258008" y="266700"/>
                  <a:pt x="252413" y="266700"/>
                </a:cubicBezTo>
                <a:lnTo>
                  <a:pt x="152400" y="266700"/>
                </a:lnTo>
                <a:lnTo>
                  <a:pt x="152400" y="304800"/>
                </a:lnTo>
                <a:cubicBezTo>
                  <a:pt x="152400" y="315337"/>
                  <a:pt x="143887" y="323850"/>
                  <a:pt x="133350" y="323850"/>
                </a:cubicBezTo>
                <a:cubicBezTo>
                  <a:pt x="122813" y="323850"/>
                  <a:pt x="114300" y="315337"/>
                  <a:pt x="114300" y="304800"/>
                </a:cubicBezTo>
                <a:lnTo>
                  <a:pt x="114300" y="266700"/>
                </a:lnTo>
                <a:lnTo>
                  <a:pt x="14288" y="266700"/>
                </a:lnTo>
                <a:cubicBezTo>
                  <a:pt x="8692" y="266700"/>
                  <a:pt x="3631" y="263485"/>
                  <a:pt x="1310" y="258425"/>
                </a:cubicBezTo>
                <a:cubicBezTo>
                  <a:pt x="-1012" y="253365"/>
                  <a:pt x="-238" y="247412"/>
                  <a:pt x="3393" y="243185"/>
                </a:cubicBezTo>
                <a:lnTo>
                  <a:pt x="56257" y="180975"/>
                </a:lnTo>
                <a:lnTo>
                  <a:pt x="33338" y="180975"/>
                </a:lnTo>
                <a:cubicBezTo>
                  <a:pt x="27742" y="180975"/>
                  <a:pt x="22681" y="177760"/>
                  <a:pt x="20360" y="172700"/>
                </a:cubicBezTo>
                <a:cubicBezTo>
                  <a:pt x="18038" y="167640"/>
                  <a:pt x="18812" y="161687"/>
                  <a:pt x="22443" y="157460"/>
                </a:cubicBezTo>
                <a:lnTo>
                  <a:pt x="67211" y="104775"/>
                </a:lnTo>
                <a:lnTo>
                  <a:pt x="52388" y="104775"/>
                </a:lnTo>
                <a:cubicBezTo>
                  <a:pt x="46792" y="104775"/>
                  <a:pt x="41731" y="101560"/>
                  <a:pt x="39410" y="96500"/>
                </a:cubicBezTo>
                <a:cubicBezTo>
                  <a:pt x="37088" y="91440"/>
                  <a:pt x="37862" y="85487"/>
                  <a:pt x="41493" y="81260"/>
                </a:cubicBezTo>
                <a:lnTo>
                  <a:pt x="122456" y="-13990"/>
                </a:lnTo>
                <a:cubicBezTo>
                  <a:pt x="125194" y="-17205"/>
                  <a:pt x="129183" y="-19050"/>
                  <a:pt x="133350" y="-1905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895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滚木说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194300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移动巨石的实践，验证了滚动原理。</a:t>
            </a:r>
            <a:endParaRPr lang="en-US" sz="1600" dirty="0"/>
          </a:p>
        </p:txBody>
      </p:sp>
      <p:pic>
        <p:nvPicPr>
          <p:cNvPr id="13" name="Image 0" descr="https://kimi-web-img.moonshot.cn/img/upload.wikimedia.org/bfaba2173af8f3aadcdb94f8632df6d8a619ec11.JPG">    </p:cNvPr>
          <p:cNvPicPr>
            <a:picLocks noChangeAspect="1"/>
          </p:cNvPicPr>
          <p:nvPr/>
        </p:nvPicPr>
        <p:blipFill>
          <a:blip r:embed="rId1"/>
          <a:srcRect l="0" r="0" t="15703" b="15703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065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中国古轮：七次变革的演进之路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7653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从实心木到扬帆车，每一次形态跃迁都对应着社会需求的深刻变化。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4064000"/>
            <a:ext cx="11684000" cy="25400"/>
          </a:xfrm>
          <a:custGeom>
            <a:avLst/>
            <a:gdLst/>
            <a:ahLst/>
            <a:cxnLst/>
            <a:rect l="l" t="t" r="r" b="b"/>
            <a:pathLst>
              <a:path w="11684000" h="25400">
                <a:moveTo>
                  <a:pt x="0" y="0"/>
                </a:moveTo>
                <a:lnTo>
                  <a:pt x="11684000" y="0"/>
                </a:lnTo>
                <a:lnTo>
                  <a:pt x="11684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5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6949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7849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实心轮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7849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新石器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56046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36946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辐式轮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36946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夏商周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5144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67944" y="43688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夹辅轮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67944" y="46228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春秋战国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94241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5141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蝶形轮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5141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63339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4239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金属轮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44239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32437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13337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13337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唐宋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001534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82434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扬帆车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82434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明清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2.piqsels.com/b734efd72eb24d5ad817dcc61e1377fc857b5d53.jpg">    </p:cNvPr>
          <p:cNvPicPr>
            <a:picLocks noChangeAspect="1"/>
          </p:cNvPicPr>
          <p:nvPr/>
        </p:nvPicPr>
        <p:blipFill>
          <a:blip r:embed="rId1"/>
          <a:srcRect l="10571" r="10571" t="0" b="0"/>
          <a:stretch/>
        </p:blipFill>
        <p:spPr>
          <a:xfrm>
            <a:off x="254000" y="254000"/>
            <a:ext cx="5257800" cy="4445000"/>
          </a:xfrm>
          <a:prstGeom prst="roundRect">
            <a:avLst>
              <a:gd name="adj" fmla="val 2286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096000" y="19558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中外比较：轮径的分岔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096000" y="2616200"/>
            <a:ext cx="584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1760年后，欧洲以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蒸汽→橡胶→充气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序列追求高速载重。而中国仍保木质小轮，以适应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水田阡陌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的地理语境。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096000" y="3581400"/>
            <a:ext cx="5842000" cy="1320800"/>
          </a:xfrm>
          <a:custGeom>
            <a:avLst/>
            <a:gdLst/>
            <a:ahLst/>
            <a:cxnLst/>
            <a:rect l="l" t="t" r="r" b="b"/>
            <a:pathLst>
              <a:path w="5842000" h="13208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219204"/>
                </a:lnTo>
                <a:cubicBezTo>
                  <a:pt x="5842000" y="1275314"/>
                  <a:pt x="5796514" y="1320800"/>
                  <a:pt x="57404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6299200" y="3784600"/>
            <a:ext cx="594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99200" y="4191000"/>
            <a:ext cx="543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“合理”并非技术最优，而是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系统成本最低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的选择。这为“适可而止”原则提供了历史注脚。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47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趋势洞察：形式退场，方法长存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082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磁悬浮取代滚动，共享出行淡化拥有，轮子或隐或显，但“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省力—快捷—适配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”的方法永续。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49316" y="3276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073116" y="419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省力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94016" y="35306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53100" y="3276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42555" y="51316"/>
                </a:moveTo>
                <a:cubicBezTo>
                  <a:pt x="428744" y="38100"/>
                  <a:pt x="408384" y="34409"/>
                  <a:pt x="390882" y="41910"/>
                </a:cubicBezTo>
                <a:cubicBezTo>
                  <a:pt x="373380" y="49411"/>
                  <a:pt x="361950" y="66675"/>
                  <a:pt x="361950" y="85725"/>
                </a:cubicBezTo>
                <a:lnTo>
                  <a:pt x="361950" y="248007"/>
                </a:lnTo>
                <a:lnTo>
                  <a:pt x="156805" y="51435"/>
                </a:lnTo>
                <a:cubicBezTo>
                  <a:pt x="142994" y="38100"/>
                  <a:pt x="122634" y="34409"/>
                  <a:pt x="105132" y="41910"/>
                </a:cubicBezTo>
                <a:cubicBezTo>
                  <a:pt x="87630" y="49411"/>
                  <a:pt x="76200" y="66675"/>
                  <a:pt x="76200" y="85725"/>
                </a:cubicBezTo>
                <a:lnTo>
                  <a:pt x="76200" y="523875"/>
                </a:lnTo>
                <a:cubicBezTo>
                  <a:pt x="76200" y="542925"/>
                  <a:pt x="87630" y="560189"/>
                  <a:pt x="105132" y="567690"/>
                </a:cubicBezTo>
                <a:cubicBezTo>
                  <a:pt x="122634" y="575191"/>
                  <a:pt x="142994" y="571500"/>
                  <a:pt x="156805" y="558284"/>
                </a:cubicBezTo>
                <a:lnTo>
                  <a:pt x="361950" y="361593"/>
                </a:lnTo>
                <a:lnTo>
                  <a:pt x="361950" y="523875"/>
                </a:lnTo>
                <a:cubicBezTo>
                  <a:pt x="361950" y="542925"/>
                  <a:pt x="373380" y="560189"/>
                  <a:pt x="390882" y="567690"/>
                </a:cubicBezTo>
                <a:cubicBezTo>
                  <a:pt x="408384" y="575191"/>
                  <a:pt x="428744" y="571500"/>
                  <a:pt x="442555" y="558284"/>
                </a:cubicBezTo>
                <a:lnTo>
                  <a:pt x="671155" y="339209"/>
                </a:lnTo>
                <a:cubicBezTo>
                  <a:pt x="680561" y="330279"/>
                  <a:pt x="685800" y="317778"/>
                  <a:pt x="685800" y="304800"/>
                </a:cubicBezTo>
                <a:cubicBezTo>
                  <a:pt x="685800" y="291822"/>
                  <a:pt x="680442" y="279440"/>
                  <a:pt x="671155" y="270391"/>
                </a:cubicBezTo>
                <a:lnTo>
                  <a:pt x="442555" y="51316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5638800" y="419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59700" y="35306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56884" y="327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405289" y="253246"/>
                </a:moveTo>
                <a:lnTo>
                  <a:pt x="310039" y="405646"/>
                </a:lnTo>
                <a:cubicBezTo>
                  <a:pt x="305038" y="413623"/>
                  <a:pt x="296466" y="418624"/>
                  <a:pt x="287060" y="419100"/>
                </a:cubicBezTo>
                <a:cubicBezTo>
                  <a:pt x="277654" y="419576"/>
                  <a:pt x="268605" y="415290"/>
                  <a:pt x="263009" y="407670"/>
                </a:cubicBezTo>
                <a:lnTo>
                  <a:pt x="205859" y="331470"/>
                </a:lnTo>
                <a:cubicBezTo>
                  <a:pt x="196334" y="318849"/>
                  <a:pt x="198953" y="300990"/>
                  <a:pt x="211574" y="291465"/>
                </a:cubicBezTo>
                <a:cubicBezTo>
                  <a:pt x="224195" y="281940"/>
                  <a:pt x="242054" y="284559"/>
                  <a:pt x="251579" y="297180"/>
                </a:cubicBezTo>
                <a:lnTo>
                  <a:pt x="283726" y="340043"/>
                </a:lnTo>
                <a:lnTo>
                  <a:pt x="356830" y="223004"/>
                </a:lnTo>
                <a:cubicBezTo>
                  <a:pt x="365165" y="209669"/>
                  <a:pt x="382786" y="205502"/>
                  <a:pt x="396240" y="213955"/>
                </a:cubicBezTo>
                <a:cubicBezTo>
                  <a:pt x="409694" y="222409"/>
                  <a:pt x="413742" y="239911"/>
                  <a:pt x="405289" y="25336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204484" y="419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" y="51054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未来设计需回归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需求本源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，警惕为高科技而高科技的资源代价。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升水器械：提水事中的造物智慧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177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事件切入：提水灌溉的千年命题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78100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稻作文明需将低水变高田，提水灌溉是跨越千年的持续性“事件”。研究聚焦于此，旨在理解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“事在物亡”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的设计逻辑。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873500"/>
            <a:ext cx="0" cy="106680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8000" y="38735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核心观点：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4330700"/>
            <a:ext cx="518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只要稻作结构不变，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“事”延续，“物”则随能量形态更替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。这为文化剖析奠定了问题意识。</a:t>
            </a:r>
            <a:endParaRPr lang="en-US" sz="1600" dirty="0"/>
          </a:p>
        </p:txBody>
      </p:sp>
      <p:pic>
        <p:nvPicPr>
          <p:cNvPr id="7" name="Image 0" descr="https://kimi-web-img.moonshot.cn/img/www.gov.cn/fcfe6f0b1d2fc1ac83c81f388eb259731c8adec7.jpg">    </p:cNvPr>
          <p:cNvPicPr>
            <a:picLocks noChangeAspect="1"/>
          </p:cNvPicPr>
          <p:nvPr/>
        </p:nvPicPr>
        <p:blipFill>
          <a:blip r:embed="rId1"/>
          <a:srcRect l="0" r="0" t="21487" b="21487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98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技术谱系：从人力到水能的跃迁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以王祯“人无灌溉之劳，田有常熟之利”为目标，升水器完成了三次能源革命。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09700" y="307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42900" y="38100"/>
                </a:moveTo>
                <a:cubicBezTo>
                  <a:pt x="342900" y="17026"/>
                  <a:pt x="325874" y="0"/>
                  <a:pt x="304800" y="0"/>
                </a:cubicBezTo>
                <a:cubicBezTo>
                  <a:pt x="283726" y="0"/>
                  <a:pt x="266700" y="17026"/>
                  <a:pt x="266700" y="38100"/>
                </a:cubicBezTo>
                <a:lnTo>
                  <a:pt x="266700" y="285750"/>
                </a:lnTo>
                <a:cubicBezTo>
                  <a:pt x="266700" y="296228"/>
                  <a:pt x="258128" y="304800"/>
                  <a:pt x="247650" y="304800"/>
                </a:cubicBezTo>
                <a:cubicBezTo>
                  <a:pt x="237173" y="304800"/>
                  <a:pt x="228600" y="296228"/>
                  <a:pt x="228600" y="285750"/>
                </a:cubicBezTo>
                <a:lnTo>
                  <a:pt x="228600" y="76200"/>
                </a:lnTo>
                <a:cubicBezTo>
                  <a:pt x="228600" y="55126"/>
                  <a:pt x="211574" y="38100"/>
                  <a:pt x="190500" y="38100"/>
                </a:cubicBezTo>
                <a:cubicBezTo>
                  <a:pt x="169426" y="38100"/>
                  <a:pt x="152400" y="55126"/>
                  <a:pt x="152400" y="76200"/>
                </a:cubicBezTo>
                <a:lnTo>
                  <a:pt x="152400" y="400050"/>
                </a:lnTo>
                <a:cubicBezTo>
                  <a:pt x="152400" y="401836"/>
                  <a:pt x="152400" y="403741"/>
                  <a:pt x="152519" y="405527"/>
                </a:cubicBezTo>
                <a:lnTo>
                  <a:pt x="80486" y="336947"/>
                </a:lnTo>
                <a:cubicBezTo>
                  <a:pt x="61436" y="318849"/>
                  <a:pt x="31313" y="319564"/>
                  <a:pt x="13097" y="338614"/>
                </a:cubicBezTo>
                <a:cubicBezTo>
                  <a:pt x="-5120" y="357664"/>
                  <a:pt x="-4286" y="387787"/>
                  <a:pt x="14764" y="406003"/>
                </a:cubicBezTo>
                <a:lnTo>
                  <a:pt x="148590" y="533400"/>
                </a:lnTo>
                <a:cubicBezTo>
                  <a:pt x="199906" y="582335"/>
                  <a:pt x="268129" y="609600"/>
                  <a:pt x="339090" y="609600"/>
                </a:cubicBezTo>
                <a:lnTo>
                  <a:pt x="361950" y="609600"/>
                </a:lnTo>
                <a:cubicBezTo>
                  <a:pt x="477679" y="609600"/>
                  <a:pt x="571500" y="515779"/>
                  <a:pt x="571500" y="400050"/>
                </a:cubicBezTo>
                <a:lnTo>
                  <a:pt x="571500" y="152400"/>
                </a:lnTo>
                <a:cubicBezTo>
                  <a:pt x="571500" y="131326"/>
                  <a:pt x="554474" y="114300"/>
                  <a:pt x="533400" y="114300"/>
                </a:cubicBezTo>
                <a:cubicBezTo>
                  <a:pt x="512326" y="114300"/>
                  <a:pt x="495300" y="131326"/>
                  <a:pt x="495300" y="152400"/>
                </a:cubicBezTo>
                <a:lnTo>
                  <a:pt x="495300" y="285750"/>
                </a:lnTo>
                <a:cubicBezTo>
                  <a:pt x="495300" y="296228"/>
                  <a:pt x="486728" y="304800"/>
                  <a:pt x="476250" y="304800"/>
                </a:cubicBezTo>
                <a:cubicBezTo>
                  <a:pt x="465773" y="304800"/>
                  <a:pt x="457200" y="296228"/>
                  <a:pt x="457200" y="285750"/>
                </a:cubicBezTo>
                <a:lnTo>
                  <a:pt x="457200" y="76200"/>
                </a:lnTo>
                <a:cubicBezTo>
                  <a:pt x="457200" y="55126"/>
                  <a:pt x="440174" y="38100"/>
                  <a:pt x="419100" y="38100"/>
                </a:cubicBezTo>
                <a:cubicBezTo>
                  <a:pt x="398026" y="38100"/>
                  <a:pt x="381000" y="55126"/>
                  <a:pt x="381000" y="76200"/>
                </a:cubicBezTo>
                <a:lnTo>
                  <a:pt x="381000" y="285750"/>
                </a:lnTo>
                <a:cubicBezTo>
                  <a:pt x="381000" y="296228"/>
                  <a:pt x="372428" y="304800"/>
                  <a:pt x="361950" y="304800"/>
                </a:cubicBezTo>
                <a:cubicBezTo>
                  <a:pt x="351472" y="304800"/>
                  <a:pt x="342900" y="296228"/>
                  <a:pt x="342900" y="285750"/>
                </a:cubicBezTo>
                <a:lnTo>
                  <a:pt x="342900" y="3810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4089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桔槔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4394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人力杠杆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75000" y="3683000"/>
            <a:ext cx="1460500" cy="50800"/>
          </a:xfrm>
          <a:custGeom>
            <a:avLst/>
            <a:gdLst/>
            <a:ahLst/>
            <a:cxnLst/>
            <a:rect l="l" t="t" r="r" b="b"/>
            <a:pathLst>
              <a:path w="1460500" h="50800">
                <a:moveTo>
                  <a:pt x="0" y="0"/>
                </a:moveTo>
                <a:lnTo>
                  <a:pt x="1460500" y="0"/>
                </a:lnTo>
                <a:lnTo>
                  <a:pt x="14605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62626"/>
              </a:gs>
              <a:gs pos="100000">
                <a:srgbClr val="8C8C8C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753100" y="30734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533400" y="283488"/>
                </a:moveTo>
                <a:lnTo>
                  <a:pt x="533400" y="190500"/>
                </a:lnTo>
                <a:lnTo>
                  <a:pt x="552450" y="190500"/>
                </a:lnTo>
                <a:lnTo>
                  <a:pt x="564118" y="213836"/>
                </a:lnTo>
                <a:cubicBezTo>
                  <a:pt x="579001" y="243721"/>
                  <a:pt x="614363" y="257175"/>
                  <a:pt x="645438" y="244793"/>
                </a:cubicBezTo>
                <a:cubicBezTo>
                  <a:pt x="669846" y="235029"/>
                  <a:pt x="685800" y="211455"/>
                  <a:pt x="685800" y="185142"/>
                </a:cubicBezTo>
                <a:lnTo>
                  <a:pt x="685800" y="95250"/>
                </a:lnTo>
                <a:cubicBezTo>
                  <a:pt x="685800" y="72509"/>
                  <a:pt x="675799" y="52030"/>
                  <a:pt x="659963" y="38100"/>
                </a:cubicBezTo>
                <a:lnTo>
                  <a:pt x="666750" y="38100"/>
                </a:lnTo>
                <a:cubicBezTo>
                  <a:pt x="677228" y="38100"/>
                  <a:pt x="685800" y="29527"/>
                  <a:pt x="685800" y="19050"/>
                </a:cubicBezTo>
                <a:cubicBezTo>
                  <a:pt x="685800" y="8573"/>
                  <a:pt x="677228" y="0"/>
                  <a:pt x="666750" y="0"/>
                </a:cubicBezTo>
                <a:lnTo>
                  <a:pt x="533400" y="0"/>
                </a:lnTo>
                <a:cubicBezTo>
                  <a:pt x="449223" y="0"/>
                  <a:pt x="381000" y="68223"/>
                  <a:pt x="381000" y="152400"/>
                </a:cubicBezTo>
                <a:lnTo>
                  <a:pt x="177165" y="152400"/>
                </a:lnTo>
                <a:cubicBezTo>
                  <a:pt x="140613" y="152400"/>
                  <a:pt x="108585" y="171807"/>
                  <a:pt x="90845" y="200978"/>
                </a:cubicBezTo>
                <a:cubicBezTo>
                  <a:pt x="39529" y="207764"/>
                  <a:pt x="0" y="251698"/>
                  <a:pt x="0" y="304800"/>
                </a:cubicBezTo>
                <a:lnTo>
                  <a:pt x="0" y="371475"/>
                </a:lnTo>
                <a:cubicBezTo>
                  <a:pt x="0" y="387310"/>
                  <a:pt x="12740" y="400050"/>
                  <a:pt x="28575" y="400050"/>
                </a:cubicBezTo>
                <a:cubicBezTo>
                  <a:pt x="44410" y="400050"/>
                  <a:pt x="57150" y="387310"/>
                  <a:pt x="57150" y="371475"/>
                </a:cubicBezTo>
                <a:lnTo>
                  <a:pt x="57150" y="304800"/>
                </a:lnTo>
                <a:cubicBezTo>
                  <a:pt x="57150" y="288846"/>
                  <a:pt x="65008" y="274796"/>
                  <a:pt x="77033" y="266105"/>
                </a:cubicBezTo>
                <a:cubicBezTo>
                  <a:pt x="78938" y="281583"/>
                  <a:pt x="84534" y="296347"/>
                  <a:pt x="93226" y="309443"/>
                </a:cubicBezTo>
                <a:lnTo>
                  <a:pt x="126802" y="359926"/>
                </a:lnTo>
                <a:cubicBezTo>
                  <a:pt x="136684" y="374690"/>
                  <a:pt x="134422" y="394097"/>
                  <a:pt x="125373" y="409456"/>
                </a:cubicBezTo>
                <a:cubicBezTo>
                  <a:pt x="105728" y="442793"/>
                  <a:pt x="100846" y="483513"/>
                  <a:pt x="113467" y="521256"/>
                </a:cubicBezTo>
                <a:lnTo>
                  <a:pt x="134303" y="583644"/>
                </a:lnTo>
                <a:cubicBezTo>
                  <a:pt x="139541" y="599242"/>
                  <a:pt x="154067" y="609719"/>
                  <a:pt x="170497" y="609719"/>
                </a:cubicBezTo>
                <a:lnTo>
                  <a:pt x="210622" y="609719"/>
                </a:lnTo>
                <a:cubicBezTo>
                  <a:pt x="236577" y="609719"/>
                  <a:pt x="255032" y="584240"/>
                  <a:pt x="246817" y="559594"/>
                </a:cubicBezTo>
                <a:lnTo>
                  <a:pt x="222052" y="485180"/>
                </a:lnTo>
                <a:cubicBezTo>
                  <a:pt x="219551" y="477560"/>
                  <a:pt x="221456" y="469225"/>
                  <a:pt x="227171" y="463510"/>
                </a:cubicBezTo>
                <a:lnTo>
                  <a:pt x="242292" y="448389"/>
                </a:lnTo>
                <a:cubicBezTo>
                  <a:pt x="258008" y="432673"/>
                  <a:pt x="266819" y="411361"/>
                  <a:pt x="266819" y="389215"/>
                </a:cubicBezTo>
                <a:cubicBezTo>
                  <a:pt x="266819" y="386477"/>
                  <a:pt x="266700" y="383738"/>
                  <a:pt x="266462" y="381000"/>
                </a:cubicBezTo>
                <a:lnTo>
                  <a:pt x="366474" y="409575"/>
                </a:lnTo>
                <a:cubicBezTo>
                  <a:pt x="371356" y="411004"/>
                  <a:pt x="376237" y="412075"/>
                  <a:pt x="381119" y="412909"/>
                </a:cubicBezTo>
                <a:lnTo>
                  <a:pt x="381000" y="571500"/>
                </a:lnTo>
                <a:cubicBezTo>
                  <a:pt x="381000" y="592574"/>
                  <a:pt x="398026" y="609600"/>
                  <a:pt x="419100" y="609600"/>
                </a:cubicBezTo>
                <a:lnTo>
                  <a:pt x="457200" y="609600"/>
                </a:lnTo>
                <a:cubicBezTo>
                  <a:pt x="478274" y="609600"/>
                  <a:pt x="495300" y="592574"/>
                  <a:pt x="495300" y="571500"/>
                </a:cubicBezTo>
                <a:lnTo>
                  <a:pt x="495300" y="375880"/>
                </a:lnTo>
                <a:cubicBezTo>
                  <a:pt x="518160" y="353020"/>
                  <a:pt x="532805" y="321469"/>
                  <a:pt x="533400" y="285750"/>
                </a:cubicBezTo>
                <a:lnTo>
                  <a:pt x="533400" y="285750"/>
                </a:lnTo>
                <a:lnTo>
                  <a:pt x="533400" y="283488"/>
                </a:lnTo>
                <a:close/>
                <a:moveTo>
                  <a:pt x="590550" y="76200"/>
                </a:moveTo>
                <a:cubicBezTo>
                  <a:pt x="601064" y="76200"/>
                  <a:pt x="609600" y="84736"/>
                  <a:pt x="609600" y="95250"/>
                </a:cubicBezTo>
                <a:cubicBezTo>
                  <a:pt x="609600" y="105764"/>
                  <a:pt x="601064" y="114300"/>
                  <a:pt x="590550" y="114300"/>
                </a:cubicBezTo>
                <a:cubicBezTo>
                  <a:pt x="580036" y="114300"/>
                  <a:pt x="571500" y="105764"/>
                  <a:pt x="571500" y="95250"/>
                </a:cubicBezTo>
                <a:cubicBezTo>
                  <a:pt x="571500" y="84736"/>
                  <a:pt x="580036" y="76200"/>
                  <a:pt x="590550" y="7620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5638800" y="4089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翻车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4394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畜力驱动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56500" y="3683000"/>
            <a:ext cx="1460500" cy="50800"/>
          </a:xfrm>
          <a:custGeom>
            <a:avLst/>
            <a:gdLst/>
            <a:ahLst/>
            <a:cxnLst/>
            <a:rect l="l" t="t" r="r" b="b"/>
            <a:pathLst>
              <a:path w="1460500" h="50800">
                <a:moveTo>
                  <a:pt x="0" y="0"/>
                </a:moveTo>
                <a:lnTo>
                  <a:pt x="1460500" y="0"/>
                </a:lnTo>
                <a:lnTo>
                  <a:pt x="14605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C8C8C"/>
              </a:gs>
              <a:gs pos="100000">
                <a:srgbClr val="FFFFFF"/>
              </a:gs>
            </a:gsLst>
            <a:lin ang="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10172700" y="307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88871" y="147757"/>
                </a:moveTo>
                <a:cubicBezTo>
                  <a:pt x="513517" y="166330"/>
                  <a:pt x="543639" y="184309"/>
                  <a:pt x="577215" y="188833"/>
                </a:cubicBezTo>
                <a:cubicBezTo>
                  <a:pt x="592812" y="190976"/>
                  <a:pt x="607219" y="179903"/>
                  <a:pt x="609362" y="164306"/>
                </a:cubicBezTo>
                <a:cubicBezTo>
                  <a:pt x="611505" y="148709"/>
                  <a:pt x="600432" y="134303"/>
                  <a:pt x="584835" y="132159"/>
                </a:cubicBezTo>
                <a:cubicBezTo>
                  <a:pt x="565904" y="129659"/>
                  <a:pt x="545306" y="118705"/>
                  <a:pt x="523280" y="102156"/>
                </a:cubicBezTo>
                <a:cubicBezTo>
                  <a:pt x="477560" y="67628"/>
                  <a:pt x="415528" y="67628"/>
                  <a:pt x="369689" y="102156"/>
                </a:cubicBezTo>
                <a:cubicBezTo>
                  <a:pt x="341114" y="123706"/>
                  <a:pt x="321231" y="133469"/>
                  <a:pt x="304800" y="133469"/>
                </a:cubicBezTo>
                <a:cubicBezTo>
                  <a:pt x="288369" y="133469"/>
                  <a:pt x="268486" y="123706"/>
                  <a:pt x="239911" y="102156"/>
                </a:cubicBezTo>
                <a:cubicBezTo>
                  <a:pt x="194191" y="67628"/>
                  <a:pt x="132159" y="67628"/>
                  <a:pt x="86320" y="102156"/>
                </a:cubicBezTo>
                <a:cubicBezTo>
                  <a:pt x="64294" y="118705"/>
                  <a:pt x="43696" y="129659"/>
                  <a:pt x="24765" y="132159"/>
                </a:cubicBezTo>
                <a:cubicBezTo>
                  <a:pt x="9168" y="134303"/>
                  <a:pt x="-1905" y="148590"/>
                  <a:pt x="238" y="164306"/>
                </a:cubicBezTo>
                <a:cubicBezTo>
                  <a:pt x="2381" y="180022"/>
                  <a:pt x="16669" y="190976"/>
                  <a:pt x="32385" y="188833"/>
                </a:cubicBezTo>
                <a:cubicBezTo>
                  <a:pt x="65961" y="184309"/>
                  <a:pt x="96203" y="166330"/>
                  <a:pt x="120729" y="147757"/>
                </a:cubicBezTo>
                <a:cubicBezTo>
                  <a:pt x="146090" y="128588"/>
                  <a:pt x="180142" y="128588"/>
                  <a:pt x="205502" y="147757"/>
                </a:cubicBezTo>
                <a:cubicBezTo>
                  <a:pt x="234315" y="169545"/>
                  <a:pt x="267772" y="190500"/>
                  <a:pt x="304800" y="190500"/>
                </a:cubicBezTo>
                <a:cubicBezTo>
                  <a:pt x="341828" y="190500"/>
                  <a:pt x="375166" y="169426"/>
                  <a:pt x="404098" y="147757"/>
                </a:cubicBezTo>
                <a:cubicBezTo>
                  <a:pt x="429458" y="128588"/>
                  <a:pt x="463510" y="128588"/>
                  <a:pt x="488871" y="147757"/>
                </a:cubicBezTo>
                <a:close/>
                <a:moveTo>
                  <a:pt x="488871" y="319207"/>
                </a:moveTo>
                <a:cubicBezTo>
                  <a:pt x="513517" y="337780"/>
                  <a:pt x="543639" y="355759"/>
                  <a:pt x="577215" y="360283"/>
                </a:cubicBezTo>
                <a:cubicBezTo>
                  <a:pt x="592812" y="362426"/>
                  <a:pt x="607219" y="351353"/>
                  <a:pt x="609362" y="335756"/>
                </a:cubicBezTo>
                <a:cubicBezTo>
                  <a:pt x="611505" y="320159"/>
                  <a:pt x="600432" y="305753"/>
                  <a:pt x="584835" y="303609"/>
                </a:cubicBezTo>
                <a:cubicBezTo>
                  <a:pt x="565904" y="301109"/>
                  <a:pt x="545306" y="290155"/>
                  <a:pt x="523280" y="273606"/>
                </a:cubicBezTo>
                <a:cubicBezTo>
                  <a:pt x="477560" y="239078"/>
                  <a:pt x="415528" y="239078"/>
                  <a:pt x="369689" y="273606"/>
                </a:cubicBezTo>
                <a:cubicBezTo>
                  <a:pt x="341114" y="295156"/>
                  <a:pt x="321231" y="304919"/>
                  <a:pt x="304800" y="304919"/>
                </a:cubicBezTo>
                <a:cubicBezTo>
                  <a:pt x="288369" y="304919"/>
                  <a:pt x="268486" y="295156"/>
                  <a:pt x="239911" y="273606"/>
                </a:cubicBezTo>
                <a:cubicBezTo>
                  <a:pt x="194191" y="239078"/>
                  <a:pt x="132159" y="239078"/>
                  <a:pt x="86320" y="273606"/>
                </a:cubicBezTo>
                <a:cubicBezTo>
                  <a:pt x="64294" y="290155"/>
                  <a:pt x="43696" y="301109"/>
                  <a:pt x="24765" y="303609"/>
                </a:cubicBezTo>
                <a:cubicBezTo>
                  <a:pt x="9168" y="305633"/>
                  <a:pt x="-1905" y="320040"/>
                  <a:pt x="238" y="335756"/>
                </a:cubicBezTo>
                <a:cubicBezTo>
                  <a:pt x="2381" y="351472"/>
                  <a:pt x="16669" y="362426"/>
                  <a:pt x="32385" y="360283"/>
                </a:cubicBezTo>
                <a:cubicBezTo>
                  <a:pt x="65961" y="355759"/>
                  <a:pt x="96203" y="337780"/>
                  <a:pt x="120729" y="319207"/>
                </a:cubicBezTo>
                <a:cubicBezTo>
                  <a:pt x="146090" y="300038"/>
                  <a:pt x="180142" y="300038"/>
                  <a:pt x="205502" y="319207"/>
                </a:cubicBezTo>
                <a:cubicBezTo>
                  <a:pt x="234315" y="340995"/>
                  <a:pt x="267772" y="361950"/>
                  <a:pt x="304800" y="361950"/>
                </a:cubicBezTo>
                <a:cubicBezTo>
                  <a:pt x="341828" y="361950"/>
                  <a:pt x="375166" y="340876"/>
                  <a:pt x="404098" y="319207"/>
                </a:cubicBezTo>
                <a:cubicBezTo>
                  <a:pt x="429458" y="300038"/>
                  <a:pt x="463510" y="300038"/>
                  <a:pt x="488871" y="319207"/>
                </a:cubicBezTo>
                <a:close/>
                <a:moveTo>
                  <a:pt x="404098" y="490657"/>
                </a:moveTo>
                <a:cubicBezTo>
                  <a:pt x="429458" y="471488"/>
                  <a:pt x="463510" y="471488"/>
                  <a:pt x="488871" y="490657"/>
                </a:cubicBezTo>
                <a:cubicBezTo>
                  <a:pt x="513517" y="509230"/>
                  <a:pt x="543639" y="527209"/>
                  <a:pt x="577215" y="531733"/>
                </a:cubicBezTo>
                <a:cubicBezTo>
                  <a:pt x="592812" y="533876"/>
                  <a:pt x="607219" y="522803"/>
                  <a:pt x="609362" y="507206"/>
                </a:cubicBezTo>
                <a:cubicBezTo>
                  <a:pt x="611505" y="491609"/>
                  <a:pt x="600432" y="477203"/>
                  <a:pt x="584835" y="475059"/>
                </a:cubicBezTo>
                <a:cubicBezTo>
                  <a:pt x="565904" y="472559"/>
                  <a:pt x="545306" y="461605"/>
                  <a:pt x="523280" y="445056"/>
                </a:cubicBezTo>
                <a:cubicBezTo>
                  <a:pt x="477560" y="410528"/>
                  <a:pt x="415528" y="410528"/>
                  <a:pt x="369689" y="445056"/>
                </a:cubicBezTo>
                <a:cubicBezTo>
                  <a:pt x="341114" y="466606"/>
                  <a:pt x="321231" y="476369"/>
                  <a:pt x="304800" y="476369"/>
                </a:cubicBezTo>
                <a:cubicBezTo>
                  <a:pt x="288369" y="476369"/>
                  <a:pt x="268486" y="466606"/>
                  <a:pt x="239911" y="445056"/>
                </a:cubicBezTo>
                <a:cubicBezTo>
                  <a:pt x="194191" y="410528"/>
                  <a:pt x="132159" y="410528"/>
                  <a:pt x="86320" y="445056"/>
                </a:cubicBezTo>
                <a:cubicBezTo>
                  <a:pt x="64294" y="461605"/>
                  <a:pt x="43696" y="472559"/>
                  <a:pt x="24765" y="475059"/>
                </a:cubicBezTo>
                <a:cubicBezTo>
                  <a:pt x="9168" y="477203"/>
                  <a:pt x="-1905" y="491490"/>
                  <a:pt x="238" y="507206"/>
                </a:cubicBezTo>
                <a:cubicBezTo>
                  <a:pt x="2381" y="522922"/>
                  <a:pt x="16669" y="533876"/>
                  <a:pt x="32385" y="531733"/>
                </a:cubicBezTo>
                <a:cubicBezTo>
                  <a:pt x="65961" y="527209"/>
                  <a:pt x="96203" y="509230"/>
                  <a:pt x="120729" y="490657"/>
                </a:cubicBezTo>
                <a:cubicBezTo>
                  <a:pt x="146090" y="471488"/>
                  <a:pt x="180142" y="471488"/>
                  <a:pt x="205502" y="490657"/>
                </a:cubicBezTo>
                <a:cubicBezTo>
                  <a:pt x="234315" y="512445"/>
                  <a:pt x="267772" y="533400"/>
                  <a:pt x="304800" y="533400"/>
                </a:cubicBezTo>
                <a:cubicBezTo>
                  <a:pt x="341828" y="533400"/>
                  <a:pt x="375166" y="512326"/>
                  <a:pt x="404098" y="4906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20300" y="4089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筒车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67900" y="4394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水能自转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00" y="50546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工役俱省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”始终是评价核心，体现了实用主义的造物价值观。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hikeimg.it168.com/0798919628c88b34a3de10f81d1f814491d48e23.jpg">    </p:cNvPr>
          <p:cNvPicPr>
            <a:picLocks noChangeAspect="1"/>
          </p:cNvPicPr>
          <p:nvPr/>
        </p:nvPicPr>
        <p:blipFill>
          <a:blip r:embed="rId1"/>
          <a:srcRect l="9570" r="9570" t="0" b="0"/>
          <a:stretch/>
        </p:blipFill>
        <p:spPr>
          <a:xfrm>
            <a:off x="254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35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文化思想：崇实黜虚与致用厚生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8956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明末实学批判空谈心学，主张“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百姓日用即道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”。升水器成为经世济民的典范，技术美学让位于社会伦理。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608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崇实黜虚：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鄙弃空谈，重视实践。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02400" y="43180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致用厚生：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为民造福，改善民生。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人本观：人为物本，物因人用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304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荀子“人能群故能胜物”被转化为设计准则，升水器始终围绕农人省力需求演化。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884964" y="29718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381744" y="11906"/>
                </a:moveTo>
                <a:cubicBezTo>
                  <a:pt x="480313" y="11906"/>
                  <a:pt x="560338" y="91931"/>
                  <a:pt x="560338" y="190500"/>
                </a:cubicBezTo>
                <a:cubicBezTo>
                  <a:pt x="560338" y="289069"/>
                  <a:pt x="480313" y="369094"/>
                  <a:pt x="381744" y="369094"/>
                </a:cubicBezTo>
                <a:cubicBezTo>
                  <a:pt x="283176" y="369094"/>
                  <a:pt x="203150" y="289069"/>
                  <a:pt x="203150" y="190500"/>
                </a:cubicBezTo>
                <a:cubicBezTo>
                  <a:pt x="203150" y="91931"/>
                  <a:pt x="283176" y="11906"/>
                  <a:pt x="381744" y="11906"/>
                </a:cubicBezTo>
                <a:close/>
                <a:moveTo>
                  <a:pt x="337393" y="452438"/>
                </a:moveTo>
                <a:lnTo>
                  <a:pt x="425797" y="452438"/>
                </a:lnTo>
                <a:lnTo>
                  <a:pt x="428030" y="452438"/>
                </a:lnTo>
                <a:cubicBezTo>
                  <a:pt x="408831" y="492323"/>
                  <a:pt x="416421" y="539055"/>
                  <a:pt x="445145" y="570756"/>
                </a:cubicBezTo>
                <a:cubicBezTo>
                  <a:pt x="415082" y="603945"/>
                  <a:pt x="408236" y="653802"/>
                  <a:pt x="431155" y="694879"/>
                </a:cubicBezTo>
                <a:lnTo>
                  <a:pt x="464641" y="755005"/>
                </a:lnTo>
                <a:cubicBezTo>
                  <a:pt x="465981" y="757386"/>
                  <a:pt x="467469" y="759768"/>
                  <a:pt x="468957" y="762000"/>
                </a:cubicBezTo>
                <a:lnTo>
                  <a:pt x="116235" y="762000"/>
                </a:lnTo>
                <a:cubicBezTo>
                  <a:pt x="91827" y="762000"/>
                  <a:pt x="72033" y="742206"/>
                  <a:pt x="72033" y="717798"/>
                </a:cubicBezTo>
                <a:cubicBezTo>
                  <a:pt x="72033" y="571202"/>
                  <a:pt x="190798" y="452437"/>
                  <a:pt x="337393" y="452437"/>
                </a:cubicBezTo>
                <a:close/>
                <a:moveTo>
                  <a:pt x="643830" y="368498"/>
                </a:moveTo>
                <a:cubicBezTo>
                  <a:pt x="643830" y="348704"/>
                  <a:pt x="659755" y="332780"/>
                  <a:pt x="679549" y="332780"/>
                </a:cubicBezTo>
                <a:lnTo>
                  <a:pt x="750987" y="332780"/>
                </a:lnTo>
                <a:cubicBezTo>
                  <a:pt x="770781" y="332780"/>
                  <a:pt x="786705" y="348704"/>
                  <a:pt x="786705" y="368498"/>
                </a:cubicBezTo>
                <a:lnTo>
                  <a:pt x="786705" y="377577"/>
                </a:lnTo>
                <a:cubicBezTo>
                  <a:pt x="786705" y="405705"/>
                  <a:pt x="822573" y="426393"/>
                  <a:pt x="846981" y="412403"/>
                </a:cubicBezTo>
                <a:lnTo>
                  <a:pt x="854422" y="408087"/>
                </a:lnTo>
                <a:cubicBezTo>
                  <a:pt x="871686" y="398115"/>
                  <a:pt x="893862" y="404217"/>
                  <a:pt x="903536" y="421630"/>
                </a:cubicBezTo>
                <a:lnTo>
                  <a:pt x="936873" y="481459"/>
                </a:lnTo>
                <a:cubicBezTo>
                  <a:pt x="946100" y="498128"/>
                  <a:pt x="940743" y="518964"/>
                  <a:pt x="924669" y="529084"/>
                </a:cubicBezTo>
                <a:lnTo>
                  <a:pt x="917674" y="533400"/>
                </a:lnTo>
                <a:cubicBezTo>
                  <a:pt x="893564" y="548432"/>
                  <a:pt x="893564" y="592782"/>
                  <a:pt x="917674" y="607963"/>
                </a:cubicBezTo>
                <a:lnTo>
                  <a:pt x="924520" y="612279"/>
                </a:lnTo>
                <a:cubicBezTo>
                  <a:pt x="940594" y="622399"/>
                  <a:pt x="946100" y="643235"/>
                  <a:pt x="936873" y="659904"/>
                </a:cubicBezTo>
                <a:lnTo>
                  <a:pt x="903387" y="720030"/>
                </a:lnTo>
                <a:cubicBezTo>
                  <a:pt x="893713" y="737443"/>
                  <a:pt x="871538" y="743694"/>
                  <a:pt x="854273" y="733574"/>
                </a:cubicBezTo>
                <a:lnTo>
                  <a:pt x="846981" y="729258"/>
                </a:lnTo>
                <a:cubicBezTo>
                  <a:pt x="822573" y="715119"/>
                  <a:pt x="786705" y="735955"/>
                  <a:pt x="786705" y="764084"/>
                </a:cubicBezTo>
                <a:lnTo>
                  <a:pt x="786705" y="773162"/>
                </a:lnTo>
                <a:cubicBezTo>
                  <a:pt x="786705" y="792956"/>
                  <a:pt x="770781" y="808881"/>
                  <a:pt x="750987" y="808881"/>
                </a:cubicBezTo>
                <a:lnTo>
                  <a:pt x="679549" y="808881"/>
                </a:lnTo>
                <a:cubicBezTo>
                  <a:pt x="659755" y="808881"/>
                  <a:pt x="643830" y="792956"/>
                  <a:pt x="643830" y="773162"/>
                </a:cubicBezTo>
                <a:lnTo>
                  <a:pt x="643830" y="764381"/>
                </a:lnTo>
                <a:cubicBezTo>
                  <a:pt x="643830" y="736104"/>
                  <a:pt x="607814" y="715268"/>
                  <a:pt x="583257" y="729407"/>
                </a:cubicBezTo>
                <a:lnTo>
                  <a:pt x="576114" y="733574"/>
                </a:lnTo>
                <a:cubicBezTo>
                  <a:pt x="558850" y="743545"/>
                  <a:pt x="536823" y="737443"/>
                  <a:pt x="527000" y="720030"/>
                </a:cubicBezTo>
                <a:lnTo>
                  <a:pt x="493365" y="659904"/>
                </a:lnTo>
                <a:cubicBezTo>
                  <a:pt x="484138" y="643235"/>
                  <a:pt x="489496" y="622250"/>
                  <a:pt x="505718" y="612130"/>
                </a:cubicBezTo>
                <a:lnTo>
                  <a:pt x="512266" y="608112"/>
                </a:lnTo>
                <a:cubicBezTo>
                  <a:pt x="536525" y="593080"/>
                  <a:pt x="536525" y="548432"/>
                  <a:pt x="512266" y="533400"/>
                </a:cubicBezTo>
                <a:lnTo>
                  <a:pt x="505569" y="529233"/>
                </a:lnTo>
                <a:cubicBezTo>
                  <a:pt x="489347" y="519113"/>
                  <a:pt x="483989" y="498128"/>
                  <a:pt x="493216" y="481459"/>
                </a:cubicBezTo>
                <a:lnTo>
                  <a:pt x="526703" y="421481"/>
                </a:lnTo>
                <a:cubicBezTo>
                  <a:pt x="536377" y="404068"/>
                  <a:pt x="558552" y="397966"/>
                  <a:pt x="575667" y="407938"/>
                </a:cubicBezTo>
                <a:lnTo>
                  <a:pt x="582811" y="412105"/>
                </a:lnTo>
                <a:cubicBezTo>
                  <a:pt x="607368" y="426244"/>
                  <a:pt x="643384" y="405408"/>
                  <a:pt x="643384" y="377130"/>
                </a:cubicBezTo>
                <a:lnTo>
                  <a:pt x="643384" y="368350"/>
                </a:lnTo>
                <a:close/>
                <a:moveTo>
                  <a:pt x="792510" y="571202"/>
                </a:moveTo>
                <a:cubicBezTo>
                  <a:pt x="792510" y="528489"/>
                  <a:pt x="757832" y="493812"/>
                  <a:pt x="715119" y="493812"/>
                </a:cubicBezTo>
                <a:cubicBezTo>
                  <a:pt x="672406" y="493812"/>
                  <a:pt x="637729" y="528489"/>
                  <a:pt x="637729" y="571202"/>
                </a:cubicBezTo>
                <a:cubicBezTo>
                  <a:pt x="637729" y="613915"/>
                  <a:pt x="672406" y="648593"/>
                  <a:pt x="715119" y="648593"/>
                </a:cubicBezTo>
                <a:cubicBezTo>
                  <a:pt x="757832" y="648593"/>
                  <a:pt x="792510" y="613915"/>
                  <a:pt x="792510" y="571202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650014" y="41656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人为物本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84914" y="45212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人是设计的目的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53100" y="3403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8354378" y="29718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618976" y="313283"/>
                </a:moveTo>
                <a:cubicBezTo>
                  <a:pt x="637133" y="308372"/>
                  <a:pt x="656183" y="317004"/>
                  <a:pt x="664369" y="333821"/>
                </a:cubicBezTo>
                <a:lnTo>
                  <a:pt x="692051" y="389781"/>
                </a:lnTo>
                <a:cubicBezTo>
                  <a:pt x="707380" y="391864"/>
                  <a:pt x="722412" y="396032"/>
                  <a:pt x="736550" y="401836"/>
                </a:cubicBezTo>
                <a:lnTo>
                  <a:pt x="788640" y="367159"/>
                </a:lnTo>
                <a:cubicBezTo>
                  <a:pt x="804267" y="356741"/>
                  <a:pt x="824954" y="358825"/>
                  <a:pt x="838200" y="372070"/>
                </a:cubicBezTo>
                <a:lnTo>
                  <a:pt x="866775" y="400645"/>
                </a:lnTo>
                <a:cubicBezTo>
                  <a:pt x="880021" y="413891"/>
                  <a:pt x="882104" y="434727"/>
                  <a:pt x="871686" y="450205"/>
                </a:cubicBezTo>
                <a:lnTo>
                  <a:pt x="837009" y="502146"/>
                </a:lnTo>
                <a:cubicBezTo>
                  <a:pt x="839837" y="509141"/>
                  <a:pt x="842367" y="516434"/>
                  <a:pt x="844451" y="524024"/>
                </a:cubicBezTo>
                <a:cubicBezTo>
                  <a:pt x="846534" y="531614"/>
                  <a:pt x="847874" y="539055"/>
                  <a:pt x="848916" y="546646"/>
                </a:cubicBezTo>
                <a:lnTo>
                  <a:pt x="905024" y="574328"/>
                </a:lnTo>
                <a:cubicBezTo>
                  <a:pt x="921841" y="582662"/>
                  <a:pt x="930473" y="601712"/>
                  <a:pt x="925562" y="619720"/>
                </a:cubicBezTo>
                <a:lnTo>
                  <a:pt x="915144" y="658713"/>
                </a:lnTo>
                <a:cubicBezTo>
                  <a:pt x="910233" y="676721"/>
                  <a:pt x="893415" y="688925"/>
                  <a:pt x="874663" y="687735"/>
                </a:cubicBezTo>
                <a:lnTo>
                  <a:pt x="812155" y="683716"/>
                </a:lnTo>
                <a:cubicBezTo>
                  <a:pt x="802779" y="695771"/>
                  <a:pt x="791914" y="706934"/>
                  <a:pt x="779562" y="716459"/>
                </a:cubicBezTo>
                <a:lnTo>
                  <a:pt x="783580" y="778818"/>
                </a:lnTo>
                <a:cubicBezTo>
                  <a:pt x="784771" y="797570"/>
                  <a:pt x="772567" y="814536"/>
                  <a:pt x="754559" y="819299"/>
                </a:cubicBezTo>
                <a:lnTo>
                  <a:pt x="715566" y="829717"/>
                </a:lnTo>
                <a:cubicBezTo>
                  <a:pt x="697409" y="834628"/>
                  <a:pt x="678507" y="825996"/>
                  <a:pt x="670173" y="809179"/>
                </a:cubicBezTo>
                <a:lnTo>
                  <a:pt x="642491" y="753219"/>
                </a:lnTo>
                <a:cubicBezTo>
                  <a:pt x="627162" y="751136"/>
                  <a:pt x="612130" y="746968"/>
                  <a:pt x="597991" y="741164"/>
                </a:cubicBezTo>
                <a:lnTo>
                  <a:pt x="545902" y="775841"/>
                </a:lnTo>
                <a:cubicBezTo>
                  <a:pt x="530275" y="786259"/>
                  <a:pt x="509588" y="784175"/>
                  <a:pt x="496342" y="770930"/>
                </a:cubicBezTo>
                <a:lnTo>
                  <a:pt x="467767" y="742355"/>
                </a:lnTo>
                <a:cubicBezTo>
                  <a:pt x="454521" y="729109"/>
                  <a:pt x="452438" y="708422"/>
                  <a:pt x="462855" y="692795"/>
                </a:cubicBezTo>
                <a:lnTo>
                  <a:pt x="497532" y="640705"/>
                </a:lnTo>
                <a:cubicBezTo>
                  <a:pt x="494705" y="633710"/>
                  <a:pt x="492175" y="626418"/>
                  <a:pt x="490091" y="618827"/>
                </a:cubicBezTo>
                <a:cubicBezTo>
                  <a:pt x="488007" y="611237"/>
                  <a:pt x="486668" y="603647"/>
                  <a:pt x="485626" y="596205"/>
                </a:cubicBezTo>
                <a:lnTo>
                  <a:pt x="429518" y="568523"/>
                </a:lnTo>
                <a:cubicBezTo>
                  <a:pt x="412700" y="560189"/>
                  <a:pt x="404217" y="541139"/>
                  <a:pt x="408980" y="523131"/>
                </a:cubicBezTo>
                <a:lnTo>
                  <a:pt x="419398" y="484138"/>
                </a:lnTo>
                <a:cubicBezTo>
                  <a:pt x="424309" y="466130"/>
                  <a:pt x="441127" y="453926"/>
                  <a:pt x="459879" y="455116"/>
                </a:cubicBezTo>
                <a:lnTo>
                  <a:pt x="522238" y="459135"/>
                </a:lnTo>
                <a:cubicBezTo>
                  <a:pt x="531614" y="447080"/>
                  <a:pt x="542479" y="435918"/>
                  <a:pt x="554831" y="426393"/>
                </a:cubicBezTo>
                <a:lnTo>
                  <a:pt x="550813" y="364182"/>
                </a:lnTo>
                <a:cubicBezTo>
                  <a:pt x="549622" y="345430"/>
                  <a:pt x="561826" y="328464"/>
                  <a:pt x="579834" y="323701"/>
                </a:cubicBezTo>
                <a:lnTo>
                  <a:pt x="618827" y="313283"/>
                </a:lnTo>
                <a:close/>
                <a:moveTo>
                  <a:pt x="667345" y="506016"/>
                </a:moveTo>
                <a:cubicBezTo>
                  <a:pt x="631204" y="506057"/>
                  <a:pt x="601894" y="535433"/>
                  <a:pt x="601935" y="571574"/>
                </a:cubicBezTo>
                <a:cubicBezTo>
                  <a:pt x="601976" y="607716"/>
                  <a:pt x="631352" y="637025"/>
                  <a:pt x="667494" y="636984"/>
                </a:cubicBezTo>
                <a:cubicBezTo>
                  <a:pt x="703636" y="636943"/>
                  <a:pt x="732945" y="607567"/>
                  <a:pt x="732904" y="571426"/>
                </a:cubicBezTo>
                <a:cubicBezTo>
                  <a:pt x="732863" y="535284"/>
                  <a:pt x="703487" y="505975"/>
                  <a:pt x="667345" y="506016"/>
                </a:cubicBezTo>
                <a:close/>
                <a:moveTo>
                  <a:pt x="334714" y="-67717"/>
                </a:moveTo>
                <a:lnTo>
                  <a:pt x="373707" y="-57299"/>
                </a:lnTo>
                <a:cubicBezTo>
                  <a:pt x="391716" y="-52388"/>
                  <a:pt x="403920" y="-35421"/>
                  <a:pt x="402729" y="-16818"/>
                </a:cubicBezTo>
                <a:lnTo>
                  <a:pt x="398711" y="45393"/>
                </a:lnTo>
                <a:cubicBezTo>
                  <a:pt x="411063" y="54918"/>
                  <a:pt x="421928" y="65931"/>
                  <a:pt x="431304" y="78135"/>
                </a:cubicBezTo>
                <a:lnTo>
                  <a:pt x="493812" y="74116"/>
                </a:lnTo>
                <a:cubicBezTo>
                  <a:pt x="512415" y="72926"/>
                  <a:pt x="529382" y="85130"/>
                  <a:pt x="534293" y="103138"/>
                </a:cubicBezTo>
                <a:lnTo>
                  <a:pt x="544711" y="142131"/>
                </a:lnTo>
                <a:cubicBezTo>
                  <a:pt x="549473" y="160139"/>
                  <a:pt x="540990" y="179189"/>
                  <a:pt x="524173" y="187523"/>
                </a:cubicBezTo>
                <a:lnTo>
                  <a:pt x="468064" y="215205"/>
                </a:lnTo>
                <a:cubicBezTo>
                  <a:pt x="467023" y="222796"/>
                  <a:pt x="465534" y="230386"/>
                  <a:pt x="463600" y="237827"/>
                </a:cubicBezTo>
                <a:cubicBezTo>
                  <a:pt x="461665" y="245269"/>
                  <a:pt x="458986" y="252710"/>
                  <a:pt x="456158" y="259705"/>
                </a:cubicBezTo>
                <a:lnTo>
                  <a:pt x="490835" y="311795"/>
                </a:lnTo>
                <a:cubicBezTo>
                  <a:pt x="501253" y="327422"/>
                  <a:pt x="499170" y="348109"/>
                  <a:pt x="485924" y="361355"/>
                </a:cubicBezTo>
                <a:lnTo>
                  <a:pt x="457349" y="389930"/>
                </a:lnTo>
                <a:cubicBezTo>
                  <a:pt x="444103" y="403175"/>
                  <a:pt x="423416" y="405259"/>
                  <a:pt x="407789" y="394841"/>
                </a:cubicBezTo>
                <a:lnTo>
                  <a:pt x="355699" y="360164"/>
                </a:lnTo>
                <a:cubicBezTo>
                  <a:pt x="341561" y="365968"/>
                  <a:pt x="326529" y="370136"/>
                  <a:pt x="311200" y="372219"/>
                </a:cubicBezTo>
                <a:lnTo>
                  <a:pt x="283518" y="428179"/>
                </a:lnTo>
                <a:cubicBezTo>
                  <a:pt x="275183" y="444996"/>
                  <a:pt x="256133" y="453479"/>
                  <a:pt x="238125" y="448717"/>
                </a:cubicBezTo>
                <a:lnTo>
                  <a:pt x="199132" y="438299"/>
                </a:lnTo>
                <a:cubicBezTo>
                  <a:pt x="180975" y="433388"/>
                  <a:pt x="168920" y="416421"/>
                  <a:pt x="170111" y="397818"/>
                </a:cubicBezTo>
                <a:lnTo>
                  <a:pt x="174129" y="335459"/>
                </a:lnTo>
                <a:cubicBezTo>
                  <a:pt x="161776" y="325934"/>
                  <a:pt x="150912" y="314920"/>
                  <a:pt x="141536" y="302716"/>
                </a:cubicBezTo>
                <a:lnTo>
                  <a:pt x="79028" y="306735"/>
                </a:lnTo>
                <a:cubicBezTo>
                  <a:pt x="60424" y="307925"/>
                  <a:pt x="43458" y="295721"/>
                  <a:pt x="38546" y="277713"/>
                </a:cubicBezTo>
                <a:lnTo>
                  <a:pt x="28129" y="238720"/>
                </a:lnTo>
                <a:cubicBezTo>
                  <a:pt x="23366" y="220712"/>
                  <a:pt x="31849" y="201662"/>
                  <a:pt x="48667" y="193328"/>
                </a:cubicBezTo>
                <a:lnTo>
                  <a:pt x="104775" y="165646"/>
                </a:lnTo>
                <a:cubicBezTo>
                  <a:pt x="105817" y="158055"/>
                  <a:pt x="107305" y="150614"/>
                  <a:pt x="109240" y="143024"/>
                </a:cubicBezTo>
                <a:cubicBezTo>
                  <a:pt x="111323" y="135434"/>
                  <a:pt x="113705" y="128141"/>
                  <a:pt x="116681" y="121146"/>
                </a:cubicBezTo>
                <a:lnTo>
                  <a:pt x="82004" y="69205"/>
                </a:lnTo>
                <a:cubicBezTo>
                  <a:pt x="71586" y="53578"/>
                  <a:pt x="73670" y="32891"/>
                  <a:pt x="86916" y="19645"/>
                </a:cubicBezTo>
                <a:lnTo>
                  <a:pt x="115491" y="-8930"/>
                </a:lnTo>
                <a:cubicBezTo>
                  <a:pt x="128736" y="-22175"/>
                  <a:pt x="149423" y="-24259"/>
                  <a:pt x="165050" y="-13841"/>
                </a:cubicBezTo>
                <a:lnTo>
                  <a:pt x="217140" y="20836"/>
                </a:lnTo>
                <a:cubicBezTo>
                  <a:pt x="231279" y="15032"/>
                  <a:pt x="246311" y="10864"/>
                  <a:pt x="261640" y="8781"/>
                </a:cubicBezTo>
                <a:lnTo>
                  <a:pt x="289322" y="-47179"/>
                </a:lnTo>
                <a:cubicBezTo>
                  <a:pt x="297656" y="-63996"/>
                  <a:pt x="316557" y="-72479"/>
                  <a:pt x="334714" y="-67717"/>
                </a:cubicBezTo>
                <a:close/>
                <a:moveTo>
                  <a:pt x="286345" y="125016"/>
                </a:moveTo>
                <a:cubicBezTo>
                  <a:pt x="250204" y="125016"/>
                  <a:pt x="220861" y="154358"/>
                  <a:pt x="220861" y="190500"/>
                </a:cubicBezTo>
                <a:cubicBezTo>
                  <a:pt x="220861" y="226642"/>
                  <a:pt x="250204" y="255984"/>
                  <a:pt x="286345" y="255984"/>
                </a:cubicBezTo>
                <a:cubicBezTo>
                  <a:pt x="322487" y="255984"/>
                  <a:pt x="351830" y="226642"/>
                  <a:pt x="351830" y="190500"/>
                </a:cubicBezTo>
                <a:cubicBezTo>
                  <a:pt x="351830" y="154358"/>
                  <a:pt x="322487" y="125016"/>
                  <a:pt x="286345" y="125016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8119428" y="41656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物因人用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2128" y="45212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器物是手段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4000" y="51816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假物役机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”是让水力替人出汗，设计尺度在于人的可持续劳作。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05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在地策略：随地所宜与观物取辨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654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桔槔适浅井，翻车临深河，筒车倚急溪。地域差异决定技术选择，体现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顺应自然、因势利导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的思维。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530600"/>
            <a:ext cx="5435600" cy="1422400"/>
          </a:xfrm>
          <a:custGeom>
            <a:avLst/>
            <a:gdLst/>
            <a:ahLst/>
            <a:cxnLst/>
            <a:rect l="l" t="t" r="r" b="b"/>
            <a:pathLst>
              <a:path w="5435600" h="14224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1320798"/>
                </a:lnTo>
                <a:cubicBezTo>
                  <a:pt x="5435600" y="1376911"/>
                  <a:pt x="5390111" y="1422400"/>
                  <a:pt x="53339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733800"/>
            <a:ext cx="553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方法论意义：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40200"/>
            <a:ext cx="502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设计非强加方案，而是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发现环境允许的最佳解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，为当代地域适配设计提供方法。</a:t>
            </a:r>
            <a:endParaRPr lang="en-US" sz="1600" dirty="0"/>
          </a:p>
        </p:txBody>
      </p:sp>
      <p:pic>
        <p:nvPicPr>
          <p:cNvPr id="7" name="Image 0" descr="https://kimi-web-img.moonshot.cn/img/www.gov.cn/fcfe6f0b1d2fc1ac83c81f388eb259731c8adec7.jpg">    </p:cNvPr>
          <p:cNvPicPr>
            <a:picLocks noChangeAspect="1"/>
          </p:cNvPicPr>
          <p:nvPr/>
        </p:nvPicPr>
        <p:blipFill>
          <a:blip r:embed="rId1"/>
          <a:srcRect l="0" r="0" t="21487" b="21487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8353778" y="8164958"/>
            <a:ext cx="5375661" cy="264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22679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技术美学：器完不饰与素朴质真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681479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水车无纹样却受诗人赞颂，美在于“能移霖雨功”的实用之美。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164" y="2392679"/>
            <a:ext cx="4635500" cy="2590800"/>
          </a:xfrm>
          <a:custGeom>
            <a:avLst/>
            <a:gdLst/>
            <a:ahLst/>
            <a:cxnLst/>
            <a:rect l="l" t="t" r="r" b="b"/>
            <a:pathLst>
              <a:path w="4635500" h="2590800">
                <a:moveTo>
                  <a:pt x="101611" y="0"/>
                </a:moveTo>
                <a:lnTo>
                  <a:pt x="4533889" y="0"/>
                </a:lnTo>
                <a:cubicBezTo>
                  <a:pt x="4590007" y="0"/>
                  <a:pt x="4635500" y="45493"/>
                  <a:pt x="4635500" y="101611"/>
                </a:cubicBezTo>
                <a:lnTo>
                  <a:pt x="4635500" y="2489189"/>
                </a:lnTo>
                <a:cubicBezTo>
                  <a:pt x="4635500" y="2545307"/>
                  <a:pt x="4590007" y="2590800"/>
                  <a:pt x="45338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17684" y="2616200"/>
            <a:ext cx="473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装饰之美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7684" y="3073400"/>
            <a:ext cx="473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工艺美术的“肌肤”装饰</a:t>
            </a:r>
            <a:endParaRPr lang="en-US" sz="1600" dirty="0"/>
          </a:p>
        </p:txBody>
      </p:sp>
      <p:pic>
        <p:nvPicPr>
          <p:cNvPr id="7" name="Image 0" descr="https://kimi-web-img.moonshot.cn/img/upload.wikimedia.org/bfaba2173af8f3aadcdb94f8632df6d8a619ec11.JPG">    </p:cNvPr>
          <p:cNvPicPr>
            <a:picLocks noChangeAspect="1"/>
          </p:cNvPicPr>
          <p:nvPr/>
        </p:nvPicPr>
        <p:blipFill>
          <a:blip r:embed="rId1"/>
          <a:srcRect l="0" r="0" t="35787" b="35787"/>
          <a:stretch/>
        </p:blipFill>
        <p:spPr>
          <a:xfrm>
            <a:off x="771684" y="3581400"/>
            <a:ext cx="4229100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895816" y="3474721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38078" y="73045"/>
                </a:moveTo>
                <a:cubicBezTo>
                  <a:pt x="346829" y="59918"/>
                  <a:pt x="343257" y="42148"/>
                  <a:pt x="330131" y="33397"/>
                </a:cubicBezTo>
                <a:cubicBezTo>
                  <a:pt x="317004" y="24646"/>
                  <a:pt x="299234" y="28218"/>
                  <a:pt x="290483" y="41344"/>
                </a:cubicBezTo>
                <a:lnTo>
                  <a:pt x="241905" y="114300"/>
                </a:lnTo>
                <a:lnTo>
                  <a:pt x="28575" y="114300"/>
                </a:lnTo>
                <a:cubicBezTo>
                  <a:pt x="12769" y="114300"/>
                  <a:pt x="0" y="127069"/>
                  <a:pt x="0" y="142875"/>
                </a:cubicBezTo>
                <a:cubicBezTo>
                  <a:pt x="0" y="158681"/>
                  <a:pt x="12769" y="171450"/>
                  <a:pt x="28575" y="171450"/>
                </a:cubicBezTo>
                <a:lnTo>
                  <a:pt x="203775" y="171450"/>
                </a:lnTo>
                <a:lnTo>
                  <a:pt x="127605" y="285750"/>
                </a:lnTo>
                <a:lnTo>
                  <a:pt x="28575" y="285750"/>
                </a:lnTo>
                <a:cubicBezTo>
                  <a:pt x="12769" y="285750"/>
                  <a:pt x="0" y="298519"/>
                  <a:pt x="0" y="314325"/>
                </a:cubicBezTo>
                <a:cubicBezTo>
                  <a:pt x="0" y="330131"/>
                  <a:pt x="12769" y="342900"/>
                  <a:pt x="28575" y="342900"/>
                </a:cubicBezTo>
                <a:lnTo>
                  <a:pt x="89475" y="342900"/>
                </a:lnTo>
                <a:lnTo>
                  <a:pt x="61972" y="384155"/>
                </a:lnTo>
                <a:cubicBezTo>
                  <a:pt x="53221" y="397282"/>
                  <a:pt x="56793" y="415052"/>
                  <a:pt x="69919" y="423803"/>
                </a:cubicBezTo>
                <a:cubicBezTo>
                  <a:pt x="83046" y="432554"/>
                  <a:pt x="100816" y="428982"/>
                  <a:pt x="109567" y="415856"/>
                </a:cubicBezTo>
                <a:lnTo>
                  <a:pt x="158145" y="342900"/>
                </a:lnTo>
                <a:lnTo>
                  <a:pt x="371475" y="342900"/>
                </a:lnTo>
                <a:cubicBezTo>
                  <a:pt x="387281" y="342900"/>
                  <a:pt x="400050" y="330131"/>
                  <a:pt x="400050" y="314325"/>
                </a:cubicBezTo>
                <a:cubicBezTo>
                  <a:pt x="400050" y="298519"/>
                  <a:pt x="387281" y="285750"/>
                  <a:pt x="371475" y="285750"/>
                </a:cubicBezTo>
                <a:lnTo>
                  <a:pt x="196275" y="285750"/>
                </a:lnTo>
                <a:lnTo>
                  <a:pt x="272445" y="171450"/>
                </a:lnTo>
                <a:lnTo>
                  <a:pt x="371475" y="171450"/>
                </a:lnTo>
                <a:cubicBezTo>
                  <a:pt x="387281" y="171450"/>
                  <a:pt x="400050" y="158681"/>
                  <a:pt x="400050" y="142875"/>
                </a:cubicBezTo>
                <a:cubicBezTo>
                  <a:pt x="400050" y="127069"/>
                  <a:pt x="387281" y="114300"/>
                  <a:pt x="371475" y="114300"/>
                </a:cubicBezTo>
                <a:lnTo>
                  <a:pt x="310575" y="114300"/>
                </a:lnTo>
                <a:lnTo>
                  <a:pt x="338078" y="7304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Shape 6"/>
          <p:cNvSpPr/>
          <p:nvPr/>
        </p:nvSpPr>
        <p:spPr>
          <a:xfrm>
            <a:off x="6969919" y="2392679"/>
            <a:ext cx="4635500" cy="2590800"/>
          </a:xfrm>
          <a:custGeom>
            <a:avLst/>
            <a:gdLst/>
            <a:ahLst/>
            <a:cxnLst/>
            <a:rect l="l" t="t" r="r" b="b"/>
            <a:pathLst>
              <a:path w="4635500" h="2590800">
                <a:moveTo>
                  <a:pt x="101611" y="0"/>
                </a:moveTo>
                <a:lnTo>
                  <a:pt x="4533889" y="0"/>
                </a:lnTo>
                <a:cubicBezTo>
                  <a:pt x="4590007" y="0"/>
                  <a:pt x="4635500" y="45493"/>
                  <a:pt x="4635500" y="101611"/>
                </a:cubicBezTo>
                <a:lnTo>
                  <a:pt x="4635500" y="2489189"/>
                </a:lnTo>
                <a:cubicBezTo>
                  <a:pt x="4635500" y="2545307"/>
                  <a:pt x="4590007" y="2590800"/>
                  <a:pt x="45338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62626">
              <a:alpha val="5098"/>
            </a:srgbClr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9439" y="2616200"/>
            <a:ext cx="473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功能之美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39439" y="3073400"/>
            <a:ext cx="473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“器完不饰”的素朴质真</a:t>
            </a:r>
            <a:endParaRPr lang="en-US" sz="1600" dirty="0"/>
          </a:p>
        </p:txBody>
      </p:sp>
      <p:pic>
        <p:nvPicPr>
          <p:cNvPr id="12" name="Image 1" descr="https://kimi-web-img.moonshot.cn/img/www.gov.cn/fcfe6f0b1d2fc1ac83c81f388eb259731c8adec7.jpg">    </p:cNvPr>
          <p:cNvPicPr>
            <a:picLocks noChangeAspect="1"/>
          </p:cNvPicPr>
          <p:nvPr/>
        </p:nvPicPr>
        <p:blipFill>
          <a:blip r:embed="rId2"/>
          <a:srcRect l="0" r="0" t="38184" b="38184"/>
          <a:stretch/>
        </p:blipFill>
        <p:spPr>
          <a:xfrm>
            <a:off x="7193439" y="3581400"/>
            <a:ext cx="4229100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13" name="Text 9"/>
          <p:cNvSpPr/>
          <p:nvPr/>
        </p:nvSpPr>
        <p:spPr>
          <a:xfrm>
            <a:off x="254000" y="5430521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质真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”指向耐用与真实，材料与结构本身即审美对象。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金属礼器：权力符号的生成逻辑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01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金属礼器：权力符号的生成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606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钟与钺的演进，是技术复杂度服务于政治需求的典型过程。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8200" y="2971800"/>
            <a:ext cx="4673600" cy="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41400" y="3225800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钟：礼乐制度的声音物化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3733645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一钟双音，数量与悬挂严格对应身份，技术服务于“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辨等明威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80200" y="2971800"/>
            <a:ext cx="4673600" cy="0"/>
          </a:xfrm>
          <a:prstGeom prst="line">
            <a:avLst/>
          </a:prstGeom>
          <a:noFill/>
          <a:ln w="50800">
            <a:solidFill>
              <a:srgbClr val="8C8C8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883400" y="3225800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钺：从工具到王权符号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83400" y="3733645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形态轻量化与功能象征化同步，材质由石到玉，价值指向从劳动转向神圣。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000" y="4851245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设计可主动制造社会分层，为理解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符号消费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提供历史原型。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o1.360tres.com/cd72c27338c4ef920b61c9745022ebaac8169ed3.jpg">    </p:cNvPr>
          <p:cNvPicPr>
            <a:picLocks noChangeAspect="1"/>
          </p:cNvPicPr>
          <p:nvPr/>
        </p:nvPicPr>
        <p:blipFill>
          <a:blip r:embed="rId1"/>
          <a:srcRect l="0" r="0" t="25938" b="25938"/>
          <a:stretch/>
        </p:blipFill>
        <p:spPr>
          <a:xfrm>
            <a:off x="254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108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共存现象：多元功能的并行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7686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商周中原用青铜钺示王权，云南边地仍以铜钺为生产工具。同一技术形态在不同社会语境中承担相异功能。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02400" y="3733800"/>
            <a:ext cx="0" cy="101600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6756400" y="3733800"/>
            <a:ext cx="568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启示：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56400" y="4140200"/>
            <a:ext cx="518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设计史需警惕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单线进化叙事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，重视空间差异与功能分层，为当代多元市场提供参照。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39242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五维框架：传统造物的系统语言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98042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古人将造物视为天、地、人、物、工五要素耦合的结果，对应时、利、和、宜、巧五原则。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809242"/>
            <a:ext cx="2171700" cy="1803400"/>
          </a:xfrm>
          <a:custGeom>
            <a:avLst/>
            <a:gdLst/>
            <a:ahLst/>
            <a:cxnLst/>
            <a:rect l="l" t="t" r="r" b="b"/>
            <a:pathLst>
              <a:path w="2171700" h="1803400">
                <a:moveTo>
                  <a:pt x="101604" y="0"/>
                </a:moveTo>
                <a:lnTo>
                  <a:pt x="2070096" y="0"/>
                </a:lnTo>
                <a:cubicBezTo>
                  <a:pt x="2126211" y="0"/>
                  <a:pt x="2171700" y="45489"/>
                  <a:pt x="2171700" y="101604"/>
                </a:cubicBezTo>
                <a:lnTo>
                  <a:pt x="2171700" y="1701796"/>
                </a:lnTo>
                <a:cubicBezTo>
                  <a:pt x="2171700" y="1757911"/>
                  <a:pt x="2126211" y="1803400"/>
                  <a:pt x="20700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3945" y="3139442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05051" y="-13216"/>
                </a:moveTo>
                <a:cubicBezTo>
                  <a:pt x="409426" y="-11430"/>
                  <a:pt x="412641" y="-7501"/>
                  <a:pt x="413534" y="-2858"/>
                </a:cubicBezTo>
                <a:lnTo>
                  <a:pt x="428625" y="71438"/>
                </a:lnTo>
                <a:lnTo>
                  <a:pt x="502920" y="86439"/>
                </a:lnTo>
                <a:cubicBezTo>
                  <a:pt x="507563" y="87422"/>
                  <a:pt x="511403" y="90547"/>
                  <a:pt x="513278" y="94923"/>
                </a:cubicBezTo>
                <a:cubicBezTo>
                  <a:pt x="515154" y="99298"/>
                  <a:pt x="514618" y="104299"/>
                  <a:pt x="512028" y="108228"/>
                </a:cubicBezTo>
                <a:lnTo>
                  <a:pt x="470148" y="171361"/>
                </a:lnTo>
                <a:lnTo>
                  <a:pt x="512028" y="234494"/>
                </a:lnTo>
                <a:cubicBezTo>
                  <a:pt x="514618" y="238423"/>
                  <a:pt x="515154" y="243423"/>
                  <a:pt x="513278" y="247799"/>
                </a:cubicBezTo>
                <a:cubicBezTo>
                  <a:pt x="511403" y="252174"/>
                  <a:pt x="507563" y="255389"/>
                  <a:pt x="502920" y="256282"/>
                </a:cubicBezTo>
                <a:lnTo>
                  <a:pt x="447377" y="267623"/>
                </a:lnTo>
                <a:cubicBezTo>
                  <a:pt x="436751" y="259854"/>
                  <a:pt x="424964" y="253692"/>
                  <a:pt x="412194" y="249406"/>
                </a:cubicBezTo>
                <a:cubicBezTo>
                  <a:pt x="409962" y="238065"/>
                  <a:pt x="406122" y="227350"/>
                  <a:pt x="400854" y="217527"/>
                </a:cubicBezTo>
                <a:cubicBezTo>
                  <a:pt x="409337" y="204222"/>
                  <a:pt x="414338" y="188416"/>
                  <a:pt x="414338" y="171361"/>
                </a:cubicBezTo>
                <a:cubicBezTo>
                  <a:pt x="414338" y="124033"/>
                  <a:pt x="375940" y="85636"/>
                  <a:pt x="328613" y="85636"/>
                </a:cubicBezTo>
                <a:cubicBezTo>
                  <a:pt x="285839" y="85636"/>
                  <a:pt x="250388" y="116979"/>
                  <a:pt x="243959" y="157877"/>
                </a:cubicBezTo>
                <a:cubicBezTo>
                  <a:pt x="220295" y="139750"/>
                  <a:pt x="190827" y="128855"/>
                  <a:pt x="158770" y="128498"/>
                </a:cubicBezTo>
                <a:lnTo>
                  <a:pt x="145286" y="108228"/>
                </a:lnTo>
                <a:cubicBezTo>
                  <a:pt x="142696" y="104299"/>
                  <a:pt x="142161" y="99298"/>
                  <a:pt x="144036" y="94923"/>
                </a:cubicBezTo>
                <a:cubicBezTo>
                  <a:pt x="145911" y="90547"/>
                  <a:pt x="149751" y="87332"/>
                  <a:pt x="154394" y="86439"/>
                </a:cubicBezTo>
                <a:lnTo>
                  <a:pt x="228600" y="71438"/>
                </a:lnTo>
                <a:lnTo>
                  <a:pt x="243602" y="-2857"/>
                </a:lnTo>
                <a:cubicBezTo>
                  <a:pt x="244584" y="-7501"/>
                  <a:pt x="247710" y="-11341"/>
                  <a:pt x="252085" y="-13216"/>
                </a:cubicBezTo>
                <a:cubicBezTo>
                  <a:pt x="256461" y="-15091"/>
                  <a:pt x="261461" y="-14555"/>
                  <a:pt x="265390" y="-11966"/>
                </a:cubicBezTo>
                <a:lnTo>
                  <a:pt x="328613" y="30004"/>
                </a:lnTo>
                <a:lnTo>
                  <a:pt x="391745" y="-11876"/>
                </a:lnTo>
                <a:cubicBezTo>
                  <a:pt x="395674" y="-14466"/>
                  <a:pt x="400675" y="-15002"/>
                  <a:pt x="405051" y="-13127"/>
                </a:cubicBezTo>
                <a:close/>
                <a:moveTo>
                  <a:pt x="371475" y="171450"/>
                </a:moveTo>
                <a:cubicBezTo>
                  <a:pt x="371475" y="174843"/>
                  <a:pt x="371118" y="178147"/>
                  <a:pt x="370314" y="181362"/>
                </a:cubicBezTo>
                <a:cubicBezTo>
                  <a:pt x="350937" y="166181"/>
                  <a:pt x="326559" y="157163"/>
                  <a:pt x="300038" y="157163"/>
                </a:cubicBezTo>
                <a:cubicBezTo>
                  <a:pt x="295930" y="157163"/>
                  <a:pt x="291911" y="157341"/>
                  <a:pt x="287982" y="157788"/>
                </a:cubicBezTo>
                <a:cubicBezTo>
                  <a:pt x="293697" y="140821"/>
                  <a:pt x="309771" y="128588"/>
                  <a:pt x="328613" y="128588"/>
                </a:cubicBezTo>
                <a:cubicBezTo>
                  <a:pt x="352276" y="128588"/>
                  <a:pt x="371475" y="147786"/>
                  <a:pt x="371475" y="171450"/>
                </a:cubicBezTo>
                <a:close/>
                <a:moveTo>
                  <a:pt x="85725" y="457200"/>
                </a:moveTo>
                <a:cubicBezTo>
                  <a:pt x="38398" y="457200"/>
                  <a:pt x="0" y="418802"/>
                  <a:pt x="0" y="371475"/>
                </a:cubicBezTo>
                <a:cubicBezTo>
                  <a:pt x="0" y="333524"/>
                  <a:pt x="24646" y="301288"/>
                  <a:pt x="58847" y="290036"/>
                </a:cubicBezTo>
                <a:cubicBezTo>
                  <a:pt x="57686" y="284053"/>
                  <a:pt x="57150" y="277803"/>
                  <a:pt x="57150" y="271463"/>
                </a:cubicBezTo>
                <a:cubicBezTo>
                  <a:pt x="57150" y="216188"/>
                  <a:pt x="101888" y="171450"/>
                  <a:pt x="157163" y="171450"/>
                </a:cubicBezTo>
                <a:cubicBezTo>
                  <a:pt x="195649" y="171450"/>
                  <a:pt x="229046" y="193149"/>
                  <a:pt x="245745" y="225028"/>
                </a:cubicBezTo>
                <a:cubicBezTo>
                  <a:pt x="258872" y="209758"/>
                  <a:pt x="278338" y="200025"/>
                  <a:pt x="300038" y="200025"/>
                </a:cubicBezTo>
                <a:cubicBezTo>
                  <a:pt x="339507" y="200025"/>
                  <a:pt x="371475" y="231993"/>
                  <a:pt x="371475" y="271463"/>
                </a:cubicBezTo>
                <a:cubicBezTo>
                  <a:pt x="371475" y="276374"/>
                  <a:pt x="370939" y="281107"/>
                  <a:pt x="370046" y="285750"/>
                </a:cubicBezTo>
                <a:cubicBezTo>
                  <a:pt x="370493" y="285750"/>
                  <a:pt x="371029" y="285750"/>
                  <a:pt x="371475" y="285750"/>
                </a:cubicBez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85725" y="45720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985520" y="3876042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8220" y="4180842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31440" y="2809242"/>
            <a:ext cx="2171700" cy="1803400"/>
          </a:xfrm>
          <a:custGeom>
            <a:avLst/>
            <a:gdLst/>
            <a:ahLst/>
            <a:cxnLst/>
            <a:rect l="l" t="t" r="r" b="b"/>
            <a:pathLst>
              <a:path w="2171700" h="1803400">
                <a:moveTo>
                  <a:pt x="101604" y="0"/>
                </a:moveTo>
                <a:lnTo>
                  <a:pt x="2070096" y="0"/>
                </a:lnTo>
                <a:cubicBezTo>
                  <a:pt x="2126211" y="0"/>
                  <a:pt x="2171700" y="45489"/>
                  <a:pt x="2171700" y="101604"/>
                </a:cubicBezTo>
                <a:lnTo>
                  <a:pt x="2171700" y="1701796"/>
                </a:lnTo>
                <a:cubicBezTo>
                  <a:pt x="2171700" y="1757911"/>
                  <a:pt x="2126211" y="1803400"/>
                  <a:pt x="20700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89960" y="31394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046" y="0"/>
                </a:moveTo>
                <a:cubicBezTo>
                  <a:pt x="242173" y="0"/>
                  <a:pt x="254228" y="7233"/>
                  <a:pt x="260479" y="18752"/>
                </a:cubicBezTo>
                <a:lnTo>
                  <a:pt x="453360" y="375940"/>
                </a:lnTo>
                <a:cubicBezTo>
                  <a:pt x="459343" y="387013"/>
                  <a:pt x="459075" y="400407"/>
                  <a:pt x="452646" y="411212"/>
                </a:cubicBezTo>
                <a:cubicBezTo>
                  <a:pt x="446216" y="422017"/>
                  <a:pt x="434519" y="428625"/>
                  <a:pt x="422017" y="428625"/>
                </a:cubicBezTo>
                <a:lnTo>
                  <a:pt x="36255" y="428625"/>
                </a:lnTo>
                <a:cubicBezTo>
                  <a:pt x="23664" y="428625"/>
                  <a:pt x="12055" y="422017"/>
                  <a:pt x="5626" y="411212"/>
                </a:cubicBezTo>
                <a:cubicBezTo>
                  <a:pt x="-804" y="400407"/>
                  <a:pt x="-1072" y="387013"/>
                  <a:pt x="4911" y="375940"/>
                </a:cubicBezTo>
                <a:lnTo>
                  <a:pt x="197793" y="18752"/>
                </a:lnTo>
                <a:lnTo>
                  <a:pt x="200382" y="14645"/>
                </a:lnTo>
                <a:cubicBezTo>
                  <a:pt x="206901" y="5536"/>
                  <a:pt x="217527" y="0"/>
                  <a:pt x="229046" y="0"/>
                </a:cubicBezTo>
                <a:close/>
                <a:moveTo>
                  <a:pt x="152162" y="223153"/>
                </a:moveTo>
                <a:lnTo>
                  <a:pt x="176093" y="247084"/>
                </a:lnTo>
                <a:cubicBezTo>
                  <a:pt x="181630" y="252621"/>
                  <a:pt x="190738" y="252621"/>
                  <a:pt x="196275" y="247084"/>
                </a:cubicBezTo>
                <a:lnTo>
                  <a:pt x="234940" y="208419"/>
                </a:lnTo>
                <a:cubicBezTo>
                  <a:pt x="240298" y="203061"/>
                  <a:pt x="247531" y="200025"/>
                  <a:pt x="255121" y="200025"/>
                </a:cubicBezTo>
                <a:lnTo>
                  <a:pt x="293340" y="200025"/>
                </a:lnTo>
                <a:lnTo>
                  <a:pt x="228957" y="80814"/>
                </a:lnTo>
                <a:lnTo>
                  <a:pt x="152073" y="223153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3362960" y="3876042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5660" y="4180842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08880" y="2809242"/>
            <a:ext cx="2159000" cy="1778000"/>
          </a:xfrm>
          <a:custGeom>
            <a:avLst/>
            <a:gdLst/>
            <a:ahLst/>
            <a:cxnLst/>
            <a:rect l="l" t="t" r="r" b="b"/>
            <a:pathLst>
              <a:path w="2159000" h="1778000">
                <a:moveTo>
                  <a:pt x="101595" y="0"/>
                </a:moveTo>
                <a:lnTo>
                  <a:pt x="2057405" y="0"/>
                </a:lnTo>
                <a:cubicBezTo>
                  <a:pt x="2113514" y="0"/>
                  <a:pt x="2159000" y="45486"/>
                  <a:pt x="2159000" y="101595"/>
                </a:cubicBezTo>
                <a:lnTo>
                  <a:pt x="2159000" y="1676405"/>
                </a:lnTo>
                <a:cubicBezTo>
                  <a:pt x="2159000" y="1732514"/>
                  <a:pt x="2113514" y="1778000"/>
                  <a:pt x="20574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 w="10160">
            <a:solidFill>
              <a:srgbClr val="8C8C8C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8825" y="3149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740400" y="38862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53100" y="41910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86320" y="2809242"/>
            <a:ext cx="2171700" cy="1803400"/>
          </a:xfrm>
          <a:custGeom>
            <a:avLst/>
            <a:gdLst/>
            <a:ahLst/>
            <a:cxnLst/>
            <a:rect l="l" t="t" r="r" b="b"/>
            <a:pathLst>
              <a:path w="2171700" h="1803400">
                <a:moveTo>
                  <a:pt x="101604" y="0"/>
                </a:moveTo>
                <a:lnTo>
                  <a:pt x="2070096" y="0"/>
                </a:lnTo>
                <a:cubicBezTo>
                  <a:pt x="2126211" y="0"/>
                  <a:pt x="2171700" y="45489"/>
                  <a:pt x="2171700" y="101604"/>
                </a:cubicBezTo>
                <a:lnTo>
                  <a:pt x="2171700" y="1701796"/>
                </a:lnTo>
                <a:cubicBezTo>
                  <a:pt x="2171700" y="1757911"/>
                  <a:pt x="2126211" y="1803400"/>
                  <a:pt x="20700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44840" y="31394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8117840" y="3876042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0540" y="4180842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63760" y="2809242"/>
            <a:ext cx="2171700" cy="1803400"/>
          </a:xfrm>
          <a:custGeom>
            <a:avLst/>
            <a:gdLst/>
            <a:ahLst/>
            <a:cxnLst/>
            <a:rect l="l" t="t" r="r" b="b"/>
            <a:pathLst>
              <a:path w="2171700" h="1803400">
                <a:moveTo>
                  <a:pt x="101604" y="0"/>
                </a:moveTo>
                <a:lnTo>
                  <a:pt x="2070096" y="0"/>
                </a:lnTo>
                <a:cubicBezTo>
                  <a:pt x="2126211" y="0"/>
                  <a:pt x="2171700" y="45489"/>
                  <a:pt x="2171700" y="101604"/>
                </a:cubicBezTo>
                <a:lnTo>
                  <a:pt x="2171700" y="1701796"/>
                </a:lnTo>
                <a:cubicBezTo>
                  <a:pt x="2171700" y="1757911"/>
                  <a:pt x="2126211" y="1803400"/>
                  <a:pt x="20700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93705" y="3139442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114" y="86707"/>
                </a:moveTo>
                <a:lnTo>
                  <a:pt x="200114" y="130999"/>
                </a:lnTo>
                <a:lnTo>
                  <a:pt x="200561" y="131445"/>
                </a:lnTo>
                <a:cubicBezTo>
                  <a:pt x="206365" y="57864"/>
                  <a:pt x="267891" y="0"/>
                  <a:pt x="342989" y="0"/>
                </a:cubicBezTo>
                <a:cubicBezTo>
                  <a:pt x="360938" y="0"/>
                  <a:pt x="378172" y="3304"/>
                  <a:pt x="393978" y="9376"/>
                </a:cubicBezTo>
                <a:cubicBezTo>
                  <a:pt x="402908" y="12769"/>
                  <a:pt x="404515" y="24110"/>
                  <a:pt x="397818" y="30897"/>
                </a:cubicBezTo>
                <a:lnTo>
                  <a:pt x="318611" y="110103"/>
                </a:lnTo>
                <a:cubicBezTo>
                  <a:pt x="315932" y="112782"/>
                  <a:pt x="314414" y="116443"/>
                  <a:pt x="314414" y="120194"/>
                </a:cubicBezTo>
                <a:lnTo>
                  <a:pt x="314414" y="157163"/>
                </a:lnTo>
                <a:cubicBezTo>
                  <a:pt x="314414" y="165021"/>
                  <a:pt x="320844" y="171450"/>
                  <a:pt x="328702" y="171450"/>
                </a:cubicBezTo>
                <a:lnTo>
                  <a:pt x="365671" y="171450"/>
                </a:lnTo>
                <a:cubicBezTo>
                  <a:pt x="369421" y="171450"/>
                  <a:pt x="373082" y="169932"/>
                  <a:pt x="375761" y="167253"/>
                </a:cubicBezTo>
                <a:lnTo>
                  <a:pt x="454968" y="88047"/>
                </a:lnTo>
                <a:cubicBezTo>
                  <a:pt x="461754" y="81260"/>
                  <a:pt x="473095" y="82957"/>
                  <a:pt x="476488" y="91886"/>
                </a:cubicBezTo>
                <a:cubicBezTo>
                  <a:pt x="482560" y="107692"/>
                  <a:pt x="485864" y="124926"/>
                  <a:pt x="485864" y="142875"/>
                </a:cubicBezTo>
                <a:cubicBezTo>
                  <a:pt x="485864" y="196989"/>
                  <a:pt x="455771" y="244138"/>
                  <a:pt x="411301" y="268337"/>
                </a:cubicBezTo>
                <a:lnTo>
                  <a:pt x="484078" y="341114"/>
                </a:lnTo>
                <a:cubicBezTo>
                  <a:pt x="500777" y="357813"/>
                  <a:pt x="500777" y="384959"/>
                  <a:pt x="484078" y="401747"/>
                </a:cubicBezTo>
                <a:lnTo>
                  <a:pt x="430411" y="455414"/>
                </a:lnTo>
                <a:cubicBezTo>
                  <a:pt x="413712" y="472113"/>
                  <a:pt x="386566" y="472113"/>
                  <a:pt x="369778" y="455414"/>
                </a:cubicBezTo>
                <a:lnTo>
                  <a:pt x="257264" y="342900"/>
                </a:lnTo>
                <a:cubicBezTo>
                  <a:pt x="232797" y="318433"/>
                  <a:pt x="227261" y="282267"/>
                  <a:pt x="240744" y="252442"/>
                </a:cubicBezTo>
                <a:lnTo>
                  <a:pt x="159752" y="171450"/>
                </a:lnTo>
                <a:lnTo>
                  <a:pt x="115461" y="171450"/>
                </a:lnTo>
                <a:cubicBezTo>
                  <a:pt x="105906" y="171450"/>
                  <a:pt x="96976" y="166717"/>
                  <a:pt x="91708" y="158770"/>
                </a:cubicBezTo>
                <a:lnTo>
                  <a:pt x="20895" y="52596"/>
                </a:lnTo>
                <a:cubicBezTo>
                  <a:pt x="17145" y="46970"/>
                  <a:pt x="17859" y="39380"/>
                  <a:pt x="22681" y="34558"/>
                </a:cubicBezTo>
                <a:lnTo>
                  <a:pt x="63222" y="-5983"/>
                </a:lnTo>
                <a:cubicBezTo>
                  <a:pt x="68044" y="-10805"/>
                  <a:pt x="75545" y="-11519"/>
                  <a:pt x="81260" y="-7769"/>
                </a:cubicBezTo>
                <a:lnTo>
                  <a:pt x="187434" y="62954"/>
                </a:lnTo>
                <a:cubicBezTo>
                  <a:pt x="195382" y="68223"/>
                  <a:pt x="200114" y="77153"/>
                  <a:pt x="200114" y="86707"/>
                </a:cubicBezTo>
                <a:close/>
                <a:moveTo>
                  <a:pt x="192524" y="264855"/>
                </a:moveTo>
                <a:cubicBezTo>
                  <a:pt x="186898" y="297894"/>
                  <a:pt x="194667" y="332809"/>
                  <a:pt x="216098" y="360759"/>
                </a:cubicBezTo>
                <a:lnTo>
                  <a:pt x="131266" y="445502"/>
                </a:lnTo>
                <a:cubicBezTo>
                  <a:pt x="106174" y="470595"/>
                  <a:pt x="65455" y="470595"/>
                  <a:pt x="40362" y="445502"/>
                </a:cubicBezTo>
                <a:cubicBezTo>
                  <a:pt x="15270" y="420410"/>
                  <a:pt x="15270" y="379690"/>
                  <a:pt x="40362" y="354598"/>
                </a:cubicBezTo>
                <a:lnTo>
                  <a:pt x="161270" y="233690"/>
                </a:lnTo>
                <a:lnTo>
                  <a:pt x="192524" y="264944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10495280" y="3876042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07980" y="4180842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4000" y="5013958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此框架为现代系统创新提供了可复用的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文化语法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思维模型：天时地利人和物宜工巧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923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整体认知：天地万物一体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52700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古人必先问“何时用、何地造、何人使”，再问“何材何构”。整体观确保功能与伦理一致，避免技术割裂与环境失控。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848100"/>
            <a:ext cx="5435600" cy="1117600"/>
          </a:xfrm>
          <a:custGeom>
            <a:avLst/>
            <a:gdLst/>
            <a:ahLst/>
            <a:cxnLst/>
            <a:rect l="l" t="t" r="r" b="b"/>
            <a:pathLst>
              <a:path w="5435600" h="1117600">
                <a:moveTo>
                  <a:pt x="101601" y="0"/>
                </a:moveTo>
                <a:lnTo>
                  <a:pt x="5333999" y="0"/>
                </a:lnTo>
                <a:cubicBezTo>
                  <a:pt x="5390112" y="0"/>
                  <a:pt x="5435600" y="45488"/>
                  <a:pt x="5435600" y="101601"/>
                </a:cubicBezTo>
                <a:lnTo>
                  <a:pt x="5435600" y="1015999"/>
                </a:lnTo>
                <a:cubicBezTo>
                  <a:pt x="5435600" y="1072112"/>
                  <a:pt x="5390112" y="1117600"/>
                  <a:pt x="5333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051300"/>
            <a:ext cx="553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现代启示：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57700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可持续设计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提供哲学底座，是系统思维的古典根源。</a:t>
            </a:r>
            <a:endParaRPr lang="en-US" sz="1600" dirty="0"/>
          </a:p>
        </p:txBody>
      </p:sp>
      <p:pic>
        <p:nvPicPr>
          <p:cNvPr id="7" name="Image 0" descr="https://kimi-web-img.moonshot.cn/img/www.gov.cn/fcfe6f0b1d2fc1ac83c81f388eb259731c8adec7.jpg">    </p:cNvPr>
          <p:cNvPicPr>
            <a:picLocks noChangeAspect="1"/>
          </p:cNvPicPr>
          <p:nvPr/>
        </p:nvPicPr>
        <p:blipFill>
          <a:blip r:embed="rId1"/>
          <a:srcRect l="0" r="0" t="21487" b="21487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22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联系思维：网络式启发与类比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81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观飞鸟创车轮，察水波造波纹刃，古人用“取象比类”跨越领域，激发创造。</a:t>
            </a:r>
            <a:endParaRPr lang="en-US" sz="1600" dirty="0"/>
          </a:p>
        </p:txBody>
      </p:sp>
      <p:pic>
        <p:nvPicPr>
          <p:cNvPr id="4" name="Image 0" descr="https://kimi-web-img.moonshot.cn/img/freepngimg.com/da161f0012279278c2330b168d1abd5deed2630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83000" y="2692400"/>
            <a:ext cx="1625600" cy="1625600"/>
          </a:xfrm>
          <a:prstGeom prst="roundRect">
            <a:avLst>
              <a:gd name="adj" fmla="val 50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3429000" y="44196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自然之象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53100" y="3403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262626"/>
          </a:solidFill>
          <a:ln/>
        </p:spPr>
      </p:sp>
      <p:pic>
        <p:nvPicPr>
          <p:cNvPr id="7" name="Image 1" descr="https://kimi-web-img.moonshot.cn/img/www.gov.cn/fcfe6f0b1d2fc1ac83c81f388eb259731c8adec7.jpg">    </p:cNvPr>
          <p:cNvPicPr>
            <a:picLocks noChangeAspect="1"/>
          </p:cNvPicPr>
          <p:nvPr/>
        </p:nvPicPr>
        <p:blipFill>
          <a:blip r:embed="rId2"/>
          <a:srcRect l="0" r="0" t="9012" b="9012"/>
          <a:stretch/>
        </p:blipFill>
        <p:spPr>
          <a:xfrm>
            <a:off x="6883400" y="2692400"/>
            <a:ext cx="1625600" cy="1625600"/>
          </a:xfrm>
          <a:prstGeom prst="roundRect">
            <a:avLst>
              <a:gd name="adj" fmla="val 50000"/>
            </a:avLst>
          </a:prstGeom>
        </p:spPr>
      </p:pic>
      <p:sp>
        <p:nvSpPr>
          <p:cNvPr id="8" name="Text 4"/>
          <p:cNvSpPr/>
          <p:nvPr/>
        </p:nvSpPr>
        <p:spPr>
          <a:xfrm>
            <a:off x="6629400" y="44196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造物之形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54000" y="51308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此思维可补现代研究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过度量化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之弊，形成“发散—收敛”双轨创新。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97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和谐价值：真善美交织的秩序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558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传统和谐是功能、礼制、情感三轴平衡，追求“文质彬彬”的统一。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52600" y="3175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1422400" y="4191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功能之真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5000" y="3175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57200" y="38100"/>
                </a:moveTo>
                <a:lnTo>
                  <a:pt x="609600" y="38100"/>
                </a:lnTo>
                <a:cubicBezTo>
                  <a:pt x="630674" y="38100"/>
                  <a:pt x="647700" y="55126"/>
                  <a:pt x="647700" y="76200"/>
                </a:cubicBezTo>
                <a:cubicBezTo>
                  <a:pt x="647700" y="97274"/>
                  <a:pt x="630674" y="114300"/>
                  <a:pt x="609600" y="114300"/>
                </a:cubicBezTo>
                <a:lnTo>
                  <a:pt x="474345" y="114300"/>
                </a:lnTo>
                <a:cubicBezTo>
                  <a:pt x="468154" y="145018"/>
                  <a:pt x="447080" y="170378"/>
                  <a:pt x="419100" y="182523"/>
                </a:cubicBezTo>
                <a:lnTo>
                  <a:pt x="419100" y="533400"/>
                </a:lnTo>
                <a:lnTo>
                  <a:pt x="609600" y="533400"/>
                </a:lnTo>
                <a:cubicBezTo>
                  <a:pt x="630674" y="533400"/>
                  <a:pt x="647700" y="550426"/>
                  <a:pt x="647700" y="571500"/>
                </a:cubicBezTo>
                <a:cubicBezTo>
                  <a:pt x="647700" y="592574"/>
                  <a:pt x="630674" y="609600"/>
                  <a:pt x="609600" y="609600"/>
                </a:cubicBezTo>
                <a:lnTo>
                  <a:pt x="152400" y="609600"/>
                </a:lnTo>
                <a:cubicBezTo>
                  <a:pt x="131326" y="609600"/>
                  <a:pt x="114300" y="592574"/>
                  <a:pt x="114300" y="571500"/>
                </a:cubicBezTo>
                <a:cubicBezTo>
                  <a:pt x="114300" y="550426"/>
                  <a:pt x="131326" y="533400"/>
                  <a:pt x="152400" y="533400"/>
                </a:cubicBezTo>
                <a:lnTo>
                  <a:pt x="342900" y="533400"/>
                </a:lnTo>
                <a:lnTo>
                  <a:pt x="342900" y="182523"/>
                </a:lnTo>
                <a:cubicBezTo>
                  <a:pt x="314920" y="170259"/>
                  <a:pt x="293846" y="144899"/>
                  <a:pt x="287655" y="114300"/>
                </a:cubicBezTo>
                <a:lnTo>
                  <a:pt x="152400" y="114300"/>
                </a:lnTo>
                <a:cubicBezTo>
                  <a:pt x="131326" y="114300"/>
                  <a:pt x="114300" y="97274"/>
                  <a:pt x="114300" y="76200"/>
                </a:cubicBezTo>
                <a:cubicBezTo>
                  <a:pt x="114300" y="55126"/>
                  <a:pt x="131326" y="38100"/>
                  <a:pt x="152400" y="38100"/>
                </a:cubicBezTo>
                <a:lnTo>
                  <a:pt x="304800" y="38100"/>
                </a:lnTo>
                <a:cubicBezTo>
                  <a:pt x="322183" y="15002"/>
                  <a:pt x="349806" y="0"/>
                  <a:pt x="381000" y="0"/>
                </a:cubicBezTo>
                <a:cubicBezTo>
                  <a:pt x="412194" y="0"/>
                  <a:pt x="439817" y="15002"/>
                  <a:pt x="457200" y="38100"/>
                </a:cubicBezTo>
                <a:close/>
                <a:moveTo>
                  <a:pt x="523399" y="381000"/>
                </a:moveTo>
                <a:lnTo>
                  <a:pt x="695801" y="381000"/>
                </a:lnTo>
                <a:lnTo>
                  <a:pt x="609600" y="233124"/>
                </a:lnTo>
                <a:lnTo>
                  <a:pt x="523399" y="381000"/>
                </a:lnTo>
                <a:close/>
                <a:moveTo>
                  <a:pt x="609600" y="495300"/>
                </a:moveTo>
                <a:cubicBezTo>
                  <a:pt x="534710" y="495300"/>
                  <a:pt x="472440" y="454819"/>
                  <a:pt x="459581" y="401360"/>
                </a:cubicBezTo>
                <a:cubicBezTo>
                  <a:pt x="456486" y="388263"/>
                  <a:pt x="460772" y="374809"/>
                  <a:pt x="467558" y="363141"/>
                </a:cubicBezTo>
                <a:lnTo>
                  <a:pt x="580906" y="168831"/>
                </a:lnTo>
                <a:cubicBezTo>
                  <a:pt x="586859" y="158591"/>
                  <a:pt x="597813" y="152400"/>
                  <a:pt x="609600" y="152400"/>
                </a:cubicBezTo>
                <a:cubicBezTo>
                  <a:pt x="621387" y="152400"/>
                  <a:pt x="632341" y="158710"/>
                  <a:pt x="638294" y="168831"/>
                </a:cubicBezTo>
                <a:lnTo>
                  <a:pt x="751642" y="363141"/>
                </a:lnTo>
                <a:cubicBezTo>
                  <a:pt x="758428" y="374809"/>
                  <a:pt x="762714" y="388263"/>
                  <a:pt x="759619" y="401360"/>
                </a:cubicBezTo>
                <a:cubicBezTo>
                  <a:pt x="746760" y="454700"/>
                  <a:pt x="684490" y="495300"/>
                  <a:pt x="609600" y="495300"/>
                </a:cubicBezTo>
                <a:close/>
                <a:moveTo>
                  <a:pt x="150971" y="233124"/>
                </a:moveTo>
                <a:lnTo>
                  <a:pt x="64770" y="381000"/>
                </a:lnTo>
                <a:lnTo>
                  <a:pt x="237292" y="381000"/>
                </a:lnTo>
                <a:lnTo>
                  <a:pt x="150971" y="233124"/>
                </a:lnTo>
                <a:close/>
                <a:moveTo>
                  <a:pt x="1072" y="401360"/>
                </a:moveTo>
                <a:cubicBezTo>
                  <a:pt x="-2024" y="388263"/>
                  <a:pt x="2262" y="374809"/>
                  <a:pt x="9049" y="363141"/>
                </a:cubicBezTo>
                <a:lnTo>
                  <a:pt x="122396" y="168831"/>
                </a:lnTo>
                <a:cubicBezTo>
                  <a:pt x="128349" y="158591"/>
                  <a:pt x="139303" y="152400"/>
                  <a:pt x="151090" y="152400"/>
                </a:cubicBezTo>
                <a:cubicBezTo>
                  <a:pt x="162878" y="152400"/>
                  <a:pt x="173831" y="158710"/>
                  <a:pt x="179784" y="168831"/>
                </a:cubicBezTo>
                <a:lnTo>
                  <a:pt x="293132" y="363141"/>
                </a:lnTo>
                <a:cubicBezTo>
                  <a:pt x="299918" y="374809"/>
                  <a:pt x="304205" y="388263"/>
                  <a:pt x="301109" y="401360"/>
                </a:cubicBezTo>
                <a:cubicBezTo>
                  <a:pt x="288250" y="454700"/>
                  <a:pt x="225981" y="495300"/>
                  <a:pt x="151090" y="495300"/>
                </a:cubicBezTo>
                <a:cubicBezTo>
                  <a:pt x="76200" y="495300"/>
                  <a:pt x="13930" y="454819"/>
                  <a:pt x="1072" y="40136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5384800" y="4191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礼制之善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7536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86941" y="103703"/>
                </a:moveTo>
                <a:lnTo>
                  <a:pt x="304800" y="128349"/>
                </a:lnTo>
                <a:lnTo>
                  <a:pt x="322659" y="103703"/>
                </a:lnTo>
                <a:cubicBezTo>
                  <a:pt x="352425" y="62508"/>
                  <a:pt x="400288" y="38100"/>
                  <a:pt x="451128" y="38100"/>
                </a:cubicBezTo>
                <a:cubicBezTo>
                  <a:pt x="538639" y="38100"/>
                  <a:pt x="609600" y="109061"/>
                  <a:pt x="609600" y="196572"/>
                </a:cubicBezTo>
                <a:lnTo>
                  <a:pt x="609600" y="199668"/>
                </a:lnTo>
                <a:cubicBezTo>
                  <a:pt x="609600" y="333256"/>
                  <a:pt x="443032" y="488394"/>
                  <a:pt x="356116" y="554712"/>
                </a:cubicBezTo>
                <a:cubicBezTo>
                  <a:pt x="341352" y="565904"/>
                  <a:pt x="323255" y="571500"/>
                  <a:pt x="304800" y="571500"/>
                </a:cubicBezTo>
                <a:cubicBezTo>
                  <a:pt x="286345" y="571500"/>
                  <a:pt x="268129" y="566023"/>
                  <a:pt x="253484" y="554712"/>
                </a:cubicBezTo>
                <a:cubicBezTo>
                  <a:pt x="166568" y="488394"/>
                  <a:pt x="0" y="333256"/>
                  <a:pt x="0" y="199668"/>
                </a:cubicBezTo>
                <a:lnTo>
                  <a:pt x="0" y="196572"/>
                </a:lnTo>
                <a:cubicBezTo>
                  <a:pt x="0" y="109061"/>
                  <a:pt x="70961" y="38100"/>
                  <a:pt x="158472" y="38100"/>
                </a:cubicBezTo>
                <a:cubicBezTo>
                  <a:pt x="209312" y="38100"/>
                  <a:pt x="257175" y="62508"/>
                  <a:pt x="286941" y="1037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347200" y="4191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情感之美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000" y="51562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可为体验经济提供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系统共生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的深度评价标准。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.sinaimg.cn/a575ffa6ed6ac0f1d13cf8e33518cbd5397c803c.png">    </p:cNvPr>
          <p:cNvPicPr>
            <a:picLocks noChangeAspect="1"/>
          </p:cNvPicPr>
          <p:nvPr/>
        </p:nvPicPr>
        <p:blipFill>
          <a:blip r:embed="rId1"/>
          <a:srcRect l="4252" r="4252" t="0" b="0"/>
          <a:stretch/>
        </p:blipFill>
        <p:spPr>
          <a:xfrm>
            <a:off x="254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082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克服短板：从模糊到精确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7432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传统思维重直觉轻抽象，导致技术难以迭代。现代转译需引入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实验与数据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，把“观物取辨”升级为“参数化取辨”。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48400" y="37084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48400" y="4013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模糊经验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6800" y="3962400"/>
            <a:ext cx="3429000" cy="50800"/>
          </a:xfrm>
          <a:custGeom>
            <a:avLst/>
            <a:gdLst/>
            <a:ahLst/>
            <a:cxnLst/>
            <a:rect l="l" t="t" r="r" b="b"/>
            <a:pathLst>
              <a:path w="3429000" h="50800">
                <a:moveTo>
                  <a:pt x="0" y="0"/>
                </a:moveTo>
                <a:lnTo>
                  <a:pt x="3429000" y="0"/>
                </a:lnTo>
                <a:lnTo>
                  <a:pt x="3429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C8C8C"/>
              </a:gs>
              <a:gs pos="100000">
                <a:srgbClr val="262626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10795000" y="37084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95000" y="40132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参数化模型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02400" y="44704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在保留整体观的同时，实现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可验证、可积累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的知识进步。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现代启示：传统智慧的转译路径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98042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转译策略：从符号拼贴到系统重构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656842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以“五维检查表”重构产品系统，将文化情怀转化为市场竞争力。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368042"/>
            <a:ext cx="2260600" cy="685800"/>
          </a:xfrm>
          <a:custGeom>
            <a:avLst/>
            <a:gdLst/>
            <a:ahLst/>
            <a:cxnLst/>
            <a:rect l="l" t="t" r="r" b="b"/>
            <a:pathLst>
              <a:path w="2260600" h="685800">
                <a:moveTo>
                  <a:pt x="50797" y="0"/>
                </a:moveTo>
                <a:lnTo>
                  <a:pt x="2209803" y="0"/>
                </a:lnTo>
                <a:cubicBezTo>
                  <a:pt x="2237857" y="0"/>
                  <a:pt x="2260600" y="22743"/>
                  <a:pt x="2260600" y="50797"/>
                </a:cubicBezTo>
                <a:lnTo>
                  <a:pt x="2260600" y="635003"/>
                </a:lnTo>
                <a:cubicBezTo>
                  <a:pt x="2260600" y="663057"/>
                  <a:pt x="2237857" y="685800"/>
                  <a:pt x="2209803" y="685800"/>
                </a:cubicBezTo>
                <a:lnTo>
                  <a:pt x="50797" y="685800"/>
                </a:lnTo>
                <a:cubicBezTo>
                  <a:pt x="22743" y="685800"/>
                  <a:pt x="0" y="663057"/>
                  <a:pt x="0" y="6350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3469642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3723642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可持续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11120" y="3368042"/>
            <a:ext cx="2260600" cy="685800"/>
          </a:xfrm>
          <a:custGeom>
            <a:avLst/>
            <a:gdLst/>
            <a:ahLst/>
            <a:cxnLst/>
            <a:rect l="l" t="t" r="r" b="b"/>
            <a:pathLst>
              <a:path w="2260600" h="685800">
                <a:moveTo>
                  <a:pt x="50797" y="0"/>
                </a:moveTo>
                <a:lnTo>
                  <a:pt x="2209803" y="0"/>
                </a:lnTo>
                <a:cubicBezTo>
                  <a:pt x="2237857" y="0"/>
                  <a:pt x="2260600" y="22743"/>
                  <a:pt x="2260600" y="50797"/>
                </a:cubicBezTo>
                <a:lnTo>
                  <a:pt x="2260600" y="635003"/>
                </a:lnTo>
                <a:cubicBezTo>
                  <a:pt x="2260600" y="663057"/>
                  <a:pt x="2237857" y="685800"/>
                  <a:pt x="2209803" y="685800"/>
                </a:cubicBezTo>
                <a:lnTo>
                  <a:pt x="50797" y="685800"/>
                </a:lnTo>
                <a:cubicBezTo>
                  <a:pt x="22743" y="685800"/>
                  <a:pt x="0" y="663057"/>
                  <a:pt x="0" y="6350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458720" y="3469642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58720" y="3723642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本土供应链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68240" y="3368042"/>
            <a:ext cx="2235200" cy="660400"/>
          </a:xfrm>
          <a:custGeom>
            <a:avLst/>
            <a:gdLst/>
            <a:ahLst/>
            <a:cxnLst/>
            <a:rect l="l" t="t" r="r" b="b"/>
            <a:pathLst>
              <a:path w="2235200" h="660400">
                <a:moveTo>
                  <a:pt x="50798" y="0"/>
                </a:moveTo>
                <a:lnTo>
                  <a:pt x="2184402" y="0"/>
                </a:lnTo>
                <a:cubicBezTo>
                  <a:pt x="2212457" y="0"/>
                  <a:pt x="2235200" y="22743"/>
                  <a:pt x="2235200" y="50798"/>
                </a:cubicBezTo>
                <a:lnTo>
                  <a:pt x="2235200" y="609602"/>
                </a:lnTo>
                <a:cubicBezTo>
                  <a:pt x="2235200" y="637657"/>
                  <a:pt x="2212457" y="660400"/>
                  <a:pt x="21844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 w="10160">
            <a:solidFill>
              <a:srgbClr val="8C8C8C">
                <a:alpha val="5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6000" y="34798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6000" y="3733800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多元用户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25360" y="3368042"/>
            <a:ext cx="2260600" cy="685800"/>
          </a:xfrm>
          <a:custGeom>
            <a:avLst/>
            <a:gdLst/>
            <a:ahLst/>
            <a:cxnLst/>
            <a:rect l="l" t="t" r="r" b="b"/>
            <a:pathLst>
              <a:path w="2260600" h="685800">
                <a:moveTo>
                  <a:pt x="50797" y="0"/>
                </a:moveTo>
                <a:lnTo>
                  <a:pt x="2209803" y="0"/>
                </a:lnTo>
                <a:cubicBezTo>
                  <a:pt x="2237857" y="0"/>
                  <a:pt x="2260600" y="22743"/>
                  <a:pt x="2260600" y="50797"/>
                </a:cubicBezTo>
                <a:lnTo>
                  <a:pt x="2260600" y="635003"/>
                </a:lnTo>
                <a:cubicBezTo>
                  <a:pt x="2260600" y="663057"/>
                  <a:pt x="2237857" y="685800"/>
                  <a:pt x="2209803" y="685800"/>
                </a:cubicBezTo>
                <a:lnTo>
                  <a:pt x="50797" y="685800"/>
                </a:lnTo>
                <a:cubicBezTo>
                  <a:pt x="22743" y="685800"/>
                  <a:pt x="0" y="663057"/>
                  <a:pt x="0" y="6350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172960" y="3469642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2960" y="3723642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材料循环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82480" y="3368042"/>
            <a:ext cx="2260600" cy="685800"/>
          </a:xfrm>
          <a:custGeom>
            <a:avLst/>
            <a:gdLst/>
            <a:ahLst/>
            <a:cxnLst/>
            <a:rect l="l" t="t" r="r" b="b"/>
            <a:pathLst>
              <a:path w="2260600" h="685800">
                <a:moveTo>
                  <a:pt x="50797" y="0"/>
                </a:moveTo>
                <a:lnTo>
                  <a:pt x="2209803" y="0"/>
                </a:lnTo>
                <a:cubicBezTo>
                  <a:pt x="2237857" y="0"/>
                  <a:pt x="2260600" y="22743"/>
                  <a:pt x="2260600" y="50797"/>
                </a:cubicBezTo>
                <a:lnTo>
                  <a:pt x="2260600" y="635003"/>
                </a:lnTo>
                <a:cubicBezTo>
                  <a:pt x="2260600" y="663057"/>
                  <a:pt x="2237857" y="685800"/>
                  <a:pt x="2209803" y="685800"/>
                </a:cubicBezTo>
                <a:lnTo>
                  <a:pt x="50797" y="685800"/>
                </a:lnTo>
                <a:cubicBezTo>
                  <a:pt x="22743" y="685800"/>
                  <a:pt x="0" y="663057"/>
                  <a:pt x="0" y="6350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30080" y="3469642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30080" y="3723642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智能制造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4000" y="4455009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避免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符号化消费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的短命，构建有文化深度的产品系统。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431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案例展望：水车精神的再生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03500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太阳能微泵+物联网传感器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重构筒车系统，实现无人值守、按需提水。新系统保留“水势—机构”适配逻辑，仅替换能量层。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898900"/>
            <a:ext cx="0" cy="101600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8000" y="3898900"/>
            <a:ext cx="568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价值：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4305300"/>
            <a:ext cx="518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形成“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低技—高智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”混合解决方案，为乡村振兴提供可落地原型。</a:t>
            </a:r>
            <a:endParaRPr lang="en-US" sz="1600" dirty="0"/>
          </a:p>
        </p:txBody>
      </p:sp>
      <p:pic>
        <p:nvPicPr>
          <p:cNvPr id="7" name="Image 0" descr="https://kimi-web-img.moonshot.cn/img/n.sinaimg.cn/a575ffa6ed6ac0f1d13cf8e33518cbd5397c803c.png">    </p:cNvPr>
          <p:cNvPicPr>
            <a:picLocks noChangeAspect="1"/>
          </p:cNvPicPr>
          <p:nvPr/>
        </p:nvPicPr>
        <p:blipFill>
          <a:blip r:embed="rId1"/>
          <a:srcRect l="4252" r="4252" t="0" b="0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9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结论：事理不息，设计常新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108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轮子、水车、钟钺共同证明：事在物先，物随事变，理寓其中。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33900" y="3022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76200"/>
                </a:moveTo>
                <a:cubicBezTo>
                  <a:pt x="469106" y="76200"/>
                  <a:pt x="571500" y="178594"/>
                  <a:pt x="571500" y="304800"/>
                </a:cubicBezTo>
                <a:cubicBezTo>
                  <a:pt x="571500" y="431006"/>
                  <a:pt x="469106" y="533400"/>
                  <a:pt x="342900" y="533400"/>
                </a:cubicBezTo>
                <a:cubicBezTo>
                  <a:pt x="265271" y="533400"/>
                  <a:pt x="196572" y="494705"/>
                  <a:pt x="155258" y="435412"/>
                </a:cubicBezTo>
                <a:cubicBezTo>
                  <a:pt x="143232" y="418148"/>
                  <a:pt x="119420" y="413980"/>
                  <a:pt x="102156" y="426006"/>
                </a:cubicBezTo>
                <a:cubicBezTo>
                  <a:pt x="84892" y="438031"/>
                  <a:pt x="80724" y="461843"/>
                  <a:pt x="92750" y="479108"/>
                </a:cubicBezTo>
                <a:cubicBezTo>
                  <a:pt x="147757" y="557927"/>
                  <a:pt x="239316" y="609600"/>
                  <a:pt x="342900" y="609600"/>
                </a:cubicBezTo>
                <a:cubicBezTo>
                  <a:pt x="511254" y="609600"/>
                  <a:pt x="647700" y="473154"/>
                  <a:pt x="647700" y="304800"/>
                </a:cubicBezTo>
                <a:cubicBezTo>
                  <a:pt x="647700" y="136446"/>
                  <a:pt x="511254" y="0"/>
                  <a:pt x="342900" y="0"/>
                </a:cubicBezTo>
                <a:cubicBezTo>
                  <a:pt x="240863" y="0"/>
                  <a:pt x="150614" y="50125"/>
                  <a:pt x="95250" y="127040"/>
                </a:cubicBezTo>
                <a:lnTo>
                  <a:pt x="95250" y="95250"/>
                </a:lnTo>
                <a:cubicBezTo>
                  <a:pt x="95250" y="74176"/>
                  <a:pt x="78224" y="57150"/>
                  <a:pt x="57150" y="57150"/>
                </a:cubicBezTo>
                <a:cubicBezTo>
                  <a:pt x="36076" y="57150"/>
                  <a:pt x="19050" y="74176"/>
                  <a:pt x="19050" y="95250"/>
                </a:cubicBezTo>
                <a:lnTo>
                  <a:pt x="19050" y="228600"/>
                </a:lnTo>
                <a:cubicBezTo>
                  <a:pt x="19050" y="249674"/>
                  <a:pt x="36076" y="266700"/>
                  <a:pt x="57150" y="266700"/>
                </a:cubicBezTo>
                <a:lnTo>
                  <a:pt x="86439" y="266700"/>
                </a:lnTo>
                <a:cubicBezTo>
                  <a:pt x="87035" y="266700"/>
                  <a:pt x="87630" y="266700"/>
                  <a:pt x="88225" y="266700"/>
                </a:cubicBezTo>
                <a:lnTo>
                  <a:pt x="190619" y="266700"/>
                </a:lnTo>
                <a:cubicBezTo>
                  <a:pt x="211693" y="266700"/>
                  <a:pt x="228719" y="249674"/>
                  <a:pt x="228719" y="228600"/>
                </a:cubicBezTo>
                <a:cubicBezTo>
                  <a:pt x="228719" y="207526"/>
                  <a:pt x="211693" y="190500"/>
                  <a:pt x="190619" y="190500"/>
                </a:cubicBezTo>
                <a:lnTo>
                  <a:pt x="145018" y="190500"/>
                </a:lnTo>
                <a:cubicBezTo>
                  <a:pt x="184428" y="122158"/>
                  <a:pt x="258366" y="76200"/>
                  <a:pt x="342900" y="76200"/>
                </a:cubicBezTo>
                <a:close/>
                <a:moveTo>
                  <a:pt x="371475" y="180975"/>
                </a:moveTo>
                <a:cubicBezTo>
                  <a:pt x="371475" y="165140"/>
                  <a:pt x="358735" y="152400"/>
                  <a:pt x="342900" y="152400"/>
                </a:cubicBezTo>
                <a:cubicBezTo>
                  <a:pt x="327065" y="152400"/>
                  <a:pt x="314325" y="165140"/>
                  <a:pt x="314325" y="180975"/>
                </a:cubicBezTo>
                <a:lnTo>
                  <a:pt x="314325" y="304800"/>
                </a:lnTo>
                <a:cubicBezTo>
                  <a:pt x="314325" y="312420"/>
                  <a:pt x="317302" y="319683"/>
                  <a:pt x="322659" y="325041"/>
                </a:cubicBezTo>
                <a:lnTo>
                  <a:pt x="408384" y="410766"/>
                </a:lnTo>
                <a:cubicBezTo>
                  <a:pt x="419576" y="421958"/>
                  <a:pt x="437674" y="421958"/>
                  <a:pt x="448747" y="410766"/>
                </a:cubicBezTo>
                <a:cubicBezTo>
                  <a:pt x="459819" y="399574"/>
                  <a:pt x="459938" y="381476"/>
                  <a:pt x="448747" y="370403"/>
                </a:cubicBezTo>
                <a:lnTo>
                  <a:pt x="371356" y="293013"/>
                </a:lnTo>
                <a:lnTo>
                  <a:pt x="371356" y="18097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3937000"/>
            <a:ext cx="15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4292600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事与物的循环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16600" y="337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619" y="228600"/>
                </a:moveTo>
                <a:lnTo>
                  <a:pt x="581025" y="228600"/>
                </a:lnTo>
                <a:cubicBezTo>
                  <a:pt x="596860" y="228600"/>
                  <a:pt x="609600" y="215860"/>
                  <a:pt x="609600" y="200025"/>
                </a:cubicBezTo>
                <a:lnTo>
                  <a:pt x="609600" y="28575"/>
                </a:lnTo>
                <a:cubicBezTo>
                  <a:pt x="609600" y="17026"/>
                  <a:pt x="602694" y="6548"/>
                  <a:pt x="591979" y="2143"/>
                </a:cubicBezTo>
                <a:cubicBezTo>
                  <a:pt x="581263" y="-2262"/>
                  <a:pt x="569000" y="238"/>
                  <a:pt x="560784" y="8334"/>
                </a:cubicBezTo>
                <a:lnTo>
                  <a:pt x="499229" y="70009"/>
                </a:lnTo>
                <a:cubicBezTo>
                  <a:pt x="446484" y="26313"/>
                  <a:pt x="378619" y="0"/>
                  <a:pt x="304800" y="0"/>
                </a:cubicBezTo>
                <a:cubicBezTo>
                  <a:pt x="151209" y="0"/>
                  <a:pt x="24170" y="113586"/>
                  <a:pt x="3096" y="261342"/>
                </a:cubicBezTo>
                <a:cubicBezTo>
                  <a:pt x="119" y="282178"/>
                  <a:pt x="14526" y="301466"/>
                  <a:pt x="35362" y="304443"/>
                </a:cubicBezTo>
                <a:cubicBezTo>
                  <a:pt x="56198" y="307419"/>
                  <a:pt x="75486" y="292894"/>
                  <a:pt x="78462" y="272177"/>
                </a:cubicBezTo>
                <a:cubicBezTo>
                  <a:pt x="94298" y="161330"/>
                  <a:pt x="189667" y="76200"/>
                  <a:pt x="304800" y="76200"/>
                </a:cubicBezTo>
                <a:cubicBezTo>
                  <a:pt x="357664" y="76200"/>
                  <a:pt x="406241" y="94059"/>
                  <a:pt x="444937" y="124182"/>
                </a:cubicBezTo>
                <a:lnTo>
                  <a:pt x="389334" y="179784"/>
                </a:lnTo>
                <a:cubicBezTo>
                  <a:pt x="381119" y="188000"/>
                  <a:pt x="378738" y="200263"/>
                  <a:pt x="383143" y="210979"/>
                </a:cubicBezTo>
                <a:cubicBezTo>
                  <a:pt x="387548" y="221694"/>
                  <a:pt x="398026" y="228600"/>
                  <a:pt x="409575" y="228600"/>
                </a:cubicBezTo>
                <a:lnTo>
                  <a:pt x="571619" y="228600"/>
                </a:lnTo>
                <a:close/>
                <a:moveTo>
                  <a:pt x="606623" y="348258"/>
                </a:moveTo>
                <a:cubicBezTo>
                  <a:pt x="609600" y="327422"/>
                  <a:pt x="595074" y="308134"/>
                  <a:pt x="574357" y="305157"/>
                </a:cubicBezTo>
                <a:cubicBezTo>
                  <a:pt x="553641" y="302181"/>
                  <a:pt x="534233" y="316706"/>
                  <a:pt x="531257" y="337423"/>
                </a:cubicBezTo>
                <a:cubicBezTo>
                  <a:pt x="515422" y="448151"/>
                  <a:pt x="420053" y="533281"/>
                  <a:pt x="304919" y="533281"/>
                </a:cubicBezTo>
                <a:cubicBezTo>
                  <a:pt x="252055" y="533281"/>
                  <a:pt x="203478" y="515422"/>
                  <a:pt x="164783" y="485299"/>
                </a:cubicBezTo>
                <a:lnTo>
                  <a:pt x="220266" y="429816"/>
                </a:lnTo>
                <a:cubicBezTo>
                  <a:pt x="228481" y="421600"/>
                  <a:pt x="230862" y="409337"/>
                  <a:pt x="226457" y="398621"/>
                </a:cubicBezTo>
                <a:cubicBezTo>
                  <a:pt x="222052" y="387906"/>
                  <a:pt x="211574" y="381000"/>
                  <a:pt x="200025" y="381000"/>
                </a:cubicBezTo>
                <a:lnTo>
                  <a:pt x="28575" y="381000"/>
                </a:lnTo>
                <a:cubicBezTo>
                  <a:pt x="12740" y="381000"/>
                  <a:pt x="0" y="393740"/>
                  <a:pt x="0" y="409575"/>
                </a:cubicBezTo>
                <a:lnTo>
                  <a:pt x="0" y="581025"/>
                </a:lnTo>
                <a:cubicBezTo>
                  <a:pt x="0" y="592574"/>
                  <a:pt x="6906" y="603052"/>
                  <a:pt x="17621" y="607457"/>
                </a:cubicBezTo>
                <a:cubicBezTo>
                  <a:pt x="28337" y="611862"/>
                  <a:pt x="40600" y="609362"/>
                  <a:pt x="48816" y="601266"/>
                </a:cubicBezTo>
                <a:lnTo>
                  <a:pt x="110490" y="539591"/>
                </a:lnTo>
                <a:cubicBezTo>
                  <a:pt x="163116" y="583287"/>
                  <a:pt x="230981" y="609600"/>
                  <a:pt x="304800" y="609600"/>
                </a:cubicBezTo>
                <a:cubicBezTo>
                  <a:pt x="458391" y="609600"/>
                  <a:pt x="585430" y="496014"/>
                  <a:pt x="606504" y="348258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Shape 6"/>
          <p:cNvSpPr/>
          <p:nvPr/>
        </p:nvSpPr>
        <p:spPr>
          <a:xfrm>
            <a:off x="7086600" y="30226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48734" y="457200"/>
                </a:moveTo>
                <a:cubicBezTo>
                  <a:pt x="357426" y="430649"/>
                  <a:pt x="374809" y="406598"/>
                  <a:pt x="394454" y="385882"/>
                </a:cubicBezTo>
                <a:cubicBezTo>
                  <a:pt x="433387" y="344924"/>
                  <a:pt x="457200" y="289560"/>
                  <a:pt x="457200" y="228600"/>
                </a:cubicBezTo>
                <a:cubicBezTo>
                  <a:pt x="457200" y="102394"/>
                  <a:pt x="354806" y="0"/>
                  <a:pt x="228600" y="0"/>
                </a:cubicBezTo>
                <a:cubicBezTo>
                  <a:pt x="102394" y="0"/>
                  <a:pt x="0" y="102394"/>
                  <a:pt x="0" y="228600"/>
                </a:cubicBezTo>
                <a:cubicBezTo>
                  <a:pt x="0" y="289560"/>
                  <a:pt x="23813" y="344924"/>
                  <a:pt x="62746" y="385882"/>
                </a:cubicBezTo>
                <a:cubicBezTo>
                  <a:pt x="82391" y="406598"/>
                  <a:pt x="99893" y="430649"/>
                  <a:pt x="108466" y="457200"/>
                </a:cubicBezTo>
                <a:lnTo>
                  <a:pt x="348615" y="457200"/>
                </a:lnTo>
                <a:close/>
                <a:moveTo>
                  <a:pt x="342900" y="514350"/>
                </a:moveTo>
                <a:lnTo>
                  <a:pt x="114300" y="514350"/>
                </a:lnTo>
                <a:lnTo>
                  <a:pt x="114300" y="533400"/>
                </a:lnTo>
                <a:cubicBezTo>
                  <a:pt x="114300" y="586026"/>
                  <a:pt x="156924" y="628650"/>
                  <a:pt x="209550" y="628650"/>
                </a:cubicBezTo>
                <a:lnTo>
                  <a:pt x="247650" y="628650"/>
                </a:lnTo>
                <a:cubicBezTo>
                  <a:pt x="300276" y="628650"/>
                  <a:pt x="342900" y="586026"/>
                  <a:pt x="342900" y="533400"/>
                </a:cubicBezTo>
                <a:lnTo>
                  <a:pt x="342900" y="514350"/>
                </a:lnTo>
                <a:close/>
                <a:moveTo>
                  <a:pt x="219075" y="133350"/>
                </a:moveTo>
                <a:cubicBezTo>
                  <a:pt x="171688" y="133350"/>
                  <a:pt x="133350" y="171688"/>
                  <a:pt x="133350" y="219075"/>
                </a:cubicBezTo>
                <a:cubicBezTo>
                  <a:pt x="133350" y="234910"/>
                  <a:pt x="120610" y="247650"/>
                  <a:pt x="104775" y="247650"/>
                </a:cubicBezTo>
                <a:cubicBezTo>
                  <a:pt x="88940" y="247650"/>
                  <a:pt x="76200" y="234910"/>
                  <a:pt x="76200" y="219075"/>
                </a:cubicBezTo>
                <a:cubicBezTo>
                  <a:pt x="76200" y="140137"/>
                  <a:pt x="140137" y="76200"/>
                  <a:pt x="219075" y="76200"/>
                </a:cubicBezTo>
                <a:cubicBezTo>
                  <a:pt x="234910" y="76200"/>
                  <a:pt x="247650" y="88940"/>
                  <a:pt x="247650" y="104775"/>
                </a:cubicBezTo>
                <a:cubicBezTo>
                  <a:pt x="247650" y="120610"/>
                  <a:pt x="234910" y="133350"/>
                  <a:pt x="219075" y="13335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6553200" y="39370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3200" y="42926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智慧的转译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4000" y="49530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传统智慧可抽象为“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限制—适配—优化 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”的通用模型，具有永恒生命力。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结论：事理不息，设计常新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x0.ifengimg.com/59a86a1d3601c1a4389ffcffd726d64056669460.jpg">    </p:cNvPr>
          <p:cNvPicPr>
            <a:picLocks noChangeAspect="1"/>
          </p:cNvPicPr>
          <p:nvPr/>
        </p:nvPicPr>
        <p:blipFill>
          <a:blip r:embed="rId1"/>
          <a:srcRect l="9566" r="9566" t="0" b="0"/>
          <a:stretch/>
        </p:blipFill>
        <p:spPr>
          <a:xfrm>
            <a:off x="254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35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前瞻：构建当代东方设计科学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8956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将“五维框架”转译为现代指标，可形成兼容文化深度与工程精度的新范式。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608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打通文献、实验、产业三界。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02400" y="43180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为全球设计话语贡献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东方系统观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9-d2t62qu1bb2p4onbqqk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685" y="0"/>
            <a:ext cx="1227518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3195320"/>
            <a:ext cx="533082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</a:t>
            </a:r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观看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8-d2t62qm1bb2p4onbqq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55" y="304800"/>
            <a:ext cx="5005070" cy="2639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24265" y="5219065"/>
            <a:ext cx="406400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：Kimi AI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724265" y="5678170"/>
            <a:ext cx="4064000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：2025/08/05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事与物：中国传统设计事理</dc:title>
  <dc:subject>事与物：中国传统设计事理</dc:subject>
  <dc:creator>Kimi</dc:creator>
  <cp:lastModifiedBy>Kimi</cp:lastModifiedBy>
  <cp:revision>1</cp:revision>
  <dcterms:created xsi:type="dcterms:W3CDTF">2025-09-18T15:24:20Z</dcterms:created>
  <dcterms:modified xsi:type="dcterms:W3CDTF">2025-09-18T15:24:20Z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{"Label":"事与物：中国传统设计事理","ContentProducer":"001191110108MACG2KBH8F10000","ProduceID":"d361v9d43358njuo3r20","ReservedCode1":"","ContentPropagator":"001191110108MACG2KBH8F20000","PropagateID":"d361v9d43358njuo3r20","ReservedCode2":""}</vt:lpwstr>
  </property>
</Properties>
</file>