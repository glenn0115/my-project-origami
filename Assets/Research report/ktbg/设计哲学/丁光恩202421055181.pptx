
<file path=[Content_Types].xml><?xml version="1.0" encoding="utf-8"?>
<Types xmlns="http://schemas.openxmlformats.org/package/2006/content-types">
  <Default Extension="5fa71bfb95d5430b8c70873447771d3f697bb495" ContentType="image/5fa71bfb95d5430b8c70873447771d3f697bb495"/>
  <Default Extension="862e8f41e18889540f3bb2b90df642f599d63dc1" ContentType="image/862e8f41e18889540f3bb2b90df642f599d63dc1"/>
  <Default Extension="96ccd9140281786acd67207f4abb7e1859cf888b" ContentType="image/96ccd9140281786acd67207f4abb7e1859cf888b"/>
  <Default Extension="c543a924fe07a86050b5644f621f7e6ac1fcf6d3" ContentType="image/c543a924fe07a86050b5644f621f7e6ac1fcf6d3"/>
  <Default Extension="fntdata" ContentType="application/x-fontdata"/>
  <Default Extension="jpeg" ContentType="image/jpeg"/>
  <Default Extension="jpeg-photo_sp" ContentType="image/jpeg-photo_sp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3"/>
  </p:notesMasterIdLst>
  <p:sldIdLst>
    <p:sldId id="3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391" r:id="rId134"/>
    <p:sldId id="392" r:id="rId135"/>
    <p:sldId id="393" r:id="rId136"/>
    <p:sldId id="394" r:id="rId137"/>
    <p:sldId id="395" r:id="rId138"/>
    <p:sldId id="396" r:id="rId139"/>
    <p:sldId id="397" r:id="rId140"/>
    <p:sldId id="398" r:id="rId141"/>
    <p:sldId id="399" r:id="rId142"/>
    <p:sldId id="400" r:id="rId143"/>
    <p:sldId id="401" r:id="rId144"/>
    <p:sldId id="402" r:id="rId145"/>
    <p:sldId id="403" r:id="rId146"/>
    <p:sldId id="404" r:id="rId147"/>
    <p:sldId id="405" r:id="rId148"/>
    <p:sldId id="406" r:id="rId149"/>
    <p:sldId id="407" r:id="rId150"/>
    <p:sldId id="408" r:id="rId151"/>
    <p:sldId id="409" r:id="rId152"/>
    <p:sldId id="410" r:id="rId153"/>
    <p:sldId id="411" r:id="rId154"/>
    <p:sldId id="412" r:id="rId155"/>
    <p:sldId id="413" r:id="rId156"/>
    <p:sldId id="414" r:id="rId157"/>
    <p:sldId id="415" r:id="rId158"/>
    <p:sldId id="416" r:id="rId159"/>
    <p:sldId id="417" r:id="rId160"/>
    <p:sldId id="418" r:id="rId161"/>
    <p:sldId id="419" r:id="rId162"/>
    <p:sldId id="420" r:id="rId163"/>
    <p:sldId id="421" r:id="rId164"/>
    <p:sldId id="422" r:id="rId165"/>
    <p:sldId id="423" r:id="rId166"/>
    <p:sldId id="424" r:id="rId167"/>
    <p:sldId id="425" r:id="rId168"/>
    <p:sldId id="426" r:id="rId169"/>
    <p:sldId id="427" r:id="rId170"/>
    <p:sldId id="428" r:id="rId171"/>
    <p:sldId id="291" r:id="rId172"/>
  </p:sldIdLst>
  <p:sldSz cx="12192000" cy="6858000"/>
  <p:notesSz cx="6858000" cy="12192000"/>
  <p:embeddedFontLst>
    <p:embeddedFont>
      <p:font typeface="MiSans" panose="02010600030101010101" charset="-122"/>
      <p:regular r:id="rId174"/>
    </p:embeddedFont>
    <p:embeddedFont>
      <p:font typeface="Noto Sans SC" panose="020B0200000000000000" pitchFamily="34" charset="-122"/>
      <p:regular r:id="rId175"/>
      <p:bold r:id="rId17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5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1.fntdata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2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3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4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13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5fa71bfb95d5430b8c70873447771d3f697bb495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96ccd9140281786acd67207f4abb7e1859cf888b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jp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jp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jpg"/><Relationship Id="rId4" Type="http://schemas.openxmlformats.org/officeDocument/2006/relationships/image" Target="../media/image64.jp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862e8f41e18889540f3bb2b90df642f599d63dc1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1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jpg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-photo_sp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c543a924fe07a86050b5644f621f7e6ac1fcf6d3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208135" y="5678805"/>
            <a:ext cx="221551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</a:t>
            </a: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CN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丁光恩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395335" y="6047105"/>
            <a:ext cx="3028315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汇报时间：2025/09/19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1416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设计本体论：溯源·元思·演化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27525"/>
            <a:ext cx="7486015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2845" y="4820920"/>
            <a:ext cx="701040" cy="68262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源设计：历史轨迹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元设计：抽象本质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设计的流变与支配逻辑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人为事物：设计的镜像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9542145" y="49904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设计与科学·技术·艺术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设计与文化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文化多样性与设计创新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源设计：历史轨迹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256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词源与起点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352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设计概念的双线诞生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997200"/>
            <a:ext cx="5638800" cy="2235200"/>
          </a:xfrm>
          <a:custGeom>
            <a:avLst/>
            <a:gdLst/>
            <a:ahLst/>
            <a:cxnLst/>
            <a:rect l="l" t="t" r="r" b="b"/>
            <a:pathLst>
              <a:path w="5638800" h="22352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2133610"/>
                </a:lnTo>
                <a:cubicBezTo>
                  <a:pt x="5638800" y="2189717"/>
                  <a:pt x="5593317" y="2235200"/>
                  <a:pt x="55372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88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3528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汉字溯源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4013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从汉字“设—创造、计—安排”出发，设计被界定为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“人为了实现意图的创造性活动”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。广义观将起点锚定于第一块打制石器，将设计等同于人类诞生。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99200" y="2997200"/>
            <a:ext cx="5638800" cy="2235200"/>
          </a:xfrm>
          <a:custGeom>
            <a:avLst/>
            <a:gdLst/>
            <a:ahLst/>
            <a:cxnLst/>
            <a:rect l="l" t="t" r="r" b="b"/>
            <a:pathLst>
              <a:path w="5638800" h="22352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2133610"/>
                </a:lnTo>
                <a:cubicBezTo>
                  <a:pt x="5638800" y="2189717"/>
                  <a:pt x="5593317" y="2235200"/>
                  <a:pt x="55372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040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705600" y="340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724" y="30182"/>
                </a:moveTo>
                <a:cubicBezTo>
                  <a:pt x="166628" y="23396"/>
                  <a:pt x="159841" y="19050"/>
                  <a:pt x="152400" y="19050"/>
                </a:cubicBezTo>
                <a:cubicBezTo>
                  <a:pt x="144959" y="19050"/>
                  <a:pt x="138172" y="23396"/>
                  <a:pt x="135076" y="30182"/>
                </a:cubicBezTo>
                <a:lnTo>
                  <a:pt x="35421" y="247650"/>
                </a:lnTo>
                <a:lnTo>
                  <a:pt x="28575" y="247650"/>
                </a:lnTo>
                <a:cubicBezTo>
                  <a:pt x="18038" y="247650"/>
                  <a:pt x="9525" y="256163"/>
                  <a:pt x="9525" y="266700"/>
                </a:cubicBezTo>
                <a:cubicBezTo>
                  <a:pt x="9525" y="277237"/>
                  <a:pt x="18038" y="285750"/>
                  <a:pt x="28575" y="285750"/>
                </a:cubicBezTo>
                <a:lnTo>
                  <a:pt x="80962" y="285750"/>
                </a:lnTo>
                <a:cubicBezTo>
                  <a:pt x="91500" y="285750"/>
                  <a:pt x="100013" y="277237"/>
                  <a:pt x="100013" y="266700"/>
                </a:cubicBezTo>
                <a:cubicBezTo>
                  <a:pt x="100013" y="256163"/>
                  <a:pt x="91500" y="247650"/>
                  <a:pt x="80962" y="247650"/>
                </a:cubicBezTo>
                <a:lnTo>
                  <a:pt x="77331" y="247650"/>
                </a:lnTo>
                <a:lnTo>
                  <a:pt x="90428" y="219075"/>
                </a:lnTo>
                <a:lnTo>
                  <a:pt x="214432" y="219075"/>
                </a:lnTo>
                <a:lnTo>
                  <a:pt x="227528" y="247650"/>
                </a:lnTo>
                <a:lnTo>
                  <a:pt x="223897" y="247650"/>
                </a:lnTo>
                <a:cubicBezTo>
                  <a:pt x="213360" y="247650"/>
                  <a:pt x="204847" y="256163"/>
                  <a:pt x="204847" y="266700"/>
                </a:cubicBezTo>
                <a:cubicBezTo>
                  <a:pt x="204847" y="277237"/>
                  <a:pt x="213360" y="285750"/>
                  <a:pt x="223897" y="285750"/>
                </a:cubicBezTo>
                <a:lnTo>
                  <a:pt x="276285" y="285750"/>
                </a:lnTo>
                <a:cubicBezTo>
                  <a:pt x="286822" y="285750"/>
                  <a:pt x="295335" y="277237"/>
                  <a:pt x="295335" y="266700"/>
                </a:cubicBezTo>
                <a:cubicBezTo>
                  <a:pt x="295335" y="256163"/>
                  <a:pt x="286822" y="247650"/>
                  <a:pt x="276285" y="247650"/>
                </a:cubicBezTo>
                <a:lnTo>
                  <a:pt x="269438" y="247650"/>
                </a:lnTo>
                <a:lnTo>
                  <a:pt x="169783" y="30182"/>
                </a:lnTo>
                <a:close/>
                <a:moveTo>
                  <a:pt x="196929" y="180975"/>
                </a:moveTo>
                <a:lnTo>
                  <a:pt x="107871" y="180975"/>
                </a:lnTo>
                <a:lnTo>
                  <a:pt x="152400" y="83820"/>
                </a:lnTo>
                <a:lnTo>
                  <a:pt x="196929" y="180975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33528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拉丁语源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4000" y="4013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拉丁语 designare (刻印) 演变为英语 design，其词义“图案、构思、谋划”均指向人为创造。狭义观把职业设计师出现设为界标，强调社会分工后的职业化。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11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手工业时代：隐性设计的社会嵌入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270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设计未从各行各业中剥离，它以经验、悟性与地方文化形式存在</a:t>
            </a:r>
            <a:endParaRPr lang="en-US" sz="1600" dirty="0"/>
          </a:p>
        </p:txBody>
      </p:sp>
      <p:pic>
        <p:nvPicPr>
          <p:cNvPr id="4" name="Image 0" descr="https://kimi-web-img.moonshot.cn/img/user-assets.sxlcdn.com/c103c983bd8978855440017dd21aeb8ecf0a7483.JPG"/>
          <p:cNvPicPr>
            <a:picLocks noChangeAspect="1"/>
          </p:cNvPicPr>
          <p:nvPr/>
        </p:nvPicPr>
        <p:blipFill>
          <a:blip r:embed="rId3"/>
          <a:srcRect l="12500" r="12500"/>
          <a:stretch/>
        </p:blipFill>
        <p:spPr>
          <a:xfrm>
            <a:off x="1591628" y="2235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1693227" y="36576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裁缝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349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缝衣的样式与功能一体，是技术与设计的结合。</a:t>
            </a:r>
            <a:endParaRPr lang="en-US" sz="1600" dirty="0"/>
          </a:p>
        </p:txBody>
      </p:sp>
      <p:pic>
        <p:nvPicPr>
          <p:cNvPr id="7" name="Image 1" descr="https://kimi-web-img.moonshot.cn/img/cdn.pixabay.com/3c5464d0633afb075fed3489c4b05e6f03464e29.jpg"/>
          <p:cNvPicPr>
            <a:picLocks noChangeAspect="1"/>
          </p:cNvPicPr>
          <p:nvPr/>
        </p:nvPicPr>
        <p:blipFill>
          <a:blip r:embed="rId4"/>
          <a:srcRect l="16641" r="16641"/>
          <a:stretch/>
        </p:blipFill>
        <p:spPr>
          <a:xfrm>
            <a:off x="5486241" y="2235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5587841" y="36576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石匠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51814" y="4114800"/>
            <a:ext cx="349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雕刻的艺术与建造的逻辑，融于工匠的经验之中。</a:t>
            </a:r>
            <a:endParaRPr lang="en-US" sz="1600" dirty="0"/>
          </a:p>
        </p:txBody>
      </p:sp>
      <p:pic>
        <p:nvPicPr>
          <p:cNvPr id="10" name="Image 2" descr="https://kimi-web-img.moonshot.cn/img/img.alicdn.com/5c5b54ef54581bd8b904e9d05588c2a05e1c7d6c.jpg"/>
          <p:cNvPicPr>
            <a:picLocks noChangeAspect="1"/>
          </p:cNvPicPr>
          <p:nvPr/>
        </p:nvPicPr>
        <p:blipFill>
          <a:blip r:embed="rId5"/>
          <a:srcRect t="15563" b="15562"/>
          <a:stretch/>
        </p:blipFill>
        <p:spPr>
          <a:xfrm>
            <a:off x="9380855" y="2235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9482455" y="36576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木匠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46428" y="4114800"/>
            <a:ext cx="349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打家具的过程，就是设计从构思到实现的过程。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254000" y="5232400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76197" y="0"/>
                </a:moveTo>
                <a:lnTo>
                  <a:pt x="11607803" y="0"/>
                </a:lnTo>
                <a:cubicBezTo>
                  <a:pt x="11649885" y="0"/>
                  <a:pt x="11684000" y="34115"/>
                  <a:pt x="11684000" y="76197"/>
                </a:cubicBezTo>
                <a:lnTo>
                  <a:pt x="11684000" y="838203"/>
                </a:lnTo>
                <a:cubicBezTo>
                  <a:pt x="11684000" y="880285"/>
                  <a:pt x="11649885" y="914400"/>
                  <a:pt x="11607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254000" y="5232400"/>
            <a:ext cx="11684000" cy="914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在工业革命之前，设计活动是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融于各行各业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中的，同技术、手艺、艺术、生活、劳动紧密结合，它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缺乏独立身份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，却持续塑造着器物的面貌。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549400"/>
            <a:ext cx="604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工业裂变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08200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现代设计如何被生产出来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7686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蒸汽机、分工、市场三要素催生了标准化批量生产，设计被迫从制造环节分离，成为提高效率、降低成本、刺激销售的必要职能。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987800"/>
            <a:ext cx="5537200" cy="1320800"/>
          </a:xfrm>
          <a:custGeom>
            <a:avLst/>
            <a:gdLst/>
            <a:ahLst/>
            <a:cxnLst/>
            <a:rect l="l" t="t" r="r" b="b"/>
            <a:pathLst>
              <a:path w="5537200" h="1320800">
                <a:moveTo>
                  <a:pt x="101596" y="0"/>
                </a:moveTo>
                <a:lnTo>
                  <a:pt x="5435604" y="0"/>
                </a:lnTo>
                <a:cubicBezTo>
                  <a:pt x="5491714" y="0"/>
                  <a:pt x="5537200" y="45486"/>
                  <a:pt x="5537200" y="101596"/>
                </a:cubicBezTo>
                <a:lnTo>
                  <a:pt x="5537200" y="1219204"/>
                </a:lnTo>
                <a:cubicBezTo>
                  <a:pt x="5537200" y="1275314"/>
                  <a:pt x="5491714" y="1320800"/>
                  <a:pt x="54356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91000"/>
            <a:ext cx="513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福特T型车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为例，其巨大的生产效率和市场成功，标志着工业设计作为一门现代职业的诞生。设计开始成为现代性分工体系中的一环，走向理论化与系统化。</a:t>
            </a:r>
            <a:endParaRPr lang="en-US" sz="1600" dirty="0"/>
          </a:p>
        </p:txBody>
      </p:sp>
      <p:pic>
        <p:nvPicPr>
          <p:cNvPr id="7" name="Image 0" descr="https://kimi-web-img.moonshot.cn/img/2.bp.blogspot.com/f339c74f3ea0d25eaaac9b223de24497dc61055f.jpg"/>
          <p:cNvPicPr>
            <a:picLocks noChangeAspect="1"/>
          </p:cNvPicPr>
          <p:nvPr/>
        </p:nvPicPr>
        <p:blipFill>
          <a:blip r:embed="rId3"/>
          <a:srcRect l="19324" r="19324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元设计：抽象本质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2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动词与名词：设计作为人类普遍活动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651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西蒙提出“凡将现状变为期望状况的构想”皆属设计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4130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93227" y="2616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983740" y="2832100"/>
            <a:ext cx="238125" cy="381000"/>
          </a:xfrm>
          <a:custGeom>
            <a:avLst/>
            <a:gdLst/>
            <a:ahLst/>
            <a:cxnLst/>
            <a:rect l="l" t="t" r="r" b="b"/>
            <a:pathLst>
              <a:path w="238125" h="381000">
                <a:moveTo>
                  <a:pt x="71438" y="47625"/>
                </a:moveTo>
                <a:cubicBezTo>
                  <a:pt x="71438" y="21340"/>
                  <a:pt x="92778" y="0"/>
                  <a:pt x="119063" y="0"/>
                </a:cubicBezTo>
                <a:cubicBezTo>
                  <a:pt x="145347" y="0"/>
                  <a:pt x="166688" y="21340"/>
                  <a:pt x="166688" y="47625"/>
                </a:cubicBezTo>
                <a:cubicBezTo>
                  <a:pt x="166688" y="73910"/>
                  <a:pt x="145347" y="95250"/>
                  <a:pt x="119063" y="95250"/>
                </a:cubicBezTo>
                <a:cubicBezTo>
                  <a:pt x="92778" y="95250"/>
                  <a:pt x="71438" y="73910"/>
                  <a:pt x="71438" y="47625"/>
                </a:cubicBezTo>
                <a:close/>
                <a:moveTo>
                  <a:pt x="107156" y="285750"/>
                </a:moveTo>
                <a:lnTo>
                  <a:pt x="107156" y="357188"/>
                </a:lnTo>
                <a:cubicBezTo>
                  <a:pt x="107156" y="370359"/>
                  <a:pt x="96515" y="381000"/>
                  <a:pt x="83344" y="381000"/>
                </a:cubicBezTo>
                <a:cubicBezTo>
                  <a:pt x="70172" y="381000"/>
                  <a:pt x="59531" y="370359"/>
                  <a:pt x="59531" y="357188"/>
                </a:cubicBezTo>
                <a:lnTo>
                  <a:pt x="59531" y="214164"/>
                </a:lnTo>
                <a:lnTo>
                  <a:pt x="43979" y="238869"/>
                </a:lnTo>
                <a:cubicBezTo>
                  <a:pt x="36984" y="250031"/>
                  <a:pt x="22250" y="253305"/>
                  <a:pt x="11162" y="246311"/>
                </a:cubicBezTo>
                <a:cubicBezTo>
                  <a:pt x="74" y="239316"/>
                  <a:pt x="-3349" y="224656"/>
                  <a:pt x="3646" y="213568"/>
                </a:cubicBezTo>
                <a:lnTo>
                  <a:pt x="33338" y="166464"/>
                </a:lnTo>
                <a:cubicBezTo>
                  <a:pt x="51867" y="136922"/>
                  <a:pt x="84237" y="119063"/>
                  <a:pt x="119063" y="119063"/>
                </a:cubicBezTo>
                <a:cubicBezTo>
                  <a:pt x="153888" y="119063"/>
                  <a:pt x="186258" y="136922"/>
                  <a:pt x="204787" y="166390"/>
                </a:cubicBezTo>
                <a:lnTo>
                  <a:pt x="234479" y="213568"/>
                </a:lnTo>
                <a:cubicBezTo>
                  <a:pt x="241474" y="224730"/>
                  <a:pt x="238125" y="239390"/>
                  <a:pt x="227037" y="246385"/>
                </a:cubicBezTo>
                <a:cubicBezTo>
                  <a:pt x="215950" y="253380"/>
                  <a:pt x="201216" y="250031"/>
                  <a:pt x="194221" y="238944"/>
                </a:cubicBezTo>
                <a:lnTo>
                  <a:pt x="178594" y="214164"/>
                </a:lnTo>
                <a:lnTo>
                  <a:pt x="178594" y="357188"/>
                </a:lnTo>
                <a:cubicBezTo>
                  <a:pt x="178594" y="370359"/>
                  <a:pt x="167953" y="381000"/>
                  <a:pt x="154781" y="381000"/>
                </a:cubicBezTo>
                <a:cubicBezTo>
                  <a:pt x="141610" y="381000"/>
                  <a:pt x="130969" y="370359"/>
                  <a:pt x="130969" y="357188"/>
                </a:cubicBezTo>
                <a:lnTo>
                  <a:pt x="130969" y="285750"/>
                </a:lnTo>
                <a:lnTo>
                  <a:pt x="107156" y="28575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1337628" y="3581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儿童幻想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38600"/>
            <a:ext cx="328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设计自己的未来人生，是本能的创造性活动。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0214" y="24130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89441" y="2616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08516" y="283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328603" y="3581400"/>
            <a:ext cx="153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CEO策略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3414" y="4038600"/>
            <a:ext cx="328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设计公司的市场策略，是商业层面的规划。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46428" y="24130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85814" y="2616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904889" y="283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7626" y="3795"/>
                </a:moveTo>
                <a:cubicBezTo>
                  <a:pt x="185440" y="-1265"/>
                  <a:pt x="195560" y="-1265"/>
                  <a:pt x="203374" y="3795"/>
                </a:cubicBezTo>
                <a:lnTo>
                  <a:pt x="370061" y="110951"/>
                </a:lnTo>
                <a:cubicBezTo>
                  <a:pt x="378916" y="116681"/>
                  <a:pt x="383009" y="127546"/>
                  <a:pt x="380033" y="137666"/>
                </a:cubicBezTo>
                <a:cubicBezTo>
                  <a:pt x="377056" y="147786"/>
                  <a:pt x="367754" y="154781"/>
                  <a:pt x="357188" y="154781"/>
                </a:cubicBezTo>
                <a:lnTo>
                  <a:pt x="333375" y="154781"/>
                </a:lnTo>
                <a:lnTo>
                  <a:pt x="333375" y="309563"/>
                </a:lnTo>
                <a:lnTo>
                  <a:pt x="371475" y="338137"/>
                </a:lnTo>
                <a:cubicBezTo>
                  <a:pt x="377503" y="342602"/>
                  <a:pt x="381000" y="349672"/>
                  <a:pt x="381000" y="357188"/>
                </a:cubicBezTo>
                <a:cubicBezTo>
                  <a:pt x="381000" y="370359"/>
                  <a:pt x="370359" y="381000"/>
                  <a:pt x="357188" y="381000"/>
                </a:cubicBezTo>
                <a:lnTo>
                  <a:pt x="23812" y="381000"/>
                </a:lnTo>
                <a:cubicBezTo>
                  <a:pt x="10641" y="381000"/>
                  <a:pt x="0" y="370359"/>
                  <a:pt x="0" y="357188"/>
                </a:cubicBezTo>
                <a:cubicBezTo>
                  <a:pt x="0" y="349672"/>
                  <a:pt x="3497" y="342602"/>
                  <a:pt x="9525" y="338137"/>
                </a:cubicBezTo>
                <a:lnTo>
                  <a:pt x="47625" y="309563"/>
                </a:lnTo>
                <a:lnTo>
                  <a:pt x="47625" y="309563"/>
                </a:lnTo>
                <a:lnTo>
                  <a:pt x="47625" y="154781"/>
                </a:lnTo>
                <a:lnTo>
                  <a:pt x="23812" y="154781"/>
                </a:lnTo>
                <a:cubicBezTo>
                  <a:pt x="13246" y="154781"/>
                  <a:pt x="3944" y="147786"/>
                  <a:pt x="967" y="137666"/>
                </a:cubicBezTo>
                <a:cubicBezTo>
                  <a:pt x="-2009" y="127546"/>
                  <a:pt x="2084" y="116607"/>
                  <a:pt x="10939" y="110951"/>
                </a:cubicBezTo>
                <a:lnTo>
                  <a:pt x="177626" y="3795"/>
                </a:lnTo>
                <a:close/>
                <a:moveTo>
                  <a:pt x="250031" y="154781"/>
                </a:moveTo>
                <a:lnTo>
                  <a:pt x="250031" y="309563"/>
                </a:lnTo>
                <a:lnTo>
                  <a:pt x="297656" y="309563"/>
                </a:lnTo>
                <a:lnTo>
                  <a:pt x="297656" y="154781"/>
                </a:lnTo>
                <a:lnTo>
                  <a:pt x="250031" y="154781"/>
                </a:lnTo>
                <a:close/>
                <a:moveTo>
                  <a:pt x="166688" y="309563"/>
                </a:moveTo>
                <a:lnTo>
                  <a:pt x="214313" y="309563"/>
                </a:lnTo>
                <a:lnTo>
                  <a:pt x="214313" y="154781"/>
                </a:lnTo>
                <a:lnTo>
                  <a:pt x="166688" y="154781"/>
                </a:lnTo>
                <a:lnTo>
                  <a:pt x="166688" y="309563"/>
                </a:lnTo>
                <a:close/>
                <a:moveTo>
                  <a:pt x="83344" y="154781"/>
                </a:moveTo>
                <a:lnTo>
                  <a:pt x="83344" y="309563"/>
                </a:lnTo>
                <a:lnTo>
                  <a:pt x="130969" y="309563"/>
                </a:lnTo>
                <a:lnTo>
                  <a:pt x="130969" y="154781"/>
                </a:lnTo>
                <a:lnTo>
                  <a:pt x="83344" y="154781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9330214" y="3581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国家改革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628" y="4038600"/>
            <a:ext cx="328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设计社会发展计划，是宏观制度层面的构想。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4000" y="51562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4000" y="5156200"/>
            <a:ext cx="11684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设计的外延极广，但也因此导致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“人人都是设计师”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“职业设计师”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的概念冲突，呼唤更明确的讨论层级。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03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目的 + 创造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3622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元定义的两根支柱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0226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将设计归结为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“人类有目的的创造性活动”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，剥离行业差异，仅保留目的性与创造性两要素。人总是试图快速准确地达到目的，于是创造了诸多人造物。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2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当社会需求分化，作为手段的人造物激增，组成了一个非自然的、文化的世界。设计研究的核心，便是人与物、人与事之间的意图关系。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8941" y="2692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8341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6680041" y="38100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目的性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34141" y="3124200"/>
            <a:ext cx="82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9000" y="2692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45550" y="2971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8420100" y="38100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74200" y="3124200"/>
            <a:ext cx="82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49059" y="2692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28459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759" y="0"/>
                </a:moveTo>
                <a:cubicBezTo>
                  <a:pt x="377904" y="0"/>
                  <a:pt x="394335" y="6787"/>
                  <a:pt x="406390" y="18931"/>
                </a:cubicBezTo>
                <a:lnTo>
                  <a:pt x="438269" y="50810"/>
                </a:lnTo>
                <a:cubicBezTo>
                  <a:pt x="450413" y="62865"/>
                  <a:pt x="457200" y="79296"/>
                  <a:pt x="457200" y="96441"/>
                </a:cubicBezTo>
                <a:cubicBezTo>
                  <a:pt x="457200" y="113586"/>
                  <a:pt x="450413" y="130016"/>
                  <a:pt x="438269" y="142071"/>
                </a:cubicBezTo>
                <a:lnTo>
                  <a:pt x="398175" y="182166"/>
                </a:lnTo>
                <a:lnTo>
                  <a:pt x="275034" y="59025"/>
                </a:lnTo>
                <a:lnTo>
                  <a:pt x="315129" y="18931"/>
                </a:lnTo>
                <a:cubicBezTo>
                  <a:pt x="327184" y="6787"/>
                  <a:pt x="343614" y="0"/>
                  <a:pt x="360759" y="0"/>
                </a:cubicBezTo>
                <a:close/>
                <a:moveTo>
                  <a:pt x="52596" y="281374"/>
                </a:moveTo>
                <a:lnTo>
                  <a:pt x="244763" y="89297"/>
                </a:lnTo>
                <a:lnTo>
                  <a:pt x="367903" y="212437"/>
                </a:lnTo>
                <a:lnTo>
                  <a:pt x="175826" y="404604"/>
                </a:lnTo>
                <a:cubicBezTo>
                  <a:pt x="166271" y="414159"/>
                  <a:pt x="154305" y="421124"/>
                  <a:pt x="141268" y="424785"/>
                </a:cubicBezTo>
                <a:lnTo>
                  <a:pt x="27146" y="456396"/>
                </a:lnTo>
                <a:cubicBezTo>
                  <a:pt x="19735" y="458450"/>
                  <a:pt x="11698" y="456396"/>
                  <a:pt x="6251" y="450860"/>
                </a:cubicBezTo>
                <a:cubicBezTo>
                  <a:pt x="804" y="445324"/>
                  <a:pt x="-1339" y="437376"/>
                  <a:pt x="714" y="429964"/>
                </a:cubicBezTo>
                <a:lnTo>
                  <a:pt x="32504" y="315932"/>
                </a:lnTo>
                <a:cubicBezTo>
                  <a:pt x="36165" y="302895"/>
                  <a:pt x="43041" y="291019"/>
                  <a:pt x="52685" y="281374"/>
                </a:cubicBezTo>
                <a:close/>
                <a:moveTo>
                  <a:pt x="201275" y="72152"/>
                </a:moveTo>
                <a:lnTo>
                  <a:pt x="72152" y="201275"/>
                </a:lnTo>
                <a:lnTo>
                  <a:pt x="10448" y="139571"/>
                </a:lnTo>
                <a:cubicBezTo>
                  <a:pt x="-3483" y="125641"/>
                  <a:pt x="-3483" y="103049"/>
                  <a:pt x="10448" y="89029"/>
                </a:cubicBezTo>
                <a:lnTo>
                  <a:pt x="89029" y="10448"/>
                </a:lnTo>
                <a:cubicBezTo>
                  <a:pt x="102959" y="-3483"/>
                  <a:pt x="125551" y="-3483"/>
                  <a:pt x="139571" y="10448"/>
                </a:cubicBezTo>
                <a:lnTo>
                  <a:pt x="144840" y="15716"/>
                </a:lnTo>
                <a:lnTo>
                  <a:pt x="94565" y="65990"/>
                </a:lnTo>
                <a:cubicBezTo>
                  <a:pt x="87600" y="72956"/>
                  <a:pt x="87600" y="84296"/>
                  <a:pt x="94565" y="91261"/>
                </a:cubicBezTo>
                <a:cubicBezTo>
                  <a:pt x="101531" y="98227"/>
                  <a:pt x="112871" y="98227"/>
                  <a:pt x="119836" y="91261"/>
                </a:cubicBezTo>
                <a:lnTo>
                  <a:pt x="170111" y="40987"/>
                </a:lnTo>
                <a:lnTo>
                  <a:pt x="201275" y="72152"/>
                </a:lnTo>
                <a:close/>
                <a:moveTo>
                  <a:pt x="385048" y="255925"/>
                </a:moveTo>
                <a:lnTo>
                  <a:pt x="416213" y="287089"/>
                </a:lnTo>
                <a:lnTo>
                  <a:pt x="365939" y="337364"/>
                </a:lnTo>
                <a:cubicBezTo>
                  <a:pt x="358973" y="344329"/>
                  <a:pt x="358973" y="355669"/>
                  <a:pt x="365939" y="362635"/>
                </a:cubicBezTo>
                <a:cubicBezTo>
                  <a:pt x="372904" y="369600"/>
                  <a:pt x="384244" y="369600"/>
                  <a:pt x="391210" y="362635"/>
                </a:cubicBezTo>
                <a:lnTo>
                  <a:pt x="441484" y="312360"/>
                </a:lnTo>
                <a:lnTo>
                  <a:pt x="446752" y="317629"/>
                </a:lnTo>
                <a:cubicBezTo>
                  <a:pt x="460683" y="331559"/>
                  <a:pt x="460683" y="354151"/>
                  <a:pt x="446752" y="368171"/>
                </a:cubicBezTo>
                <a:lnTo>
                  <a:pt x="368171" y="446752"/>
                </a:lnTo>
                <a:cubicBezTo>
                  <a:pt x="354241" y="460683"/>
                  <a:pt x="331649" y="460683"/>
                  <a:pt x="317629" y="446752"/>
                </a:cubicBezTo>
                <a:lnTo>
                  <a:pt x="255925" y="385048"/>
                </a:lnTo>
                <a:lnTo>
                  <a:pt x="385048" y="2559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274459" y="3810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574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广义与狭义：概念伸缩带来的张力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336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设计概念的尺度滑动，造成学术话语与行业实践的错位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3200" y="30988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广义设计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556000"/>
            <a:ext cx="349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一切未来导向的构想，如国家制度、商业计划、个人目标。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8614" y="3352800"/>
            <a:ext cx="3898900" cy="101600"/>
          </a:xfrm>
          <a:custGeom>
            <a:avLst/>
            <a:gdLst/>
            <a:ahLst/>
            <a:cxnLst/>
            <a:rect l="l" t="t" r="r" b="b"/>
            <a:pathLst>
              <a:path w="3898900" h="101600">
                <a:moveTo>
                  <a:pt x="50800" y="0"/>
                </a:moveTo>
                <a:lnTo>
                  <a:pt x="3848100" y="0"/>
                </a:lnTo>
                <a:cubicBezTo>
                  <a:pt x="3876137" y="0"/>
                  <a:pt x="3898900" y="22763"/>
                  <a:pt x="3898900" y="50800"/>
                </a:cubicBezTo>
                <a:lnTo>
                  <a:pt x="3898900" y="50800"/>
                </a:lnTo>
                <a:cubicBezTo>
                  <a:pt x="3898900" y="78837"/>
                  <a:pt x="3876137" y="101600"/>
                  <a:pt x="3848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62626"/>
              </a:gs>
              <a:gs pos="100000">
                <a:srgbClr val="8C8C8C"/>
              </a:gs>
            </a:gsLst>
            <a:lin ang="0" scaled="1"/>
          </a:gradFill>
          <a:ln/>
        </p:spPr>
      </p:sp>
      <p:sp>
        <p:nvSpPr>
          <p:cNvPr id="7" name="Text 5"/>
          <p:cNvSpPr/>
          <p:nvPr/>
        </p:nvSpPr>
        <p:spPr>
          <a:xfrm>
            <a:off x="4148614" y="35052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外延大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91041" y="35052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内涵模糊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5869" y="3505200"/>
            <a:ext cx="965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外延小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4241" y="3606642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428" y="30988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狭义设计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6428" y="3556000"/>
            <a:ext cx="3492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职业化人员产出的可见物质成果，如工业、平面、服装设计。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000" y="46736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54000" y="4673600"/>
            <a:ext cx="11684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呼吁在多元语境中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明确讨论层级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，避免“设计”一词成为混沌修辞。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设计的流变与支配逻辑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98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资本逻辑：效率—增殖的双阶段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设计作为手段，服务于资本的增殖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81075" y="2819400"/>
            <a:ext cx="4673600" cy="2540000"/>
          </a:xfrm>
          <a:custGeom>
            <a:avLst/>
            <a:gdLst/>
            <a:ahLst/>
            <a:cxnLst/>
            <a:rect l="l" t="t" r="r" b="b"/>
            <a:pathLst>
              <a:path w="4673600" h="2540000">
                <a:moveTo>
                  <a:pt x="101600" y="0"/>
                </a:moveTo>
                <a:lnTo>
                  <a:pt x="4572000" y="0"/>
                </a:lnTo>
                <a:cubicBezTo>
                  <a:pt x="4628075" y="0"/>
                  <a:pt x="4673600" y="45525"/>
                  <a:pt x="4673600" y="101600"/>
                </a:cubicBezTo>
                <a:lnTo>
                  <a:pt x="4673600" y="2438400"/>
                </a:lnTo>
                <a:cubicBezTo>
                  <a:pt x="4673600" y="2494475"/>
                  <a:pt x="4628075" y="2540000"/>
                  <a:pt x="45720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11475" y="3124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032125" y="3302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7" name="Text 5"/>
          <p:cNvSpPr/>
          <p:nvPr/>
        </p:nvSpPr>
        <p:spPr>
          <a:xfrm>
            <a:off x="2301875" y="4089400"/>
            <a:ext cx="20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机器中心阶段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5875" y="45466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追求生产效率，以生产为主体。观念上认为人是机器，需求统一，如福特所言：“我们只有黑色”。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9650" y="29845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Shape 8"/>
          <p:cNvSpPr/>
          <p:nvPr/>
        </p:nvSpPr>
        <p:spPr>
          <a:xfrm>
            <a:off x="5956300" y="38989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089650" y="438150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325" y="2819400"/>
            <a:ext cx="4673600" cy="2540000"/>
          </a:xfrm>
          <a:custGeom>
            <a:avLst/>
            <a:gdLst/>
            <a:ahLst/>
            <a:cxnLst/>
            <a:rect l="l" t="t" r="r" b="b"/>
            <a:pathLst>
              <a:path w="4673600" h="2540000">
                <a:moveTo>
                  <a:pt x="101600" y="0"/>
                </a:moveTo>
                <a:lnTo>
                  <a:pt x="4572000" y="0"/>
                </a:lnTo>
                <a:cubicBezTo>
                  <a:pt x="4628075" y="0"/>
                  <a:pt x="4673600" y="45525"/>
                  <a:pt x="4673600" y="101600"/>
                </a:cubicBezTo>
                <a:lnTo>
                  <a:pt x="4673600" y="2438400"/>
                </a:lnTo>
                <a:cubicBezTo>
                  <a:pt x="4673600" y="2494475"/>
                  <a:pt x="4628075" y="2540000"/>
                  <a:pt x="45720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467725" y="3124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88375" y="3302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1431" y="-14287"/>
                </a:moveTo>
                <a:cubicBezTo>
                  <a:pt x="9555" y="-14287"/>
                  <a:pt x="0" y="-4733"/>
                  <a:pt x="0" y="7144"/>
                </a:cubicBezTo>
                <a:cubicBezTo>
                  <a:pt x="0" y="19020"/>
                  <a:pt x="9555" y="28575"/>
                  <a:pt x="21431" y="28575"/>
                </a:cubicBezTo>
                <a:lnTo>
                  <a:pt x="61883" y="28575"/>
                </a:lnTo>
                <a:cubicBezTo>
                  <a:pt x="65365" y="28575"/>
                  <a:pt x="68312" y="31075"/>
                  <a:pt x="68937" y="34469"/>
                </a:cubicBezTo>
                <a:lnTo>
                  <a:pt x="115461" y="290126"/>
                </a:lnTo>
                <a:cubicBezTo>
                  <a:pt x="120997" y="320665"/>
                  <a:pt x="147608" y="342900"/>
                  <a:pt x="178683" y="342900"/>
                </a:cubicBezTo>
                <a:lnTo>
                  <a:pt x="407194" y="342900"/>
                </a:lnTo>
                <a:cubicBezTo>
                  <a:pt x="419070" y="342900"/>
                  <a:pt x="428625" y="333345"/>
                  <a:pt x="428625" y="321469"/>
                </a:cubicBezTo>
                <a:cubicBezTo>
                  <a:pt x="428625" y="309592"/>
                  <a:pt x="419070" y="300038"/>
                  <a:pt x="407194" y="300038"/>
                </a:cubicBezTo>
                <a:lnTo>
                  <a:pt x="178683" y="300038"/>
                </a:lnTo>
                <a:cubicBezTo>
                  <a:pt x="168325" y="300038"/>
                  <a:pt x="159484" y="292626"/>
                  <a:pt x="157609" y="282446"/>
                </a:cubicBezTo>
                <a:lnTo>
                  <a:pt x="153055" y="257175"/>
                </a:lnTo>
                <a:lnTo>
                  <a:pt x="424160" y="257175"/>
                </a:lnTo>
                <a:cubicBezTo>
                  <a:pt x="451664" y="257175"/>
                  <a:pt x="475238" y="237619"/>
                  <a:pt x="480328" y="210562"/>
                </a:cubicBezTo>
                <a:lnTo>
                  <a:pt x="508010" y="62419"/>
                </a:lnTo>
                <a:cubicBezTo>
                  <a:pt x="511314" y="44827"/>
                  <a:pt x="497830" y="28575"/>
                  <a:pt x="479881" y="28575"/>
                </a:cubicBezTo>
                <a:lnTo>
                  <a:pt x="111353" y="28575"/>
                </a:lnTo>
                <a:lnTo>
                  <a:pt x="110996" y="26789"/>
                </a:lnTo>
                <a:cubicBezTo>
                  <a:pt x="106710" y="3036"/>
                  <a:pt x="85993" y="-14287"/>
                  <a:pt x="61793" y="-14287"/>
                </a:cubicBezTo>
                <a:lnTo>
                  <a:pt x="21431" y="-14287"/>
                </a:lnTo>
                <a:close/>
                <a:moveTo>
                  <a:pt x="185738" y="457200"/>
                </a:moveTo>
                <a:cubicBezTo>
                  <a:pt x="209394" y="457200"/>
                  <a:pt x="228600" y="437994"/>
                  <a:pt x="228600" y="414338"/>
                </a:cubicBezTo>
                <a:cubicBezTo>
                  <a:pt x="228600" y="390681"/>
                  <a:pt x="209394" y="371475"/>
                  <a:pt x="185738" y="371475"/>
                </a:cubicBezTo>
                <a:cubicBezTo>
                  <a:pt x="162081" y="371475"/>
                  <a:pt x="142875" y="390681"/>
                  <a:pt x="142875" y="414338"/>
                </a:cubicBezTo>
                <a:cubicBezTo>
                  <a:pt x="142875" y="437994"/>
                  <a:pt x="162081" y="457200"/>
                  <a:pt x="185738" y="457200"/>
                </a:cubicBezTo>
                <a:close/>
                <a:moveTo>
                  <a:pt x="385763" y="457200"/>
                </a:moveTo>
                <a:cubicBezTo>
                  <a:pt x="409419" y="457200"/>
                  <a:pt x="428625" y="437994"/>
                  <a:pt x="428625" y="414338"/>
                </a:cubicBezTo>
                <a:cubicBezTo>
                  <a:pt x="428625" y="390681"/>
                  <a:pt x="409419" y="371475"/>
                  <a:pt x="385763" y="371475"/>
                </a:cubicBezTo>
                <a:cubicBezTo>
                  <a:pt x="362106" y="371475"/>
                  <a:pt x="342900" y="390681"/>
                  <a:pt x="342900" y="414338"/>
                </a:cubicBezTo>
                <a:cubicBezTo>
                  <a:pt x="342900" y="437994"/>
                  <a:pt x="362106" y="457200"/>
                  <a:pt x="385763" y="45720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5" name="Text 13"/>
          <p:cNvSpPr/>
          <p:nvPr/>
        </p:nvSpPr>
        <p:spPr>
          <a:xfrm>
            <a:off x="7985125" y="408940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商业化阶段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42125" y="45466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追求过程效率，刺激消费。通过制造时尚与需求，让人异化为消费动物，实现资本增殖。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5fa71bfb95d5430b8c70873447771d3f697bb495"/>
          <p:cNvPicPr>
            <a:picLocks noChangeAspect="1"/>
          </p:cNvPicPr>
          <p:nvPr/>
        </p:nvPicPr>
        <p:blipFill>
          <a:blip r:embed="rId3"/>
          <a:srcRect l="19333" r="19333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人的逻辑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1590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从功能到情感的需求回归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28194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设计在“满足生理 → 关照心理 → 追求意义”之间摆动。工艺美术运动抗议机器丑陋，现代主义为大众服务，而70年代“少就是多”的极端化引爆了人本反弹。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9370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4140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1972年，作为现代建筑象征的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艾戈住宅被炸毁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，成为“以人为本”设计思潮崛起的标志性事件，宣告了功能主义向情感与体验的转变。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0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环境逻辑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606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从征服到可持续的觉醒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921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传统工业化以征服自然为前提，导致资源枯竭。我们不只继承了父辈的地球，也借用了子孙的地球。绿色设计、服务替代产品、循环经济等思潮开始盛行。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4140200"/>
            <a:ext cx="5435600" cy="1016000"/>
          </a:xfrm>
          <a:custGeom>
            <a:avLst/>
            <a:gdLst/>
            <a:ahLst/>
            <a:cxnLst/>
            <a:rect l="l" t="t" r="r" b="b"/>
            <a:pathLst>
              <a:path w="5435600" h="1016000">
                <a:moveTo>
                  <a:pt x="101600" y="0"/>
                </a:moveTo>
                <a:lnTo>
                  <a:pt x="5334000" y="0"/>
                </a:lnTo>
                <a:cubicBezTo>
                  <a:pt x="5390075" y="0"/>
                  <a:pt x="5435600" y="45525"/>
                  <a:pt x="5435600" y="101600"/>
                </a:cubicBezTo>
                <a:lnTo>
                  <a:pt x="5435600" y="914400"/>
                </a:lnTo>
                <a:cubicBezTo>
                  <a:pt x="5435600" y="970475"/>
                  <a:pt x="5390075" y="1016000"/>
                  <a:pt x="5334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43400"/>
            <a:ext cx="502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以服务系统取代一次性产品，是设计对资本—消费模式的修正，也是未来设计师的新责任。</a:t>
            </a:r>
            <a:endParaRPr lang="en-US" sz="1600" dirty="0"/>
          </a:p>
        </p:txBody>
      </p:sp>
      <p:pic>
        <p:nvPicPr>
          <p:cNvPr id="7" name="Image 0" descr="https://kimi-web-img.moonshot.cn/img/thumbs.dreamstime.com/763a56b51488721c4a9a88efa5705bccb8e949df.jpg"/>
          <p:cNvPicPr>
            <a:picLocks noChangeAspect="1"/>
          </p:cNvPicPr>
          <p:nvPr/>
        </p:nvPicPr>
        <p:blipFill>
          <a:blip r:embed="rId3"/>
          <a:srcRect l="21135" r="21135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人为事物：设计的镜像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76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人工物诞生：目的性如何刻进石头</a:t>
            </a:r>
            <a:endParaRPr lang="en-US" sz="1600" dirty="0"/>
          </a:p>
        </p:txBody>
      </p:sp>
      <p:pic>
        <p:nvPicPr>
          <p:cNvPr id="3" name="Image 0" descr="https://kimi-web-img.moonshot.cn/img/www.lesbonsprofs.com/972b1e5921027d7d9929001d8a2bc8cb834f56d9.png"/>
          <p:cNvPicPr>
            <a:picLocks noChangeAspect="1"/>
          </p:cNvPicPr>
          <p:nvPr/>
        </p:nvPicPr>
        <p:blipFill>
          <a:blip r:embed="rId3"/>
          <a:srcRect l="8283" r="8283"/>
          <a:stretch/>
        </p:blipFill>
        <p:spPr>
          <a:xfrm>
            <a:off x="1104900" y="25400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749300" y="38608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目的：获取猎物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921000" y="3048000"/>
            <a:ext cx="196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pic>
        <p:nvPicPr>
          <p:cNvPr id="6" name="Image 1" descr="https://kimi-web-img.moonshot.cn/img/www.cnfossil.com/c2ebd83149fd9dc25760ddf3dd92b2fab05e876a.jpg"/>
          <p:cNvPicPr>
            <a:picLocks noChangeAspect="1"/>
          </p:cNvPicPr>
          <p:nvPr/>
        </p:nvPicPr>
        <p:blipFill>
          <a:blip r:embed="rId4"/>
          <a:srcRect l="21642" r="21642"/>
          <a:stretch/>
        </p:blipFill>
        <p:spPr>
          <a:xfrm>
            <a:off x="5486400" y="25400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7" name="Text 3"/>
          <p:cNvSpPr/>
          <p:nvPr/>
        </p:nvSpPr>
        <p:spPr>
          <a:xfrm>
            <a:off x="5130800" y="38608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创造：磨制石器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02500" y="3048000"/>
            <a:ext cx="196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pic>
        <p:nvPicPr>
          <p:cNvPr id="9" name="Image 2" descr="https://kimi-web-img.moonshot.cn/img/images.twinkl.co.uk/76c572c1825e5d4d5258b29c2abeca85d334d67e.jpg"/>
          <p:cNvPicPr>
            <a:picLocks noChangeAspect="1"/>
          </p:cNvPicPr>
          <p:nvPr/>
        </p:nvPicPr>
        <p:blipFill>
          <a:blip r:embed="rId5"/>
          <a:srcRect l="25000" r="25000"/>
          <a:stretch/>
        </p:blipFill>
        <p:spPr>
          <a:xfrm>
            <a:off x="9867900" y="25400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9512300" y="38608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手段：狩猎工具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254000" y="45720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254000" y="4572000"/>
            <a:ext cx="11684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先民第一次有意识地砸碎石块，标志着“人工物”脱离自然状态，天生携带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“目的性”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，成为文化世界的基本单元。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44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物即手段：从生存工具到欲望引擎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3200" y="2438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初始：生存手段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3200" y="2895600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房子提供庇护，车辆用于代步，工具辅助生产。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53100" y="24892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7213600" y="2311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演变：欲望象征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7600" y="2768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房子是身份符号，车辆是社会标签，消费社会蓄意制造欲望。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3886200"/>
            <a:ext cx="0" cy="17272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54000" y="3886200"/>
            <a:ext cx="11633200" cy="1727200"/>
          </a:xfrm>
          <a:custGeom>
            <a:avLst/>
            <a:gdLst/>
            <a:ahLst/>
            <a:cxnLst/>
            <a:rect l="l" t="t" r="r" b="b"/>
            <a:pathLst>
              <a:path w="11633200" h="1727200">
                <a:moveTo>
                  <a:pt x="0" y="0"/>
                </a:moveTo>
                <a:lnTo>
                  <a:pt x="11531606" y="0"/>
                </a:lnTo>
                <a:cubicBezTo>
                  <a:pt x="11587715" y="0"/>
                  <a:pt x="11633200" y="45485"/>
                  <a:pt x="11633200" y="101594"/>
                </a:cubicBezTo>
                <a:lnTo>
                  <a:pt x="11633200" y="1625606"/>
                </a:lnTo>
                <a:cubicBezTo>
                  <a:pt x="11633200" y="1681715"/>
                  <a:pt x="11587715" y="1727200"/>
                  <a:pt x="11531606" y="1727200"/>
                </a:cubicBez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4191000"/>
            <a:ext cx="1102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设计师的警醒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4699000"/>
            <a:ext cx="1102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洗衣机故障时洗衣变得痛苦，电视缺失让晚饭后无所适从。设计须警惕“拜物教”，确保手段服务于真正需求，而非人为制造的虚假欲望。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55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事的中介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146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离开“饮水”就没有“杯子”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175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西蒙区分“物”与“事”：物是实体，事是人与物的关系过程。只有“饮水”这件“事”，才使容器成为“杯子”。“事”是隐藏于物后的背景，也是呈现物态的前台。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292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设计应关注“事”背后的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时间、空间、行为、信息、意义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网络，以事论物，方能把握真实需求。</a:t>
            </a:r>
            <a:endParaRPr lang="en-US" sz="1600" dirty="0"/>
          </a:p>
        </p:txBody>
      </p:sp>
      <p:pic>
        <p:nvPicPr>
          <p:cNvPr id="6" name="Image 0" descr="https://kimi-web-img.moonshot.cn/img/gimgs2.nohat.cc/c7e3b11bb8ac4773454093ae07531620c1fff04d.jpg"/>
          <p:cNvPicPr>
            <a:picLocks noChangeAspect="1"/>
          </p:cNvPicPr>
          <p:nvPr/>
        </p:nvPicPr>
        <p:blipFill>
          <a:blip r:embed="rId3"/>
          <a:srcRect l="17896" r="17896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事物一体：道器兼备的中国系统观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28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702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6700" y="190500"/>
                </a:moveTo>
                <a:cubicBezTo>
                  <a:pt x="266700" y="169472"/>
                  <a:pt x="283772" y="152400"/>
                  <a:pt x="304800" y="152400"/>
                </a:cubicBezTo>
                <a:cubicBezTo>
                  <a:pt x="325828" y="152400"/>
                  <a:pt x="342900" y="169472"/>
                  <a:pt x="342900" y="190500"/>
                </a:cubicBezTo>
                <a:cubicBezTo>
                  <a:pt x="342900" y="211528"/>
                  <a:pt x="325828" y="228600"/>
                  <a:pt x="304800" y="228600"/>
                </a:cubicBezTo>
                <a:cubicBezTo>
                  <a:pt x="283772" y="228600"/>
                  <a:pt x="266700" y="211528"/>
                  <a:pt x="266700" y="190500"/>
                </a:cubicBezTo>
                <a:close/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304800" y="76200"/>
                </a:moveTo>
                <a:cubicBezTo>
                  <a:pt x="367903" y="76200"/>
                  <a:pt x="419100" y="127397"/>
                  <a:pt x="419100" y="190500"/>
                </a:cubicBezTo>
                <a:cubicBezTo>
                  <a:pt x="419100" y="253603"/>
                  <a:pt x="367903" y="304800"/>
                  <a:pt x="304800" y="304800"/>
                </a:cubicBezTo>
                <a:cubicBezTo>
                  <a:pt x="241697" y="304800"/>
                  <a:pt x="190500" y="355997"/>
                  <a:pt x="190500" y="419100"/>
                </a:cubicBezTo>
                <a:cubicBezTo>
                  <a:pt x="190500" y="482203"/>
                  <a:pt x="241697" y="533400"/>
                  <a:pt x="304800" y="533400"/>
                </a:cubicBezTo>
                <a:cubicBezTo>
                  <a:pt x="178594" y="533400"/>
                  <a:pt x="76200" y="431006"/>
                  <a:pt x="76200" y="304800"/>
                </a:cubicBezTo>
                <a:cubicBezTo>
                  <a:pt x="76200" y="178594"/>
                  <a:pt x="178594" y="76200"/>
                  <a:pt x="304800" y="76200"/>
                </a:cubicBezTo>
                <a:close/>
                <a:moveTo>
                  <a:pt x="266700" y="419100"/>
                </a:moveTo>
                <a:cubicBezTo>
                  <a:pt x="266700" y="398072"/>
                  <a:pt x="283772" y="381000"/>
                  <a:pt x="304800" y="381000"/>
                </a:cubicBezTo>
                <a:cubicBezTo>
                  <a:pt x="325828" y="381000"/>
                  <a:pt x="342900" y="398072"/>
                  <a:pt x="342900" y="419100"/>
                </a:cubicBezTo>
                <a:cubicBezTo>
                  <a:pt x="342900" y="440128"/>
                  <a:pt x="325828" y="457200"/>
                  <a:pt x="304800" y="457200"/>
                </a:cubicBezTo>
                <a:cubicBezTo>
                  <a:pt x="283772" y="457200"/>
                  <a:pt x="266700" y="440128"/>
                  <a:pt x="266700" y="4191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413000" y="3454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道器不离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39116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中国文明讲“道器兼备”，器物是行道之具。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88000" y="228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912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76200"/>
                </a:moveTo>
                <a:cubicBezTo>
                  <a:pt x="228600" y="55126"/>
                  <a:pt x="245626" y="38100"/>
                  <a:pt x="266700" y="38100"/>
                </a:cubicBezTo>
                <a:lnTo>
                  <a:pt x="342900" y="38100"/>
                </a:lnTo>
                <a:cubicBezTo>
                  <a:pt x="363974" y="38100"/>
                  <a:pt x="381000" y="55126"/>
                  <a:pt x="381000" y="76200"/>
                </a:cubicBezTo>
                <a:lnTo>
                  <a:pt x="381000" y="152400"/>
                </a:lnTo>
                <a:cubicBezTo>
                  <a:pt x="381000" y="173474"/>
                  <a:pt x="363974" y="190500"/>
                  <a:pt x="342900" y="190500"/>
                </a:cubicBezTo>
                <a:lnTo>
                  <a:pt x="333375" y="190500"/>
                </a:lnTo>
                <a:lnTo>
                  <a:pt x="333375" y="266700"/>
                </a:lnTo>
                <a:lnTo>
                  <a:pt x="476250" y="266700"/>
                </a:lnTo>
                <a:cubicBezTo>
                  <a:pt x="523637" y="266700"/>
                  <a:pt x="561975" y="305038"/>
                  <a:pt x="561975" y="352425"/>
                </a:cubicBezTo>
                <a:lnTo>
                  <a:pt x="561975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lnTo>
                  <a:pt x="609600" y="533400"/>
                </a:lnTo>
                <a:cubicBezTo>
                  <a:pt x="609600" y="554474"/>
                  <a:pt x="592574" y="571500"/>
                  <a:pt x="571500" y="571500"/>
                </a:cubicBezTo>
                <a:lnTo>
                  <a:pt x="495300" y="571500"/>
                </a:lnTo>
                <a:cubicBezTo>
                  <a:pt x="474226" y="571500"/>
                  <a:pt x="457200" y="554474"/>
                  <a:pt x="457200" y="533400"/>
                </a:cubicBezTo>
                <a:lnTo>
                  <a:pt x="457200" y="457200"/>
                </a:lnTo>
                <a:cubicBezTo>
                  <a:pt x="457200" y="436126"/>
                  <a:pt x="474226" y="419100"/>
                  <a:pt x="495300" y="419100"/>
                </a:cubicBezTo>
                <a:lnTo>
                  <a:pt x="504825" y="419100"/>
                </a:lnTo>
                <a:lnTo>
                  <a:pt x="504825" y="352425"/>
                </a:lnTo>
                <a:cubicBezTo>
                  <a:pt x="504825" y="336590"/>
                  <a:pt x="492085" y="323850"/>
                  <a:pt x="476250" y="323850"/>
                </a:cubicBezTo>
                <a:lnTo>
                  <a:pt x="333375" y="323850"/>
                </a:lnTo>
                <a:lnTo>
                  <a:pt x="333375" y="419100"/>
                </a:lnTo>
                <a:lnTo>
                  <a:pt x="342900" y="419100"/>
                </a:lnTo>
                <a:cubicBezTo>
                  <a:pt x="363974" y="419100"/>
                  <a:pt x="381000" y="436126"/>
                  <a:pt x="381000" y="457200"/>
                </a:cubicBezTo>
                <a:lnTo>
                  <a:pt x="381000" y="533400"/>
                </a:lnTo>
                <a:cubicBezTo>
                  <a:pt x="381000" y="554474"/>
                  <a:pt x="363974" y="571500"/>
                  <a:pt x="342900" y="571500"/>
                </a:cubicBezTo>
                <a:lnTo>
                  <a:pt x="266700" y="571500"/>
                </a:lnTo>
                <a:cubicBezTo>
                  <a:pt x="245626" y="571500"/>
                  <a:pt x="228600" y="554474"/>
                  <a:pt x="228600" y="533400"/>
                </a:cubicBezTo>
                <a:lnTo>
                  <a:pt x="228600" y="457200"/>
                </a:lnTo>
                <a:cubicBezTo>
                  <a:pt x="228600" y="436126"/>
                  <a:pt x="245626" y="419100"/>
                  <a:pt x="266700" y="419100"/>
                </a:cubicBezTo>
                <a:lnTo>
                  <a:pt x="276225" y="419100"/>
                </a:lnTo>
                <a:lnTo>
                  <a:pt x="276225" y="323850"/>
                </a:lnTo>
                <a:lnTo>
                  <a:pt x="133350" y="323850"/>
                </a:lnTo>
                <a:cubicBezTo>
                  <a:pt x="117515" y="323850"/>
                  <a:pt x="104775" y="336590"/>
                  <a:pt x="104775" y="352425"/>
                </a:cubicBezTo>
                <a:lnTo>
                  <a:pt x="104775" y="419100"/>
                </a:lnTo>
                <a:lnTo>
                  <a:pt x="114300" y="419100"/>
                </a:lnTo>
                <a:cubicBezTo>
                  <a:pt x="135374" y="419100"/>
                  <a:pt x="152400" y="436126"/>
                  <a:pt x="152400" y="457200"/>
                </a:cubicBezTo>
                <a:lnTo>
                  <a:pt x="152400" y="533400"/>
                </a:lnTo>
                <a:cubicBezTo>
                  <a:pt x="152400" y="554474"/>
                  <a:pt x="135374" y="571500"/>
                  <a:pt x="114300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57200"/>
                </a:lnTo>
                <a:cubicBezTo>
                  <a:pt x="0" y="436126"/>
                  <a:pt x="17026" y="419100"/>
                  <a:pt x="38100" y="419100"/>
                </a:cubicBezTo>
                <a:lnTo>
                  <a:pt x="47625" y="419100"/>
                </a:lnTo>
                <a:lnTo>
                  <a:pt x="47625" y="352425"/>
                </a:lnTo>
                <a:cubicBezTo>
                  <a:pt x="47625" y="305038"/>
                  <a:pt x="85963" y="266700"/>
                  <a:pt x="133350" y="266700"/>
                </a:cubicBezTo>
                <a:lnTo>
                  <a:pt x="276225" y="266700"/>
                </a:lnTo>
                <a:lnTo>
                  <a:pt x="276225" y="190500"/>
                </a:lnTo>
                <a:lnTo>
                  <a:pt x="266700" y="190500"/>
                </a:lnTo>
                <a:cubicBezTo>
                  <a:pt x="245626" y="190500"/>
                  <a:pt x="228600" y="173474"/>
                  <a:pt x="228600" y="152400"/>
                </a:cubicBezTo>
                <a:lnTo>
                  <a:pt x="228600" y="7620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3454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关系定向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5500" y="39116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研究“属性表现出的关系”，把物放回生活场景。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9000" y="2286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12200" y="2489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38138" y="-1548"/>
                </a:moveTo>
                <a:cubicBezTo>
                  <a:pt x="317540" y="-13454"/>
                  <a:pt x="292060" y="-13454"/>
                  <a:pt x="271463" y="-1548"/>
                </a:cubicBezTo>
                <a:lnTo>
                  <a:pt x="171212" y="56317"/>
                </a:lnTo>
                <a:cubicBezTo>
                  <a:pt x="150614" y="68223"/>
                  <a:pt x="137874" y="90249"/>
                  <a:pt x="137874" y="114062"/>
                </a:cubicBezTo>
                <a:lnTo>
                  <a:pt x="137874" y="235387"/>
                </a:lnTo>
                <a:lnTo>
                  <a:pt x="32742" y="296108"/>
                </a:lnTo>
                <a:cubicBezTo>
                  <a:pt x="12144" y="308015"/>
                  <a:pt x="-595" y="330041"/>
                  <a:pt x="-595" y="353854"/>
                </a:cubicBezTo>
                <a:lnTo>
                  <a:pt x="-595" y="469702"/>
                </a:lnTo>
                <a:cubicBezTo>
                  <a:pt x="-595" y="493514"/>
                  <a:pt x="12144" y="515541"/>
                  <a:pt x="32742" y="527447"/>
                </a:cubicBezTo>
                <a:lnTo>
                  <a:pt x="133112" y="585311"/>
                </a:lnTo>
                <a:cubicBezTo>
                  <a:pt x="153710" y="597218"/>
                  <a:pt x="179189" y="597218"/>
                  <a:pt x="199787" y="585311"/>
                </a:cubicBezTo>
                <a:lnTo>
                  <a:pt x="304919" y="524589"/>
                </a:lnTo>
                <a:lnTo>
                  <a:pt x="410051" y="585311"/>
                </a:lnTo>
                <a:cubicBezTo>
                  <a:pt x="430649" y="597218"/>
                  <a:pt x="456128" y="597218"/>
                  <a:pt x="476726" y="585311"/>
                </a:cubicBezTo>
                <a:lnTo>
                  <a:pt x="576858" y="527447"/>
                </a:lnTo>
                <a:cubicBezTo>
                  <a:pt x="597456" y="515541"/>
                  <a:pt x="610195" y="493514"/>
                  <a:pt x="610195" y="469702"/>
                </a:cubicBezTo>
                <a:lnTo>
                  <a:pt x="610195" y="353854"/>
                </a:lnTo>
                <a:cubicBezTo>
                  <a:pt x="610195" y="330041"/>
                  <a:pt x="597456" y="308015"/>
                  <a:pt x="576858" y="296108"/>
                </a:cubicBezTo>
                <a:lnTo>
                  <a:pt x="471726" y="235387"/>
                </a:lnTo>
                <a:lnTo>
                  <a:pt x="471726" y="114062"/>
                </a:lnTo>
                <a:cubicBezTo>
                  <a:pt x="471726" y="90249"/>
                  <a:pt x="458986" y="68223"/>
                  <a:pt x="438388" y="56317"/>
                </a:cubicBezTo>
                <a:lnTo>
                  <a:pt x="338138" y="-1548"/>
                </a:lnTo>
                <a:close/>
                <a:moveTo>
                  <a:pt x="276225" y="348377"/>
                </a:moveTo>
                <a:lnTo>
                  <a:pt x="276225" y="475178"/>
                </a:lnTo>
                <a:lnTo>
                  <a:pt x="171093" y="535900"/>
                </a:lnTo>
                <a:cubicBezTo>
                  <a:pt x="169664" y="536734"/>
                  <a:pt x="167997" y="537210"/>
                  <a:pt x="166330" y="537210"/>
                </a:cubicBezTo>
                <a:lnTo>
                  <a:pt x="166330" y="411837"/>
                </a:lnTo>
                <a:lnTo>
                  <a:pt x="276225" y="348377"/>
                </a:lnTo>
                <a:close/>
                <a:moveTo>
                  <a:pt x="551736" y="349091"/>
                </a:moveTo>
                <a:cubicBezTo>
                  <a:pt x="552569" y="350520"/>
                  <a:pt x="553045" y="352187"/>
                  <a:pt x="553045" y="353854"/>
                </a:cubicBezTo>
                <a:lnTo>
                  <a:pt x="553045" y="469702"/>
                </a:lnTo>
                <a:cubicBezTo>
                  <a:pt x="553045" y="473154"/>
                  <a:pt x="551259" y="476250"/>
                  <a:pt x="548283" y="477917"/>
                </a:cubicBezTo>
                <a:lnTo>
                  <a:pt x="447913" y="535781"/>
                </a:lnTo>
                <a:cubicBezTo>
                  <a:pt x="446484" y="536615"/>
                  <a:pt x="444817" y="537091"/>
                  <a:pt x="443151" y="537091"/>
                </a:cubicBezTo>
                <a:lnTo>
                  <a:pt x="443151" y="411718"/>
                </a:lnTo>
                <a:lnTo>
                  <a:pt x="551736" y="349091"/>
                </a:lnTo>
                <a:close/>
                <a:moveTo>
                  <a:pt x="414695" y="114062"/>
                </a:moveTo>
                <a:lnTo>
                  <a:pt x="414695" y="235387"/>
                </a:lnTo>
                <a:lnTo>
                  <a:pt x="304800" y="298847"/>
                </a:lnTo>
                <a:lnTo>
                  <a:pt x="304800" y="172045"/>
                </a:lnTo>
                <a:lnTo>
                  <a:pt x="413385" y="109418"/>
                </a:lnTo>
                <a:cubicBezTo>
                  <a:pt x="414218" y="110847"/>
                  <a:pt x="414695" y="112514"/>
                  <a:pt x="414695" y="114181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255000" y="3454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系统统一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56500" y="39116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实体性要素与关系性要素的统一，避免割裂。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4000" y="48260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826000"/>
            <a:ext cx="12192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设计应回归“关系定向”思维，把物放回生活场景，才能避免只见树木不见森林，为“系统层次设计”提供哲学支撑。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设计与科学·技术·艺术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660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三角张力：真、美、手段的拉锯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082800" y="1320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492375" y="152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57175" y="0"/>
                </a:moveTo>
                <a:lnTo>
                  <a:pt x="114300" y="0"/>
                </a:lnTo>
                <a:cubicBezTo>
                  <a:pt x="98494" y="0"/>
                  <a:pt x="85725" y="12769"/>
                  <a:pt x="85725" y="28575"/>
                </a:cubicBezTo>
                <a:cubicBezTo>
                  <a:pt x="85725" y="44381"/>
                  <a:pt x="98494" y="57150"/>
                  <a:pt x="114300" y="57150"/>
                </a:cubicBezTo>
                <a:lnTo>
                  <a:pt x="114300" y="192435"/>
                </a:lnTo>
                <a:lnTo>
                  <a:pt x="6697" y="380673"/>
                </a:lnTo>
                <a:cubicBezTo>
                  <a:pt x="2322" y="388441"/>
                  <a:pt x="0" y="397103"/>
                  <a:pt x="0" y="406033"/>
                </a:cubicBezTo>
                <a:cubicBezTo>
                  <a:pt x="0" y="434340"/>
                  <a:pt x="22860" y="457200"/>
                  <a:pt x="51167" y="457200"/>
                </a:cubicBezTo>
                <a:lnTo>
                  <a:pt x="348883" y="457200"/>
                </a:lnTo>
                <a:cubicBezTo>
                  <a:pt x="377101" y="457200"/>
                  <a:pt x="400050" y="434340"/>
                  <a:pt x="400050" y="406033"/>
                </a:cubicBezTo>
                <a:cubicBezTo>
                  <a:pt x="400050" y="397103"/>
                  <a:pt x="397728" y="388352"/>
                  <a:pt x="393353" y="380673"/>
                </a:cubicBezTo>
                <a:lnTo>
                  <a:pt x="285750" y="192435"/>
                </a:lnTo>
                <a:lnTo>
                  <a:pt x="285750" y="57150"/>
                </a:lnTo>
                <a:cubicBezTo>
                  <a:pt x="301556" y="57150"/>
                  <a:pt x="314325" y="44381"/>
                  <a:pt x="314325" y="28575"/>
                </a:cubicBezTo>
                <a:cubicBezTo>
                  <a:pt x="314325" y="12769"/>
                  <a:pt x="301556" y="0"/>
                  <a:pt x="285750" y="0"/>
                </a:cubicBezTo>
                <a:lnTo>
                  <a:pt x="257175" y="0"/>
                </a:lnTo>
                <a:close/>
                <a:moveTo>
                  <a:pt x="171450" y="192435"/>
                </a:moveTo>
                <a:lnTo>
                  <a:pt x="171450" y="57150"/>
                </a:lnTo>
                <a:lnTo>
                  <a:pt x="228600" y="57150"/>
                </a:lnTo>
                <a:lnTo>
                  <a:pt x="228600" y="192435"/>
                </a:lnTo>
                <a:cubicBezTo>
                  <a:pt x="228600" y="202347"/>
                  <a:pt x="231190" y="212169"/>
                  <a:pt x="236101" y="220831"/>
                </a:cubicBezTo>
                <a:lnTo>
                  <a:pt x="273248" y="285750"/>
                </a:lnTo>
                <a:lnTo>
                  <a:pt x="126802" y="285750"/>
                </a:lnTo>
                <a:lnTo>
                  <a:pt x="163949" y="220831"/>
                </a:lnTo>
                <a:cubicBezTo>
                  <a:pt x="168860" y="212169"/>
                  <a:pt x="171450" y="202436"/>
                  <a:pt x="171450" y="19243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287588" y="2032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 (真)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4165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436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28600"/>
                </a:moveTo>
                <a:cubicBezTo>
                  <a:pt x="457200" y="229404"/>
                  <a:pt x="457200" y="230207"/>
                  <a:pt x="457200" y="231011"/>
                </a:cubicBezTo>
                <a:cubicBezTo>
                  <a:pt x="456843" y="263604"/>
                  <a:pt x="427196" y="285750"/>
                  <a:pt x="394603" y="285750"/>
                </a:cubicBezTo>
                <a:lnTo>
                  <a:pt x="307181" y="285750"/>
                </a:lnTo>
                <a:cubicBezTo>
                  <a:pt x="283518" y="285750"/>
                  <a:pt x="264319" y="304949"/>
                  <a:pt x="264319" y="328613"/>
                </a:cubicBezTo>
                <a:cubicBezTo>
                  <a:pt x="264319" y="331649"/>
                  <a:pt x="264676" y="334595"/>
                  <a:pt x="265212" y="337453"/>
                </a:cubicBezTo>
                <a:cubicBezTo>
                  <a:pt x="267087" y="346561"/>
                  <a:pt x="271016" y="355312"/>
                  <a:pt x="274856" y="364153"/>
                </a:cubicBezTo>
                <a:cubicBezTo>
                  <a:pt x="280303" y="376476"/>
                  <a:pt x="285661" y="388709"/>
                  <a:pt x="285661" y="401657"/>
                </a:cubicBezTo>
                <a:cubicBezTo>
                  <a:pt x="285661" y="430054"/>
                  <a:pt x="266373" y="455861"/>
                  <a:pt x="237976" y="457021"/>
                </a:cubicBezTo>
                <a:cubicBezTo>
                  <a:pt x="234851" y="457111"/>
                  <a:pt x="231725" y="457200"/>
                  <a:pt x="228511" y="457200"/>
                </a:cubicBezTo>
                <a:cubicBezTo>
                  <a:pt x="102245" y="457200"/>
                  <a:pt x="-89" y="354866"/>
                  <a:pt x="-89" y="228600"/>
                </a:cubicBezTo>
                <a:cubicBezTo>
                  <a:pt x="-89" y="102334"/>
                  <a:pt x="102334" y="0"/>
                  <a:pt x="228600" y="0"/>
                </a:cubicBezTo>
                <a:cubicBezTo>
                  <a:pt x="354866" y="0"/>
                  <a:pt x="457200" y="102334"/>
                  <a:pt x="457200" y="228600"/>
                </a:cubicBezTo>
                <a:close/>
                <a:moveTo>
                  <a:pt x="114300" y="257175"/>
                </a:moveTo>
                <a:cubicBezTo>
                  <a:pt x="114300" y="241404"/>
                  <a:pt x="101496" y="228600"/>
                  <a:pt x="85725" y="228600"/>
                </a:cubicBezTo>
                <a:cubicBezTo>
                  <a:pt x="69954" y="228600"/>
                  <a:pt x="57150" y="241404"/>
                  <a:pt x="57150" y="257175"/>
                </a:cubicBezTo>
                <a:cubicBezTo>
                  <a:pt x="57150" y="272946"/>
                  <a:pt x="69954" y="285750"/>
                  <a:pt x="85725" y="285750"/>
                </a:cubicBezTo>
                <a:cubicBezTo>
                  <a:pt x="101496" y="285750"/>
                  <a:pt x="114300" y="272946"/>
                  <a:pt x="114300" y="257175"/>
                </a:cubicBezTo>
                <a:close/>
                <a:moveTo>
                  <a:pt x="114300" y="171450"/>
                </a:moveTo>
                <a:cubicBezTo>
                  <a:pt x="130071" y="171450"/>
                  <a:pt x="142875" y="158646"/>
                  <a:pt x="142875" y="142875"/>
                </a:cubicBezTo>
                <a:cubicBezTo>
                  <a:pt x="142875" y="127104"/>
                  <a:pt x="130071" y="114300"/>
                  <a:pt x="114300" y="114300"/>
                </a:cubicBezTo>
                <a:cubicBezTo>
                  <a:pt x="98529" y="114300"/>
                  <a:pt x="85725" y="127104"/>
                  <a:pt x="85725" y="142875"/>
                </a:cubicBezTo>
                <a:cubicBezTo>
                  <a:pt x="85725" y="158646"/>
                  <a:pt x="98529" y="171450"/>
                  <a:pt x="114300" y="17145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342900" y="171450"/>
                </a:moveTo>
                <a:cubicBezTo>
                  <a:pt x="358671" y="171450"/>
                  <a:pt x="371475" y="158646"/>
                  <a:pt x="371475" y="142875"/>
                </a:cubicBezTo>
                <a:cubicBezTo>
                  <a:pt x="371475" y="127104"/>
                  <a:pt x="358671" y="114300"/>
                  <a:pt x="342900" y="114300"/>
                </a:cubicBezTo>
                <a:cubicBezTo>
                  <a:pt x="327129" y="114300"/>
                  <a:pt x="314325" y="127104"/>
                  <a:pt x="314325" y="142875"/>
                </a:cubicBezTo>
                <a:cubicBezTo>
                  <a:pt x="314325" y="158646"/>
                  <a:pt x="327129" y="171450"/>
                  <a:pt x="342900" y="17145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Text 6"/>
          <p:cNvSpPr/>
          <p:nvPr/>
        </p:nvSpPr>
        <p:spPr>
          <a:xfrm>
            <a:off x="458788" y="4876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艺术 (美)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11600" y="4165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235450" y="4368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1" name="Text 9"/>
          <p:cNvSpPr/>
          <p:nvPr/>
        </p:nvSpPr>
        <p:spPr>
          <a:xfrm>
            <a:off x="4014788" y="4876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 (手段)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79600" y="2540000"/>
            <a:ext cx="1562100" cy="1562100"/>
          </a:xfrm>
          <a:custGeom>
            <a:avLst/>
            <a:gdLst/>
            <a:ahLst/>
            <a:cxnLst/>
            <a:rect l="l" t="t" r="r" b="b"/>
            <a:pathLst>
              <a:path w="1562100" h="1562100">
                <a:moveTo>
                  <a:pt x="781050" y="0"/>
                </a:moveTo>
                <a:lnTo>
                  <a:pt x="781050" y="0"/>
                </a:lnTo>
                <a:cubicBezTo>
                  <a:pt x="1212123" y="0"/>
                  <a:pt x="1562100" y="349977"/>
                  <a:pt x="1562100" y="781050"/>
                </a:cubicBezTo>
                <a:lnTo>
                  <a:pt x="1562100" y="781050"/>
                </a:lnTo>
                <a:cubicBezTo>
                  <a:pt x="1562100" y="1212123"/>
                  <a:pt x="1212123" y="1562100"/>
                  <a:pt x="781050" y="1562100"/>
                </a:cubicBezTo>
                <a:lnTo>
                  <a:pt x="781050" y="1562100"/>
                </a:lnTo>
                <a:cubicBezTo>
                  <a:pt x="349977" y="1562100"/>
                  <a:pt x="0" y="1212123"/>
                  <a:pt x="0" y="781050"/>
                </a:cubicBezTo>
                <a:lnTo>
                  <a:pt x="0" y="781050"/>
                </a:lnTo>
                <a:cubicBezTo>
                  <a:pt x="0" y="349977"/>
                  <a:pt x="349977" y="0"/>
                  <a:pt x="781050" y="0"/>
                </a:cubicBezTo>
                <a:close/>
              </a:path>
            </a:pathLst>
          </a:custGeom>
          <a:solidFill>
            <a:srgbClr val="FFFFFF"/>
          </a:solidFill>
          <a:ln w="30480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3800" y="294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759" y="0"/>
                </a:moveTo>
                <a:cubicBezTo>
                  <a:pt x="377904" y="0"/>
                  <a:pt x="394335" y="6787"/>
                  <a:pt x="406390" y="18931"/>
                </a:cubicBezTo>
                <a:lnTo>
                  <a:pt x="438269" y="50810"/>
                </a:lnTo>
                <a:cubicBezTo>
                  <a:pt x="450413" y="62865"/>
                  <a:pt x="457200" y="79296"/>
                  <a:pt x="457200" y="96441"/>
                </a:cubicBezTo>
                <a:cubicBezTo>
                  <a:pt x="457200" y="113586"/>
                  <a:pt x="450413" y="130016"/>
                  <a:pt x="438269" y="142071"/>
                </a:cubicBezTo>
                <a:lnTo>
                  <a:pt x="398175" y="182166"/>
                </a:lnTo>
                <a:lnTo>
                  <a:pt x="275034" y="59025"/>
                </a:lnTo>
                <a:lnTo>
                  <a:pt x="315129" y="18931"/>
                </a:lnTo>
                <a:cubicBezTo>
                  <a:pt x="327184" y="6787"/>
                  <a:pt x="343614" y="0"/>
                  <a:pt x="360759" y="0"/>
                </a:cubicBezTo>
                <a:close/>
                <a:moveTo>
                  <a:pt x="52596" y="281374"/>
                </a:moveTo>
                <a:lnTo>
                  <a:pt x="244763" y="89297"/>
                </a:lnTo>
                <a:lnTo>
                  <a:pt x="367903" y="212437"/>
                </a:lnTo>
                <a:lnTo>
                  <a:pt x="175826" y="404604"/>
                </a:lnTo>
                <a:cubicBezTo>
                  <a:pt x="166271" y="414159"/>
                  <a:pt x="154305" y="421124"/>
                  <a:pt x="141268" y="424785"/>
                </a:cubicBezTo>
                <a:lnTo>
                  <a:pt x="27146" y="456396"/>
                </a:lnTo>
                <a:cubicBezTo>
                  <a:pt x="19735" y="458450"/>
                  <a:pt x="11698" y="456396"/>
                  <a:pt x="6251" y="450860"/>
                </a:cubicBezTo>
                <a:cubicBezTo>
                  <a:pt x="804" y="445324"/>
                  <a:pt x="-1339" y="437376"/>
                  <a:pt x="714" y="429964"/>
                </a:cubicBezTo>
                <a:lnTo>
                  <a:pt x="32504" y="315932"/>
                </a:lnTo>
                <a:cubicBezTo>
                  <a:pt x="36165" y="302895"/>
                  <a:pt x="43041" y="291019"/>
                  <a:pt x="52685" y="281374"/>
                </a:cubicBezTo>
                <a:close/>
                <a:moveTo>
                  <a:pt x="201275" y="72152"/>
                </a:moveTo>
                <a:lnTo>
                  <a:pt x="72152" y="201275"/>
                </a:lnTo>
                <a:lnTo>
                  <a:pt x="10448" y="139571"/>
                </a:lnTo>
                <a:cubicBezTo>
                  <a:pt x="-3483" y="125641"/>
                  <a:pt x="-3483" y="103049"/>
                  <a:pt x="10448" y="89029"/>
                </a:cubicBezTo>
                <a:lnTo>
                  <a:pt x="89029" y="10448"/>
                </a:lnTo>
                <a:cubicBezTo>
                  <a:pt x="102959" y="-3483"/>
                  <a:pt x="125551" y="-3483"/>
                  <a:pt x="139571" y="10448"/>
                </a:cubicBezTo>
                <a:lnTo>
                  <a:pt x="144840" y="15716"/>
                </a:lnTo>
                <a:lnTo>
                  <a:pt x="94565" y="65990"/>
                </a:lnTo>
                <a:cubicBezTo>
                  <a:pt x="87600" y="72956"/>
                  <a:pt x="87600" y="84296"/>
                  <a:pt x="94565" y="91261"/>
                </a:cubicBezTo>
                <a:cubicBezTo>
                  <a:pt x="101531" y="98227"/>
                  <a:pt x="112871" y="98227"/>
                  <a:pt x="119836" y="91261"/>
                </a:cubicBezTo>
                <a:lnTo>
                  <a:pt x="170111" y="40987"/>
                </a:lnTo>
                <a:lnTo>
                  <a:pt x="201275" y="72152"/>
                </a:lnTo>
                <a:close/>
                <a:moveTo>
                  <a:pt x="385048" y="255925"/>
                </a:moveTo>
                <a:lnTo>
                  <a:pt x="416213" y="287089"/>
                </a:lnTo>
                <a:lnTo>
                  <a:pt x="365939" y="337364"/>
                </a:lnTo>
                <a:cubicBezTo>
                  <a:pt x="358973" y="344329"/>
                  <a:pt x="358973" y="355669"/>
                  <a:pt x="365939" y="362635"/>
                </a:cubicBezTo>
                <a:cubicBezTo>
                  <a:pt x="372904" y="369600"/>
                  <a:pt x="384244" y="369600"/>
                  <a:pt x="391210" y="362635"/>
                </a:cubicBezTo>
                <a:lnTo>
                  <a:pt x="441484" y="312360"/>
                </a:lnTo>
                <a:lnTo>
                  <a:pt x="446752" y="317629"/>
                </a:lnTo>
                <a:cubicBezTo>
                  <a:pt x="460683" y="331559"/>
                  <a:pt x="460683" y="354151"/>
                  <a:pt x="446752" y="368171"/>
                </a:cubicBezTo>
                <a:lnTo>
                  <a:pt x="368171" y="446752"/>
                </a:lnTo>
                <a:cubicBezTo>
                  <a:pt x="354241" y="460683"/>
                  <a:pt x="331649" y="460683"/>
                  <a:pt x="317629" y="446752"/>
                </a:cubicBezTo>
                <a:lnTo>
                  <a:pt x="255925" y="385048"/>
                </a:lnTo>
                <a:lnTo>
                  <a:pt x="385048" y="25592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24892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4000" y="55880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54000" y="5588000"/>
            <a:ext cx="11684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设计在张力中寻求超越：既借助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科学方法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又依赖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艺术想象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，在真、美、手段的博弈中完成综合创造。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0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设计科学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606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西蒙的第三类知识体系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921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西蒙提出“设计科学”研究‘应该怎样’，独立于‘是什么’的科学和‘可以怎样’的技术。它旨在揭示人类设计技能的普遍规律，为跨学科理论提供依据。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4140200"/>
            <a:ext cx="5435600" cy="1016000"/>
          </a:xfrm>
          <a:custGeom>
            <a:avLst/>
            <a:gdLst/>
            <a:ahLst/>
            <a:cxnLst/>
            <a:rect l="l" t="t" r="r" b="b"/>
            <a:pathLst>
              <a:path w="5435600" h="1016000">
                <a:moveTo>
                  <a:pt x="101600" y="0"/>
                </a:moveTo>
                <a:lnTo>
                  <a:pt x="5334000" y="0"/>
                </a:lnTo>
                <a:cubicBezTo>
                  <a:pt x="5390075" y="0"/>
                  <a:pt x="5435600" y="45525"/>
                  <a:pt x="5435600" y="101600"/>
                </a:cubicBezTo>
                <a:lnTo>
                  <a:pt x="5435600" y="914400"/>
                </a:lnTo>
                <a:cubicBezTo>
                  <a:pt x="5435600" y="970475"/>
                  <a:pt x="5390075" y="1016000"/>
                  <a:pt x="5334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43400"/>
            <a:ext cx="502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设计科学 ≠ 经验性方法 ≠ 技术手段，它是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目标导向的、体系化的规律性知识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pic>
        <p:nvPicPr>
          <p:cNvPr id="7" name="Image 0" descr="https://kimi-web-img.moonshot.cn/img/c8.alamy.com/4520fa4719df7921c1035d0e3ddbf7ef779ea1c7.jpg"/>
          <p:cNvPicPr>
            <a:picLocks noChangeAspect="1"/>
          </p:cNvPicPr>
          <p:nvPr/>
        </p:nvPicPr>
        <p:blipFill>
          <a:blip r:embed="rId3"/>
          <a:srcRect l="2396" r="2396"/>
          <a:stretch/>
        </p:blipFill>
        <p:spPr>
          <a:xfrm>
            <a:off x="6096000" y="1047750"/>
            <a:ext cx="58420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科技联姻：从经验技术到科学技术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03200" y="2438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前工业革命：经验技术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3200" y="2895600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来自经验并通过经验积累，如中国古代四大发明。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53100" y="24892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7213600" y="2438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后工业革命：科学技术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3600" y="2895600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由科学原理派生，如电磁、核能的应用。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3759200"/>
            <a:ext cx="0" cy="17272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54000" y="3759200"/>
            <a:ext cx="11633200" cy="1727200"/>
          </a:xfrm>
          <a:custGeom>
            <a:avLst/>
            <a:gdLst/>
            <a:ahLst/>
            <a:cxnLst/>
            <a:rect l="l" t="t" r="r" b="b"/>
            <a:pathLst>
              <a:path w="11633200" h="1727200">
                <a:moveTo>
                  <a:pt x="0" y="0"/>
                </a:moveTo>
                <a:lnTo>
                  <a:pt x="11531606" y="0"/>
                </a:lnTo>
                <a:cubicBezTo>
                  <a:pt x="11587715" y="0"/>
                  <a:pt x="11633200" y="45485"/>
                  <a:pt x="11633200" y="101594"/>
                </a:cubicBezTo>
                <a:lnTo>
                  <a:pt x="11633200" y="1625606"/>
                </a:lnTo>
                <a:cubicBezTo>
                  <a:pt x="11633200" y="1681715"/>
                  <a:pt x="11587715" y="1727200"/>
                  <a:pt x="11531606" y="1727200"/>
                </a:cubicBez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4064000"/>
            <a:ext cx="1102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设计师的启示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4572000"/>
            <a:ext cx="1102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技术是可选择、可被设计的手段。新技术甚至能反向改变设计观念，如参数化软件重塑建筑形态。设计师应主动筛选而非被动接受技术。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mos.cms.futurecdn.net/e78e94f2b38eb1e7bb640c85a4fe4cf64faacf45.jpg"/>
          <p:cNvPicPr>
            <a:picLocks noChangeAspect="1"/>
          </p:cNvPicPr>
          <p:nvPr/>
        </p:nvPicPr>
        <p:blipFill>
          <a:blip r:embed="rId3"/>
          <a:srcRect l="19295" r="19295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70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艺术与技术再融合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2606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设计作为溶合剂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29210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工业革命后，机器产品丑陋催生工艺美术运动。历史最终发现，设计是缝合审美与制造裂缝的理想溶合剂。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8354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4038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包豪斯确立了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“艺术×技术”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的现代主义公式，证明真、美、手段可在“人为事物”中再度统一，为现代设计创新范式奠基。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设计与文化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9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文化三层：器物—行为—观念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93227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15477" y="2692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28588" y="242888"/>
                </a:moveTo>
                <a:cubicBezTo>
                  <a:pt x="128588" y="200650"/>
                  <a:pt x="98048" y="165556"/>
                  <a:pt x="57864" y="158502"/>
                </a:cubicBezTo>
                <a:cubicBezTo>
                  <a:pt x="64294" y="101441"/>
                  <a:pt x="112693" y="57150"/>
                  <a:pt x="171450" y="57150"/>
                </a:cubicBezTo>
                <a:lnTo>
                  <a:pt x="400050" y="57150"/>
                </a:lnTo>
                <a:cubicBezTo>
                  <a:pt x="458807" y="57150"/>
                  <a:pt x="507206" y="101441"/>
                  <a:pt x="513636" y="158502"/>
                </a:cubicBezTo>
                <a:cubicBezTo>
                  <a:pt x="473452" y="165646"/>
                  <a:pt x="442913" y="200650"/>
                  <a:pt x="442913" y="242888"/>
                </a:cubicBezTo>
                <a:lnTo>
                  <a:pt x="442913" y="271463"/>
                </a:lnTo>
                <a:lnTo>
                  <a:pt x="128588" y="271463"/>
                </a:lnTo>
                <a:lnTo>
                  <a:pt x="128588" y="242888"/>
                </a:lnTo>
                <a:close/>
                <a:moveTo>
                  <a:pt x="0" y="342900"/>
                </a:moveTo>
                <a:lnTo>
                  <a:pt x="0" y="242888"/>
                </a:lnTo>
                <a:cubicBezTo>
                  <a:pt x="0" y="219224"/>
                  <a:pt x="19199" y="200025"/>
                  <a:pt x="42863" y="200025"/>
                </a:cubicBezTo>
                <a:cubicBezTo>
                  <a:pt x="66526" y="200025"/>
                  <a:pt x="85725" y="219224"/>
                  <a:pt x="85725" y="242888"/>
                </a:cubicBezTo>
                <a:lnTo>
                  <a:pt x="85725" y="314325"/>
                </a:lnTo>
                <a:lnTo>
                  <a:pt x="485775" y="314325"/>
                </a:lnTo>
                <a:lnTo>
                  <a:pt x="485775" y="242888"/>
                </a:lnTo>
                <a:cubicBezTo>
                  <a:pt x="485775" y="219224"/>
                  <a:pt x="504974" y="200025"/>
                  <a:pt x="528638" y="200025"/>
                </a:cubicBezTo>
                <a:cubicBezTo>
                  <a:pt x="552301" y="200025"/>
                  <a:pt x="571500" y="219224"/>
                  <a:pt x="571500" y="242888"/>
                </a:cubicBezTo>
                <a:lnTo>
                  <a:pt x="571500" y="342900"/>
                </a:lnTo>
                <a:cubicBezTo>
                  <a:pt x="571500" y="374422"/>
                  <a:pt x="545872" y="400050"/>
                  <a:pt x="514350" y="400050"/>
                </a:cubicBezTo>
                <a:lnTo>
                  <a:pt x="57150" y="400050"/>
                </a:lnTo>
                <a:cubicBezTo>
                  <a:pt x="25628" y="400050"/>
                  <a:pt x="0" y="374422"/>
                  <a:pt x="0" y="3429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441291" y="3581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器物 (炕)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0428" y="40386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技术、行为、意义的载体。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87841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95816" y="2692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57175" y="57150"/>
                </a:moveTo>
                <a:lnTo>
                  <a:pt x="314325" y="57150"/>
                </a:lnTo>
                <a:lnTo>
                  <a:pt x="314325" y="428625"/>
                </a:lnTo>
                <a:cubicBezTo>
                  <a:pt x="314325" y="444431"/>
                  <a:pt x="327094" y="457200"/>
                  <a:pt x="342900" y="457200"/>
                </a:cubicBezTo>
                <a:lnTo>
                  <a:pt x="371475" y="457200"/>
                </a:lnTo>
                <a:cubicBezTo>
                  <a:pt x="387281" y="457200"/>
                  <a:pt x="400050" y="444431"/>
                  <a:pt x="400050" y="428625"/>
                </a:cubicBezTo>
                <a:cubicBezTo>
                  <a:pt x="400050" y="412819"/>
                  <a:pt x="387281" y="400050"/>
                  <a:pt x="371475" y="400050"/>
                </a:cubicBezTo>
                <a:lnTo>
                  <a:pt x="371475" y="57150"/>
                </a:lnTo>
                <a:cubicBezTo>
                  <a:pt x="371475" y="25628"/>
                  <a:pt x="345847" y="0"/>
                  <a:pt x="314325" y="0"/>
                </a:cubicBezTo>
                <a:lnTo>
                  <a:pt x="228600" y="0"/>
                </a:lnTo>
                <a:lnTo>
                  <a:pt x="228600" y="0"/>
                </a:lnTo>
                <a:lnTo>
                  <a:pt x="85725" y="0"/>
                </a:lnTo>
                <a:cubicBezTo>
                  <a:pt x="54203" y="0"/>
                  <a:pt x="28575" y="25628"/>
                  <a:pt x="28575" y="57150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228600" y="457200"/>
                </a:lnTo>
                <a:cubicBezTo>
                  <a:pt x="244406" y="457200"/>
                  <a:pt x="257175" y="444431"/>
                  <a:pt x="257175" y="428625"/>
                </a:cubicBezTo>
                <a:lnTo>
                  <a:pt x="257175" y="57150"/>
                </a:lnTo>
                <a:close/>
                <a:moveTo>
                  <a:pt x="142875" y="228600"/>
                </a:moveTo>
                <a:cubicBezTo>
                  <a:pt x="142875" y="212829"/>
                  <a:pt x="155679" y="200025"/>
                  <a:pt x="171450" y="200025"/>
                </a:cubicBezTo>
                <a:cubicBezTo>
                  <a:pt x="187221" y="200025"/>
                  <a:pt x="200025" y="212829"/>
                  <a:pt x="200025" y="228600"/>
                </a:cubicBezTo>
                <a:cubicBezTo>
                  <a:pt x="200025" y="244371"/>
                  <a:pt x="187221" y="257175"/>
                  <a:pt x="171450" y="257175"/>
                </a:cubicBezTo>
                <a:cubicBezTo>
                  <a:pt x="155679" y="257175"/>
                  <a:pt x="142875" y="244371"/>
                  <a:pt x="142875" y="22860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5335905" y="35814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 (门)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6141" y="40386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体现礼制、规范、社会关系。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82455" y="2413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761855" y="2692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061" y="12859"/>
                </a:moveTo>
                <a:cubicBezTo>
                  <a:pt x="56346" y="5536"/>
                  <a:pt x="50185" y="0"/>
                  <a:pt x="42863" y="0"/>
                </a:cubicBezTo>
                <a:cubicBezTo>
                  <a:pt x="35540" y="0"/>
                  <a:pt x="29379" y="5536"/>
                  <a:pt x="28575" y="12769"/>
                </a:cubicBezTo>
                <a:lnTo>
                  <a:pt x="15984" y="133677"/>
                </a:lnTo>
                <a:cubicBezTo>
                  <a:pt x="14823" y="139035"/>
                  <a:pt x="14288" y="144482"/>
                  <a:pt x="14288" y="149929"/>
                </a:cubicBezTo>
                <a:cubicBezTo>
                  <a:pt x="14288" y="190917"/>
                  <a:pt x="45631" y="224582"/>
                  <a:pt x="85725" y="228243"/>
                </a:cubicBezTo>
                <a:lnTo>
                  <a:pt x="85725" y="428625"/>
                </a:lnTo>
                <a:cubicBezTo>
                  <a:pt x="85725" y="444431"/>
                  <a:pt x="98494" y="457200"/>
                  <a:pt x="114300" y="457200"/>
                </a:cubicBezTo>
                <a:cubicBezTo>
                  <a:pt x="130106" y="457200"/>
                  <a:pt x="142875" y="444431"/>
                  <a:pt x="142875" y="428625"/>
                </a:cubicBezTo>
                <a:lnTo>
                  <a:pt x="142875" y="228243"/>
                </a:lnTo>
                <a:cubicBezTo>
                  <a:pt x="182969" y="224582"/>
                  <a:pt x="214313" y="190917"/>
                  <a:pt x="214313" y="149929"/>
                </a:cubicBezTo>
                <a:cubicBezTo>
                  <a:pt x="214313" y="144482"/>
                  <a:pt x="213777" y="139035"/>
                  <a:pt x="212616" y="133677"/>
                </a:cubicBezTo>
                <a:lnTo>
                  <a:pt x="199936" y="12769"/>
                </a:lnTo>
                <a:cubicBezTo>
                  <a:pt x="199221" y="5536"/>
                  <a:pt x="193060" y="0"/>
                  <a:pt x="185738" y="0"/>
                </a:cubicBezTo>
                <a:cubicBezTo>
                  <a:pt x="178415" y="0"/>
                  <a:pt x="172254" y="5536"/>
                  <a:pt x="171539" y="12859"/>
                </a:cubicBezTo>
                <a:lnTo>
                  <a:pt x="159395" y="133856"/>
                </a:lnTo>
                <a:cubicBezTo>
                  <a:pt x="158859" y="138946"/>
                  <a:pt x="154573" y="142875"/>
                  <a:pt x="149483" y="142875"/>
                </a:cubicBezTo>
                <a:cubicBezTo>
                  <a:pt x="144304" y="142875"/>
                  <a:pt x="140018" y="138946"/>
                  <a:pt x="139482" y="133767"/>
                </a:cubicBezTo>
                <a:lnTo>
                  <a:pt x="128498" y="13037"/>
                </a:lnTo>
                <a:cubicBezTo>
                  <a:pt x="127873" y="5626"/>
                  <a:pt x="121712" y="0"/>
                  <a:pt x="114300" y="0"/>
                </a:cubicBezTo>
                <a:cubicBezTo>
                  <a:pt x="106888" y="0"/>
                  <a:pt x="100727" y="5626"/>
                  <a:pt x="100102" y="13037"/>
                </a:cubicBezTo>
                <a:lnTo>
                  <a:pt x="89118" y="133767"/>
                </a:lnTo>
                <a:cubicBezTo>
                  <a:pt x="88672" y="138946"/>
                  <a:pt x="84296" y="142875"/>
                  <a:pt x="79117" y="142875"/>
                </a:cubicBezTo>
                <a:cubicBezTo>
                  <a:pt x="73938" y="142875"/>
                  <a:pt x="69652" y="138946"/>
                  <a:pt x="69205" y="133856"/>
                </a:cubicBezTo>
                <a:lnTo>
                  <a:pt x="57061" y="12859"/>
                </a:lnTo>
                <a:close/>
                <a:moveTo>
                  <a:pt x="400050" y="0"/>
                </a:moveTo>
                <a:cubicBezTo>
                  <a:pt x="385763" y="0"/>
                  <a:pt x="285750" y="28575"/>
                  <a:pt x="285750" y="157163"/>
                </a:cubicBezTo>
                <a:lnTo>
                  <a:pt x="285750" y="257175"/>
                </a:lnTo>
                <a:cubicBezTo>
                  <a:pt x="285750" y="288697"/>
                  <a:pt x="311378" y="314325"/>
                  <a:pt x="342900" y="314325"/>
                </a:cubicBezTo>
                <a:lnTo>
                  <a:pt x="371475" y="314325"/>
                </a:lnTo>
                <a:lnTo>
                  <a:pt x="371475" y="428625"/>
                </a:lnTo>
                <a:cubicBezTo>
                  <a:pt x="371475" y="444431"/>
                  <a:pt x="384244" y="457200"/>
                  <a:pt x="400050" y="457200"/>
                </a:cubicBezTo>
                <a:cubicBezTo>
                  <a:pt x="415856" y="457200"/>
                  <a:pt x="428625" y="444431"/>
                  <a:pt x="428625" y="428625"/>
                </a:cubicBezTo>
                <a:lnTo>
                  <a:pt x="428625" y="28575"/>
                </a:lnTo>
                <a:cubicBezTo>
                  <a:pt x="428625" y="12769"/>
                  <a:pt x="415856" y="0"/>
                  <a:pt x="40005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9103519" y="358140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观念 (筷子)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80755" y="40386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反映深层价值、精神与哲学。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4000" y="46990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4699000"/>
            <a:ext cx="12192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设计产物是文化的外显痕迹，设计师需解读隐含的价值系统，才能避免文化误读。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549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投射与反作用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082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设计制造第二环境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7686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人造物构成生活第二环境，反向规定行为、塑造心理。设计不仅反映文化，也在日常使用中持续强化或改变文化心理，形成“造物—行为—观念”循环。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9878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91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太师椅通过“正襟危坐”的身体规训，传递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“背负江山”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的集体意识，是文化通过设计进行心理塑造的典型。</a:t>
            </a:r>
            <a:endParaRPr lang="en-US" sz="1600" dirty="0"/>
          </a:p>
        </p:txBody>
      </p:sp>
      <p:pic>
        <p:nvPicPr>
          <p:cNvPr id="7" name="Image 0" descr="https://kimi-web-img.moonshot.cn/img/c8.alamy.com/2bbd8f1b5079fd4577f903a5dc034a73740bf1a9.jpg"/>
          <p:cNvPicPr>
            <a:picLocks noChangeAspect="1"/>
          </p:cNvPicPr>
          <p:nvPr/>
        </p:nvPicPr>
        <p:blipFill>
          <a:blip r:embed="rId3"/>
          <a:srcRect l="16243" r="16243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baike.soso.com/96ccd9140281786acd67207f4abb7e1859cf888b"/>
          <p:cNvPicPr>
            <a:picLocks noChangeAspect="1"/>
          </p:cNvPicPr>
          <p:nvPr/>
        </p:nvPicPr>
        <p:blipFill>
          <a:blip r:embed="rId3"/>
          <a:srcRect l="13353" r="13353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854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文化多样性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4130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地域精神如何物化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073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斯堪的纳维亚躺椅融合森林木材与纸纤传统，体现自然简洁；中国鼎型三足器则表达“求稳尚简”的礼制精神。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987800"/>
            <a:ext cx="5435600" cy="1016000"/>
          </a:xfrm>
          <a:custGeom>
            <a:avLst/>
            <a:gdLst/>
            <a:ahLst/>
            <a:cxnLst/>
            <a:rect l="l" t="t" r="r" b="b"/>
            <a:pathLst>
              <a:path w="5435600" h="1016000">
                <a:moveTo>
                  <a:pt x="101600" y="0"/>
                </a:moveTo>
                <a:lnTo>
                  <a:pt x="5334000" y="0"/>
                </a:lnTo>
                <a:cubicBezTo>
                  <a:pt x="5390075" y="0"/>
                  <a:pt x="5435600" y="45525"/>
                  <a:pt x="5435600" y="101600"/>
                </a:cubicBezTo>
                <a:lnTo>
                  <a:pt x="5435600" y="914400"/>
                </a:lnTo>
                <a:cubicBezTo>
                  <a:pt x="5435600" y="970475"/>
                  <a:pt x="5390075" y="1016000"/>
                  <a:pt x="5334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4191000"/>
            <a:ext cx="502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“多样性”不是装饰符号拼贴，而是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深层价值与生存智慧的物化表达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87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区域差异：同一文化内的微多样性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15494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8488" y="22606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19435" y="-19645"/>
                </a:moveTo>
                <a:cubicBezTo>
                  <a:pt x="126355" y="-25450"/>
                  <a:pt x="136550" y="-25226"/>
                  <a:pt x="143173" y="-18976"/>
                </a:cubicBezTo>
                <a:cubicBezTo>
                  <a:pt x="152326" y="-10344"/>
                  <a:pt x="160511" y="-819"/>
                  <a:pt x="168399" y="8855"/>
                </a:cubicBezTo>
                <a:cubicBezTo>
                  <a:pt x="178445" y="21134"/>
                  <a:pt x="190500" y="37356"/>
                  <a:pt x="202109" y="56629"/>
                </a:cubicBezTo>
                <a:cubicBezTo>
                  <a:pt x="205978" y="51569"/>
                  <a:pt x="209550" y="47104"/>
                  <a:pt x="212675" y="43309"/>
                </a:cubicBezTo>
                <a:cubicBezTo>
                  <a:pt x="213494" y="42342"/>
                  <a:pt x="214313" y="41300"/>
                  <a:pt x="215131" y="40258"/>
                </a:cubicBezTo>
                <a:cubicBezTo>
                  <a:pt x="221010" y="32965"/>
                  <a:pt x="228302" y="23812"/>
                  <a:pt x="238051" y="23812"/>
                </a:cubicBezTo>
                <a:cubicBezTo>
                  <a:pt x="248022" y="23812"/>
                  <a:pt x="255017" y="32668"/>
                  <a:pt x="260970" y="40258"/>
                </a:cubicBezTo>
                <a:cubicBezTo>
                  <a:pt x="261938" y="41523"/>
                  <a:pt x="262905" y="42714"/>
                  <a:pt x="263872" y="43830"/>
                </a:cubicBezTo>
                <a:cubicBezTo>
                  <a:pt x="271537" y="53057"/>
                  <a:pt x="281732" y="66377"/>
                  <a:pt x="291926" y="82823"/>
                </a:cubicBezTo>
                <a:cubicBezTo>
                  <a:pt x="312167" y="115491"/>
                  <a:pt x="333301" y="161999"/>
                  <a:pt x="333301" y="214238"/>
                </a:cubicBezTo>
                <a:cubicBezTo>
                  <a:pt x="333301" y="306288"/>
                  <a:pt x="258663" y="380926"/>
                  <a:pt x="166613" y="380926"/>
                </a:cubicBezTo>
                <a:cubicBezTo>
                  <a:pt x="74563" y="380926"/>
                  <a:pt x="0" y="306363"/>
                  <a:pt x="0" y="214313"/>
                </a:cubicBezTo>
                <a:cubicBezTo>
                  <a:pt x="0" y="146521"/>
                  <a:pt x="30584" y="87809"/>
                  <a:pt x="59903" y="46881"/>
                </a:cubicBezTo>
                <a:cubicBezTo>
                  <a:pt x="74712" y="26268"/>
                  <a:pt x="89446" y="9748"/>
                  <a:pt x="100533" y="-1563"/>
                </a:cubicBezTo>
                <a:cubicBezTo>
                  <a:pt x="106635" y="-7813"/>
                  <a:pt x="112812" y="-13990"/>
                  <a:pt x="119509" y="-19571"/>
                </a:cubicBezTo>
                <a:close/>
                <a:moveTo>
                  <a:pt x="167953" y="309563"/>
                </a:moveTo>
                <a:cubicBezTo>
                  <a:pt x="186779" y="309563"/>
                  <a:pt x="203448" y="304354"/>
                  <a:pt x="219149" y="293936"/>
                </a:cubicBezTo>
                <a:cubicBezTo>
                  <a:pt x="250478" y="272058"/>
                  <a:pt x="258887" y="228302"/>
                  <a:pt x="240060" y="193923"/>
                </a:cubicBezTo>
                <a:cubicBezTo>
                  <a:pt x="236711" y="187226"/>
                  <a:pt x="228154" y="186779"/>
                  <a:pt x="223317" y="192435"/>
                </a:cubicBezTo>
                <a:lnTo>
                  <a:pt x="204564" y="214238"/>
                </a:lnTo>
                <a:cubicBezTo>
                  <a:pt x="199653" y="219894"/>
                  <a:pt x="190798" y="219745"/>
                  <a:pt x="186184" y="213866"/>
                </a:cubicBezTo>
                <a:cubicBezTo>
                  <a:pt x="173310" y="197421"/>
                  <a:pt x="149647" y="167432"/>
                  <a:pt x="137592" y="152102"/>
                </a:cubicBezTo>
                <a:cubicBezTo>
                  <a:pt x="133573" y="146968"/>
                  <a:pt x="126281" y="146149"/>
                  <a:pt x="121593" y="150688"/>
                </a:cubicBezTo>
                <a:cubicBezTo>
                  <a:pt x="107975" y="163934"/>
                  <a:pt x="83269" y="192956"/>
                  <a:pt x="83269" y="228302"/>
                </a:cubicBezTo>
                <a:cubicBezTo>
                  <a:pt x="83269" y="279350"/>
                  <a:pt x="120923" y="309563"/>
                  <a:pt x="167878" y="30956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146300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北方砖石炕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5019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取暖、起居、会客多功能一体。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7600" y="15494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18275" y="226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0713" y="4986"/>
                </a:moveTo>
                <a:cubicBezTo>
                  <a:pt x="355476" y="446"/>
                  <a:pt x="362396" y="-1191"/>
                  <a:pt x="368796" y="893"/>
                </a:cubicBezTo>
                <a:cubicBezTo>
                  <a:pt x="376089" y="3349"/>
                  <a:pt x="381000" y="10195"/>
                  <a:pt x="381000" y="17859"/>
                </a:cubicBezTo>
                <a:lnTo>
                  <a:pt x="381000" y="156939"/>
                </a:lnTo>
                <a:cubicBezTo>
                  <a:pt x="381000" y="254571"/>
                  <a:pt x="300558" y="333375"/>
                  <a:pt x="203299" y="333375"/>
                </a:cubicBezTo>
                <a:cubicBezTo>
                  <a:pt x="146000" y="333375"/>
                  <a:pt x="96589" y="296540"/>
                  <a:pt x="78656" y="245046"/>
                </a:cubicBezTo>
                <a:cubicBezTo>
                  <a:pt x="52313" y="267965"/>
                  <a:pt x="35719" y="301675"/>
                  <a:pt x="35719" y="339328"/>
                </a:cubicBezTo>
                <a:cubicBezTo>
                  <a:pt x="35719" y="349225"/>
                  <a:pt x="27756" y="357188"/>
                  <a:pt x="17859" y="357188"/>
                </a:cubicBezTo>
                <a:cubicBezTo>
                  <a:pt x="7962" y="357188"/>
                  <a:pt x="0" y="349225"/>
                  <a:pt x="0" y="339328"/>
                </a:cubicBezTo>
                <a:cubicBezTo>
                  <a:pt x="0" y="283592"/>
                  <a:pt x="28426" y="234479"/>
                  <a:pt x="71512" y="205606"/>
                </a:cubicBezTo>
                <a:cubicBezTo>
                  <a:pt x="97780" y="188044"/>
                  <a:pt x="129108" y="178594"/>
                  <a:pt x="160734" y="178594"/>
                </a:cubicBezTo>
                <a:lnTo>
                  <a:pt x="220266" y="178594"/>
                </a:lnTo>
                <a:cubicBezTo>
                  <a:pt x="230163" y="178594"/>
                  <a:pt x="238125" y="170631"/>
                  <a:pt x="238125" y="160734"/>
                </a:cubicBezTo>
                <a:cubicBezTo>
                  <a:pt x="238125" y="150837"/>
                  <a:pt x="230163" y="142875"/>
                  <a:pt x="220266" y="142875"/>
                </a:cubicBezTo>
                <a:lnTo>
                  <a:pt x="160734" y="142875"/>
                </a:lnTo>
                <a:cubicBezTo>
                  <a:pt x="131192" y="142875"/>
                  <a:pt x="103212" y="149423"/>
                  <a:pt x="78135" y="161106"/>
                </a:cubicBezTo>
                <a:cubicBezTo>
                  <a:pt x="95473" y="109017"/>
                  <a:pt x="144512" y="71438"/>
                  <a:pt x="202406" y="71438"/>
                </a:cubicBezTo>
                <a:cubicBezTo>
                  <a:pt x="251817" y="71438"/>
                  <a:pt x="288578" y="54992"/>
                  <a:pt x="313060" y="38695"/>
                </a:cubicBezTo>
                <a:cubicBezTo>
                  <a:pt x="327347" y="29170"/>
                  <a:pt x="339477" y="17785"/>
                  <a:pt x="350788" y="4986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7213600" y="2146300"/>
            <a:ext cx="335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南方竹藤椅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3600" y="25019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质轻、弹性、清凉，适应湿热气候。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35560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4675" y="426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7626" y="3795"/>
                </a:moveTo>
                <a:cubicBezTo>
                  <a:pt x="185440" y="-1265"/>
                  <a:pt x="195560" y="-1265"/>
                  <a:pt x="203374" y="3795"/>
                </a:cubicBezTo>
                <a:lnTo>
                  <a:pt x="370061" y="110951"/>
                </a:lnTo>
                <a:cubicBezTo>
                  <a:pt x="378916" y="116681"/>
                  <a:pt x="383009" y="127546"/>
                  <a:pt x="380033" y="137666"/>
                </a:cubicBezTo>
                <a:cubicBezTo>
                  <a:pt x="377056" y="147786"/>
                  <a:pt x="367754" y="154781"/>
                  <a:pt x="357188" y="154781"/>
                </a:cubicBezTo>
                <a:lnTo>
                  <a:pt x="333375" y="154781"/>
                </a:lnTo>
                <a:lnTo>
                  <a:pt x="333375" y="309563"/>
                </a:lnTo>
                <a:lnTo>
                  <a:pt x="371475" y="338137"/>
                </a:lnTo>
                <a:cubicBezTo>
                  <a:pt x="377503" y="342602"/>
                  <a:pt x="381000" y="349672"/>
                  <a:pt x="381000" y="357188"/>
                </a:cubicBezTo>
                <a:cubicBezTo>
                  <a:pt x="381000" y="370359"/>
                  <a:pt x="370359" y="381000"/>
                  <a:pt x="357188" y="381000"/>
                </a:cubicBezTo>
                <a:lnTo>
                  <a:pt x="23812" y="381000"/>
                </a:lnTo>
                <a:cubicBezTo>
                  <a:pt x="10641" y="381000"/>
                  <a:pt x="0" y="370359"/>
                  <a:pt x="0" y="357188"/>
                </a:cubicBezTo>
                <a:cubicBezTo>
                  <a:pt x="0" y="349672"/>
                  <a:pt x="3497" y="342602"/>
                  <a:pt x="9525" y="338137"/>
                </a:cubicBezTo>
                <a:lnTo>
                  <a:pt x="47625" y="309563"/>
                </a:lnTo>
                <a:lnTo>
                  <a:pt x="47625" y="309563"/>
                </a:lnTo>
                <a:lnTo>
                  <a:pt x="47625" y="154781"/>
                </a:lnTo>
                <a:lnTo>
                  <a:pt x="23812" y="154781"/>
                </a:lnTo>
                <a:cubicBezTo>
                  <a:pt x="13246" y="154781"/>
                  <a:pt x="3944" y="147786"/>
                  <a:pt x="967" y="137666"/>
                </a:cubicBezTo>
                <a:cubicBezTo>
                  <a:pt x="-2009" y="127546"/>
                  <a:pt x="2084" y="116607"/>
                  <a:pt x="10939" y="110951"/>
                </a:cubicBezTo>
                <a:lnTo>
                  <a:pt x="177626" y="3795"/>
                </a:lnTo>
                <a:close/>
                <a:moveTo>
                  <a:pt x="250031" y="154781"/>
                </a:moveTo>
                <a:lnTo>
                  <a:pt x="250031" y="309563"/>
                </a:lnTo>
                <a:lnTo>
                  <a:pt x="297656" y="309563"/>
                </a:lnTo>
                <a:lnTo>
                  <a:pt x="297656" y="154781"/>
                </a:lnTo>
                <a:lnTo>
                  <a:pt x="250031" y="154781"/>
                </a:lnTo>
                <a:close/>
                <a:moveTo>
                  <a:pt x="166688" y="309563"/>
                </a:moveTo>
                <a:lnTo>
                  <a:pt x="214313" y="309563"/>
                </a:lnTo>
                <a:lnTo>
                  <a:pt x="214313" y="154781"/>
                </a:lnTo>
                <a:lnTo>
                  <a:pt x="166688" y="154781"/>
                </a:lnTo>
                <a:lnTo>
                  <a:pt x="166688" y="309563"/>
                </a:lnTo>
                <a:close/>
                <a:moveTo>
                  <a:pt x="83344" y="154781"/>
                </a:moveTo>
                <a:lnTo>
                  <a:pt x="83344" y="309563"/>
                </a:lnTo>
                <a:lnTo>
                  <a:pt x="130969" y="309563"/>
                </a:lnTo>
                <a:lnTo>
                  <a:pt x="130969" y="154781"/>
                </a:lnTo>
                <a:lnTo>
                  <a:pt x="83344" y="154781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41529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京都琉璃门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70000" y="45085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皇家气派，庄重威严，等级森严。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7600" y="3556000"/>
            <a:ext cx="5740400" cy="1803400"/>
          </a:xfrm>
          <a:custGeom>
            <a:avLst/>
            <a:gdLst/>
            <a:ahLst/>
            <a:cxnLst/>
            <a:rect l="l" t="t" r="r" b="b"/>
            <a:pathLst>
              <a:path w="5740400" h="1803400">
                <a:moveTo>
                  <a:pt x="101604" y="0"/>
                </a:moveTo>
                <a:lnTo>
                  <a:pt x="5638796" y="0"/>
                </a:lnTo>
                <a:cubicBezTo>
                  <a:pt x="5694911" y="0"/>
                  <a:pt x="5740400" y="45489"/>
                  <a:pt x="5740400" y="101604"/>
                </a:cubicBezTo>
                <a:lnTo>
                  <a:pt x="5740400" y="1701796"/>
                </a:lnTo>
                <a:cubicBezTo>
                  <a:pt x="5740400" y="1757911"/>
                  <a:pt x="5694911" y="1803400"/>
                  <a:pt x="56387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18275" y="426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5544" y="92348"/>
                </a:moveTo>
                <a:cubicBezTo>
                  <a:pt x="320948" y="103956"/>
                  <a:pt x="339775" y="115193"/>
                  <a:pt x="360759" y="118021"/>
                </a:cubicBezTo>
                <a:cubicBezTo>
                  <a:pt x="370508" y="119360"/>
                  <a:pt x="379512" y="112440"/>
                  <a:pt x="380851" y="102691"/>
                </a:cubicBezTo>
                <a:cubicBezTo>
                  <a:pt x="382191" y="92943"/>
                  <a:pt x="375270" y="83939"/>
                  <a:pt x="365522" y="82600"/>
                </a:cubicBezTo>
                <a:cubicBezTo>
                  <a:pt x="353690" y="81037"/>
                  <a:pt x="340816" y="74191"/>
                  <a:pt x="327050" y="63847"/>
                </a:cubicBezTo>
                <a:cubicBezTo>
                  <a:pt x="298475" y="42267"/>
                  <a:pt x="259705" y="42267"/>
                  <a:pt x="231056" y="63847"/>
                </a:cubicBezTo>
                <a:cubicBezTo>
                  <a:pt x="213196" y="77316"/>
                  <a:pt x="200769" y="83418"/>
                  <a:pt x="190500" y="83418"/>
                </a:cubicBezTo>
                <a:cubicBezTo>
                  <a:pt x="180231" y="83418"/>
                  <a:pt x="167804" y="77316"/>
                  <a:pt x="149944" y="63847"/>
                </a:cubicBezTo>
                <a:cubicBezTo>
                  <a:pt x="121369" y="42267"/>
                  <a:pt x="82600" y="42267"/>
                  <a:pt x="53950" y="63847"/>
                </a:cubicBezTo>
                <a:cubicBezTo>
                  <a:pt x="40184" y="74191"/>
                  <a:pt x="27310" y="81037"/>
                  <a:pt x="15478" y="82600"/>
                </a:cubicBezTo>
                <a:cubicBezTo>
                  <a:pt x="5730" y="83939"/>
                  <a:pt x="-1191" y="92869"/>
                  <a:pt x="149" y="102691"/>
                </a:cubicBezTo>
                <a:cubicBezTo>
                  <a:pt x="1488" y="112514"/>
                  <a:pt x="10418" y="119360"/>
                  <a:pt x="20241" y="118021"/>
                </a:cubicBezTo>
                <a:cubicBezTo>
                  <a:pt x="41225" y="115193"/>
                  <a:pt x="60127" y="103956"/>
                  <a:pt x="75456" y="92348"/>
                </a:cubicBezTo>
                <a:cubicBezTo>
                  <a:pt x="91306" y="80367"/>
                  <a:pt x="112588" y="80367"/>
                  <a:pt x="128439" y="92348"/>
                </a:cubicBezTo>
                <a:cubicBezTo>
                  <a:pt x="146447" y="105966"/>
                  <a:pt x="167357" y="119063"/>
                  <a:pt x="190500" y="119063"/>
                </a:cubicBezTo>
                <a:cubicBezTo>
                  <a:pt x="213643" y="119063"/>
                  <a:pt x="234479" y="105891"/>
                  <a:pt x="252561" y="92348"/>
                </a:cubicBezTo>
                <a:cubicBezTo>
                  <a:pt x="268412" y="80367"/>
                  <a:pt x="289694" y="80367"/>
                  <a:pt x="305544" y="92348"/>
                </a:cubicBezTo>
                <a:close/>
                <a:moveTo>
                  <a:pt x="305544" y="199504"/>
                </a:moveTo>
                <a:cubicBezTo>
                  <a:pt x="320948" y="211113"/>
                  <a:pt x="339775" y="222349"/>
                  <a:pt x="360759" y="225177"/>
                </a:cubicBezTo>
                <a:cubicBezTo>
                  <a:pt x="370508" y="226516"/>
                  <a:pt x="379512" y="219596"/>
                  <a:pt x="380851" y="209848"/>
                </a:cubicBezTo>
                <a:cubicBezTo>
                  <a:pt x="382191" y="200099"/>
                  <a:pt x="375270" y="191095"/>
                  <a:pt x="365522" y="189756"/>
                </a:cubicBezTo>
                <a:cubicBezTo>
                  <a:pt x="353690" y="188193"/>
                  <a:pt x="340816" y="181347"/>
                  <a:pt x="327050" y="171004"/>
                </a:cubicBezTo>
                <a:cubicBezTo>
                  <a:pt x="298475" y="149423"/>
                  <a:pt x="259705" y="149423"/>
                  <a:pt x="231056" y="171004"/>
                </a:cubicBezTo>
                <a:cubicBezTo>
                  <a:pt x="213196" y="184472"/>
                  <a:pt x="200769" y="190574"/>
                  <a:pt x="190500" y="190574"/>
                </a:cubicBezTo>
                <a:cubicBezTo>
                  <a:pt x="180231" y="190574"/>
                  <a:pt x="167804" y="184472"/>
                  <a:pt x="149944" y="171004"/>
                </a:cubicBezTo>
                <a:cubicBezTo>
                  <a:pt x="121369" y="149423"/>
                  <a:pt x="82600" y="149423"/>
                  <a:pt x="53950" y="171004"/>
                </a:cubicBezTo>
                <a:cubicBezTo>
                  <a:pt x="40184" y="181347"/>
                  <a:pt x="27310" y="188193"/>
                  <a:pt x="15478" y="189756"/>
                </a:cubicBezTo>
                <a:cubicBezTo>
                  <a:pt x="5730" y="191021"/>
                  <a:pt x="-1191" y="200025"/>
                  <a:pt x="149" y="209848"/>
                </a:cubicBezTo>
                <a:cubicBezTo>
                  <a:pt x="1488" y="219670"/>
                  <a:pt x="10418" y="226516"/>
                  <a:pt x="20241" y="225177"/>
                </a:cubicBezTo>
                <a:cubicBezTo>
                  <a:pt x="41225" y="222349"/>
                  <a:pt x="60127" y="211113"/>
                  <a:pt x="75456" y="199504"/>
                </a:cubicBezTo>
                <a:cubicBezTo>
                  <a:pt x="91306" y="187523"/>
                  <a:pt x="112588" y="187523"/>
                  <a:pt x="128439" y="199504"/>
                </a:cubicBezTo>
                <a:cubicBezTo>
                  <a:pt x="146447" y="213122"/>
                  <a:pt x="167357" y="226219"/>
                  <a:pt x="190500" y="226219"/>
                </a:cubicBezTo>
                <a:cubicBezTo>
                  <a:pt x="213643" y="226219"/>
                  <a:pt x="234479" y="213047"/>
                  <a:pt x="252561" y="199504"/>
                </a:cubicBezTo>
                <a:cubicBezTo>
                  <a:pt x="268412" y="187523"/>
                  <a:pt x="289694" y="187523"/>
                  <a:pt x="305544" y="199504"/>
                </a:cubicBezTo>
                <a:close/>
                <a:moveTo>
                  <a:pt x="252561" y="306660"/>
                </a:moveTo>
                <a:cubicBezTo>
                  <a:pt x="268412" y="294680"/>
                  <a:pt x="289694" y="294680"/>
                  <a:pt x="305544" y="306660"/>
                </a:cubicBezTo>
                <a:cubicBezTo>
                  <a:pt x="320948" y="318269"/>
                  <a:pt x="339775" y="329505"/>
                  <a:pt x="360759" y="332333"/>
                </a:cubicBezTo>
                <a:cubicBezTo>
                  <a:pt x="370508" y="333673"/>
                  <a:pt x="379512" y="326752"/>
                  <a:pt x="380851" y="317004"/>
                </a:cubicBezTo>
                <a:cubicBezTo>
                  <a:pt x="382191" y="307256"/>
                  <a:pt x="375270" y="298252"/>
                  <a:pt x="365522" y="296912"/>
                </a:cubicBezTo>
                <a:cubicBezTo>
                  <a:pt x="353690" y="295349"/>
                  <a:pt x="340816" y="288503"/>
                  <a:pt x="327050" y="278160"/>
                </a:cubicBezTo>
                <a:cubicBezTo>
                  <a:pt x="298475" y="256580"/>
                  <a:pt x="259705" y="256580"/>
                  <a:pt x="231056" y="278160"/>
                </a:cubicBezTo>
                <a:cubicBezTo>
                  <a:pt x="213196" y="291629"/>
                  <a:pt x="200769" y="297731"/>
                  <a:pt x="190500" y="297731"/>
                </a:cubicBezTo>
                <a:cubicBezTo>
                  <a:pt x="180231" y="297731"/>
                  <a:pt x="167804" y="291629"/>
                  <a:pt x="149944" y="278160"/>
                </a:cubicBezTo>
                <a:cubicBezTo>
                  <a:pt x="121369" y="256580"/>
                  <a:pt x="82600" y="256580"/>
                  <a:pt x="53950" y="278160"/>
                </a:cubicBezTo>
                <a:cubicBezTo>
                  <a:pt x="40184" y="288503"/>
                  <a:pt x="27310" y="295349"/>
                  <a:pt x="15478" y="296912"/>
                </a:cubicBezTo>
                <a:cubicBezTo>
                  <a:pt x="5730" y="298252"/>
                  <a:pt x="-1191" y="307181"/>
                  <a:pt x="149" y="317004"/>
                </a:cubicBezTo>
                <a:cubicBezTo>
                  <a:pt x="1488" y="326827"/>
                  <a:pt x="10418" y="333673"/>
                  <a:pt x="20241" y="332333"/>
                </a:cubicBezTo>
                <a:cubicBezTo>
                  <a:pt x="41225" y="329505"/>
                  <a:pt x="60127" y="318269"/>
                  <a:pt x="75456" y="306660"/>
                </a:cubicBezTo>
                <a:cubicBezTo>
                  <a:pt x="91306" y="294680"/>
                  <a:pt x="112588" y="294680"/>
                  <a:pt x="128439" y="306660"/>
                </a:cubicBezTo>
                <a:cubicBezTo>
                  <a:pt x="146447" y="320278"/>
                  <a:pt x="167357" y="333375"/>
                  <a:pt x="190500" y="333375"/>
                </a:cubicBezTo>
                <a:cubicBezTo>
                  <a:pt x="213643" y="333375"/>
                  <a:pt x="234479" y="320204"/>
                  <a:pt x="252561" y="30666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213600" y="41529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江南月洞门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13600" y="45085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园林点缀，错落有致，趣味天然。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4000" y="5562600"/>
            <a:ext cx="11684000" cy="508000"/>
          </a:xfrm>
          <a:custGeom>
            <a:avLst/>
            <a:gdLst/>
            <a:ahLst/>
            <a:cxnLst/>
            <a:rect l="l" t="t" r="r" b="b"/>
            <a:pathLst>
              <a:path w="11684000" h="5080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431800"/>
                </a:lnTo>
                <a:cubicBezTo>
                  <a:pt x="11684000" y="473856"/>
                  <a:pt x="11649856" y="508000"/>
                  <a:pt x="11607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5562600"/>
            <a:ext cx="121920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设计师需进入田野，捕捉微观文化基因，避免“标准化”导致文化扁平。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文化多样性与设计创新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0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国际风格危机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606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高科技下的文化失忆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9210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20世纪现代主义标榜‘少即是多’与标准化，通信与全球化加速，导致轻薄短小的“国际风格”产品抹去地域特征。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354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38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当所有手机都长一样，文化记忆随之流失。这也激发设计界寻找差异化策略，以文化识别作为市场竞争的新筹码。</a:t>
            </a:r>
            <a:endParaRPr lang="en-US" sz="1600" dirty="0"/>
          </a:p>
        </p:txBody>
      </p:sp>
      <p:pic>
        <p:nvPicPr>
          <p:cNvPr id="7" name="Image 0" descr="https://kimi-web-img.moonshot.cn/img/manula.r.sizr.io/08fa15b9ec0aef9e06d7afa2692840c454e1b406.png"/>
          <p:cNvPicPr>
            <a:picLocks noChangeAspect="1"/>
          </p:cNvPicPr>
          <p:nvPr/>
        </p:nvPicPr>
        <p:blipFill>
          <a:blip r:embed="rId3"/>
          <a:srcRect l="24102" r="24102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6e02317a5a37feee240558342bde4b0ddc9a3bf.jpg"/>
          <p:cNvPicPr>
            <a:picLocks noChangeAspect="1"/>
          </p:cNvPicPr>
          <p:nvPr/>
        </p:nvPicPr>
        <p:blipFill>
          <a:blip r:embed="rId3"/>
          <a:srcRect l="19295" r="19295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70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后现代转向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2606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从符号拼贴到系统重构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2921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后现代、产品语意等尝试从本土传统抽取符号对抗同质。但新路径在于：把文化结构（行为、仪式、价值）转化为系统服务。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4140200"/>
            <a:ext cx="5435600" cy="1016000"/>
          </a:xfrm>
          <a:custGeom>
            <a:avLst/>
            <a:gdLst/>
            <a:ahLst/>
            <a:cxnLst/>
            <a:rect l="l" t="t" r="r" b="b"/>
            <a:pathLst>
              <a:path w="5435600" h="1016000">
                <a:moveTo>
                  <a:pt x="101600" y="0"/>
                </a:moveTo>
                <a:lnTo>
                  <a:pt x="5334000" y="0"/>
                </a:lnTo>
                <a:cubicBezTo>
                  <a:pt x="5390075" y="0"/>
                  <a:pt x="5435600" y="45525"/>
                  <a:pt x="5435600" y="101600"/>
                </a:cubicBezTo>
                <a:lnTo>
                  <a:pt x="5435600" y="914400"/>
                </a:lnTo>
                <a:cubicBezTo>
                  <a:pt x="5435600" y="970475"/>
                  <a:pt x="5390075" y="1016000"/>
                  <a:pt x="5334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4343400"/>
            <a:ext cx="502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例如，将侗族风雨桥的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共享空间逻辑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转译为现代社区客厅，实现深层文化再生而非表面拼贴。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19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全球—地方动态均衡：设计的新伦理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082800"/>
            <a:ext cx="4673600" cy="2540000"/>
          </a:xfrm>
          <a:custGeom>
            <a:avLst/>
            <a:gdLst/>
            <a:ahLst/>
            <a:cxnLst/>
            <a:rect l="l" t="t" r="r" b="b"/>
            <a:pathLst>
              <a:path w="4673600" h="2540000">
                <a:moveTo>
                  <a:pt x="101600" y="0"/>
                </a:moveTo>
                <a:lnTo>
                  <a:pt x="4572000" y="0"/>
                </a:lnTo>
                <a:cubicBezTo>
                  <a:pt x="4628075" y="0"/>
                  <a:pt x="4673600" y="45525"/>
                  <a:pt x="4673600" y="101600"/>
                </a:cubicBezTo>
                <a:lnTo>
                  <a:pt x="4673600" y="2438400"/>
                </a:lnTo>
                <a:cubicBezTo>
                  <a:pt x="4673600" y="2494475"/>
                  <a:pt x="4628075" y="2540000"/>
                  <a:pt x="45720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844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362200" y="256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9738" y="178326"/>
                </a:moveTo>
                <a:lnTo>
                  <a:pt x="77331" y="205919"/>
                </a:lnTo>
                <a:cubicBezTo>
                  <a:pt x="82689" y="211276"/>
                  <a:pt x="89922" y="214313"/>
                  <a:pt x="97512" y="214313"/>
                </a:cubicBezTo>
                <a:lnTo>
                  <a:pt x="116711" y="214313"/>
                </a:lnTo>
                <a:cubicBezTo>
                  <a:pt x="124301" y="214313"/>
                  <a:pt x="131534" y="217349"/>
                  <a:pt x="136892" y="222706"/>
                </a:cubicBezTo>
                <a:lnTo>
                  <a:pt x="163056" y="248870"/>
                </a:lnTo>
                <a:cubicBezTo>
                  <a:pt x="168414" y="254228"/>
                  <a:pt x="171450" y="261461"/>
                  <a:pt x="171450" y="269051"/>
                </a:cubicBezTo>
                <a:lnTo>
                  <a:pt x="171450" y="302538"/>
                </a:lnTo>
                <a:cubicBezTo>
                  <a:pt x="171450" y="310128"/>
                  <a:pt x="174486" y="317361"/>
                  <a:pt x="179844" y="322719"/>
                </a:cubicBezTo>
                <a:lnTo>
                  <a:pt x="191720" y="334595"/>
                </a:lnTo>
                <a:cubicBezTo>
                  <a:pt x="197078" y="339953"/>
                  <a:pt x="200114" y="347186"/>
                  <a:pt x="200114" y="354776"/>
                </a:cubicBezTo>
                <a:lnTo>
                  <a:pt x="200114" y="371475"/>
                </a:lnTo>
                <a:cubicBezTo>
                  <a:pt x="200114" y="387281"/>
                  <a:pt x="212884" y="400050"/>
                  <a:pt x="228689" y="400050"/>
                </a:cubicBezTo>
                <a:cubicBezTo>
                  <a:pt x="244495" y="400050"/>
                  <a:pt x="257264" y="387281"/>
                  <a:pt x="257264" y="371475"/>
                </a:cubicBezTo>
                <a:lnTo>
                  <a:pt x="257264" y="369064"/>
                </a:lnTo>
                <a:cubicBezTo>
                  <a:pt x="257264" y="361474"/>
                  <a:pt x="260300" y="354241"/>
                  <a:pt x="265658" y="348883"/>
                </a:cubicBezTo>
                <a:lnTo>
                  <a:pt x="306110" y="308431"/>
                </a:lnTo>
                <a:cubicBezTo>
                  <a:pt x="311468" y="303074"/>
                  <a:pt x="314504" y="295841"/>
                  <a:pt x="314504" y="288250"/>
                </a:cubicBezTo>
                <a:lnTo>
                  <a:pt x="314504" y="257264"/>
                </a:lnTo>
                <a:cubicBezTo>
                  <a:pt x="314504" y="241459"/>
                  <a:pt x="301734" y="228689"/>
                  <a:pt x="285929" y="228689"/>
                </a:cubicBezTo>
                <a:lnTo>
                  <a:pt x="212080" y="228689"/>
                </a:lnTo>
                <a:cubicBezTo>
                  <a:pt x="204490" y="228689"/>
                  <a:pt x="197257" y="225653"/>
                  <a:pt x="191899" y="220295"/>
                </a:cubicBezTo>
                <a:lnTo>
                  <a:pt x="177611" y="206008"/>
                </a:lnTo>
                <a:cubicBezTo>
                  <a:pt x="173861" y="202257"/>
                  <a:pt x="171718" y="197078"/>
                  <a:pt x="171718" y="191720"/>
                </a:cubicBezTo>
                <a:cubicBezTo>
                  <a:pt x="171718" y="180558"/>
                  <a:pt x="180737" y="171539"/>
                  <a:pt x="191899" y="171539"/>
                </a:cubicBezTo>
                <a:lnTo>
                  <a:pt x="222885" y="171539"/>
                </a:lnTo>
                <a:cubicBezTo>
                  <a:pt x="234047" y="171539"/>
                  <a:pt x="243066" y="162520"/>
                  <a:pt x="243066" y="151358"/>
                </a:cubicBezTo>
                <a:cubicBezTo>
                  <a:pt x="243066" y="146000"/>
                  <a:pt x="240923" y="140821"/>
                  <a:pt x="237173" y="137071"/>
                </a:cubicBezTo>
                <a:lnTo>
                  <a:pt x="219581" y="119479"/>
                </a:lnTo>
                <a:cubicBezTo>
                  <a:pt x="216098" y="116086"/>
                  <a:pt x="214313" y="111710"/>
                  <a:pt x="214313" y="107156"/>
                </a:cubicBezTo>
                <a:cubicBezTo>
                  <a:pt x="214313" y="102602"/>
                  <a:pt x="216098" y="98227"/>
                  <a:pt x="219402" y="94923"/>
                </a:cubicBezTo>
                <a:lnTo>
                  <a:pt x="234851" y="79474"/>
                </a:lnTo>
                <a:cubicBezTo>
                  <a:pt x="240030" y="74295"/>
                  <a:pt x="242977" y="67241"/>
                  <a:pt x="242977" y="59918"/>
                </a:cubicBezTo>
                <a:cubicBezTo>
                  <a:pt x="242977" y="53489"/>
                  <a:pt x="240834" y="47685"/>
                  <a:pt x="237262" y="43041"/>
                </a:cubicBezTo>
                <a:cubicBezTo>
                  <a:pt x="234404" y="42952"/>
                  <a:pt x="231547" y="42862"/>
                  <a:pt x="228689" y="42862"/>
                </a:cubicBezTo>
                <a:cubicBezTo>
                  <a:pt x="143500" y="42862"/>
                  <a:pt x="71795" y="100191"/>
                  <a:pt x="49828" y="178326"/>
                </a:cubicBezTo>
                <a:close/>
                <a:moveTo>
                  <a:pt x="414338" y="228600"/>
                </a:moveTo>
                <a:cubicBezTo>
                  <a:pt x="414338" y="197703"/>
                  <a:pt x="406837" y="168593"/>
                  <a:pt x="393442" y="143054"/>
                </a:cubicBezTo>
                <a:cubicBezTo>
                  <a:pt x="387727" y="143857"/>
                  <a:pt x="382101" y="146536"/>
                  <a:pt x="377458" y="151180"/>
                </a:cubicBezTo>
                <a:lnTo>
                  <a:pt x="365492" y="163145"/>
                </a:lnTo>
                <a:cubicBezTo>
                  <a:pt x="360134" y="168503"/>
                  <a:pt x="357098" y="175736"/>
                  <a:pt x="357098" y="183326"/>
                </a:cubicBezTo>
                <a:lnTo>
                  <a:pt x="357098" y="214313"/>
                </a:lnTo>
                <a:cubicBezTo>
                  <a:pt x="357098" y="230118"/>
                  <a:pt x="369868" y="242888"/>
                  <a:pt x="385673" y="242888"/>
                </a:cubicBezTo>
                <a:lnTo>
                  <a:pt x="407194" y="242888"/>
                </a:lnTo>
                <a:cubicBezTo>
                  <a:pt x="409426" y="242888"/>
                  <a:pt x="411659" y="242620"/>
                  <a:pt x="413712" y="242173"/>
                </a:cubicBezTo>
                <a:cubicBezTo>
                  <a:pt x="414070" y="237708"/>
                  <a:pt x="414159" y="233154"/>
                  <a:pt x="414159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3528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全球输出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3810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北欧、意大利以鲜明文化识别赢得市场，证明本土即国际。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73600" y="3048000"/>
            <a:ext cx="28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64400" y="2209800"/>
            <a:ext cx="4673600" cy="2286000"/>
          </a:xfrm>
          <a:custGeom>
            <a:avLst/>
            <a:gdLst/>
            <a:ahLst/>
            <a:cxnLst/>
            <a:rect l="l" t="t" r="r" b="b"/>
            <a:pathLst>
              <a:path w="4673600" h="2286000">
                <a:moveTo>
                  <a:pt x="101590" y="0"/>
                </a:moveTo>
                <a:lnTo>
                  <a:pt x="4572010" y="0"/>
                </a:lnTo>
                <a:cubicBezTo>
                  <a:pt x="4628117" y="0"/>
                  <a:pt x="4673600" y="45483"/>
                  <a:pt x="4673600" y="101590"/>
                </a:cubicBezTo>
                <a:lnTo>
                  <a:pt x="4673600" y="2184410"/>
                </a:lnTo>
                <a:cubicBezTo>
                  <a:pt x="4673600" y="2240517"/>
                  <a:pt x="4628117" y="2286000"/>
                  <a:pt x="45720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94800" y="2514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458325" y="26924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71450" y="253960"/>
                </a:moveTo>
                <a:cubicBezTo>
                  <a:pt x="228689" y="241012"/>
                  <a:pt x="271463" y="189756"/>
                  <a:pt x="271463" y="128588"/>
                </a:cubicBezTo>
                <a:cubicBezTo>
                  <a:pt x="271463" y="57596"/>
                  <a:pt x="213866" y="0"/>
                  <a:pt x="142875" y="0"/>
                </a:cubicBezTo>
                <a:cubicBezTo>
                  <a:pt x="71884" y="0"/>
                  <a:pt x="14288" y="57596"/>
                  <a:pt x="14288" y="128588"/>
                </a:cubicBezTo>
                <a:cubicBezTo>
                  <a:pt x="14288" y="189756"/>
                  <a:pt x="57061" y="241012"/>
                  <a:pt x="114300" y="253960"/>
                </a:cubicBezTo>
                <a:lnTo>
                  <a:pt x="114300" y="428625"/>
                </a:lnTo>
                <a:cubicBezTo>
                  <a:pt x="114300" y="444431"/>
                  <a:pt x="127069" y="457200"/>
                  <a:pt x="142875" y="457200"/>
                </a:cubicBezTo>
                <a:cubicBezTo>
                  <a:pt x="158681" y="457200"/>
                  <a:pt x="171450" y="444431"/>
                  <a:pt x="171450" y="428625"/>
                </a:cubicBezTo>
                <a:lnTo>
                  <a:pt x="171450" y="253960"/>
                </a:lnTo>
                <a:close/>
                <a:moveTo>
                  <a:pt x="150019" y="85725"/>
                </a:moveTo>
                <a:cubicBezTo>
                  <a:pt x="122426" y="85725"/>
                  <a:pt x="100013" y="108139"/>
                  <a:pt x="100013" y="135731"/>
                </a:cubicBezTo>
                <a:cubicBezTo>
                  <a:pt x="100013" y="147608"/>
                  <a:pt x="90458" y="157163"/>
                  <a:pt x="78581" y="157163"/>
                </a:cubicBezTo>
                <a:cubicBezTo>
                  <a:pt x="66705" y="157163"/>
                  <a:pt x="57150" y="147608"/>
                  <a:pt x="57150" y="135731"/>
                </a:cubicBezTo>
                <a:cubicBezTo>
                  <a:pt x="57150" y="84475"/>
                  <a:pt x="98762" y="42863"/>
                  <a:pt x="150019" y="42863"/>
                </a:cubicBezTo>
                <a:cubicBezTo>
                  <a:pt x="161895" y="42863"/>
                  <a:pt x="171450" y="52417"/>
                  <a:pt x="171450" y="64294"/>
                </a:cubicBezTo>
                <a:cubicBezTo>
                  <a:pt x="171450" y="76170"/>
                  <a:pt x="161895" y="85725"/>
                  <a:pt x="150019" y="85725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0" y="34798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地方吸收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58100" y="3937000"/>
            <a:ext cx="388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向内吸收外来技术养分，把差异视为资源。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000" y="50292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76200" y="0"/>
                </a:moveTo>
                <a:lnTo>
                  <a:pt x="11607800" y="0"/>
                </a:lnTo>
                <a:cubicBezTo>
                  <a:pt x="11649856" y="0"/>
                  <a:pt x="11684000" y="34144"/>
                  <a:pt x="11684000" y="76200"/>
                </a:cubicBezTo>
                <a:lnTo>
                  <a:pt x="11684000" y="533400"/>
                </a:lnTo>
                <a:cubicBezTo>
                  <a:pt x="11684000" y="575456"/>
                  <a:pt x="11649856" y="609600"/>
                  <a:pt x="1160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4000" y="5029200"/>
            <a:ext cx="11684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呼吁中国设计摆脱尾随心态，以系统创新激活传统，实现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文化可持续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商业可持续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的统一。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97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结语：设计作为文化树的持续分枝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591628" y="2260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34527" y="25654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66700" y="-38100"/>
                </a:moveTo>
                <a:cubicBezTo>
                  <a:pt x="275034" y="-38100"/>
                  <a:pt x="283012" y="-34409"/>
                  <a:pt x="288488" y="-27980"/>
                </a:cubicBezTo>
                <a:lnTo>
                  <a:pt x="450413" y="162520"/>
                </a:lnTo>
                <a:cubicBezTo>
                  <a:pt x="457676" y="170974"/>
                  <a:pt x="459224" y="182880"/>
                  <a:pt x="454581" y="193000"/>
                </a:cubicBezTo>
                <a:cubicBezTo>
                  <a:pt x="449937" y="203121"/>
                  <a:pt x="439817" y="209550"/>
                  <a:pt x="428625" y="209550"/>
                </a:cubicBezTo>
                <a:lnTo>
                  <a:pt x="398978" y="209550"/>
                </a:lnTo>
                <a:lnTo>
                  <a:pt x="488513" y="314920"/>
                </a:lnTo>
                <a:cubicBezTo>
                  <a:pt x="495776" y="323374"/>
                  <a:pt x="497324" y="335280"/>
                  <a:pt x="492681" y="345400"/>
                </a:cubicBezTo>
                <a:cubicBezTo>
                  <a:pt x="488037" y="355521"/>
                  <a:pt x="477917" y="361950"/>
                  <a:pt x="466725" y="361950"/>
                </a:cubicBezTo>
                <a:lnTo>
                  <a:pt x="420886" y="361950"/>
                </a:lnTo>
                <a:lnTo>
                  <a:pt x="526613" y="486370"/>
                </a:lnTo>
                <a:cubicBezTo>
                  <a:pt x="533876" y="494824"/>
                  <a:pt x="535424" y="506730"/>
                  <a:pt x="530781" y="516850"/>
                </a:cubicBezTo>
                <a:cubicBezTo>
                  <a:pt x="526137" y="526971"/>
                  <a:pt x="516017" y="533400"/>
                  <a:pt x="504825" y="533400"/>
                </a:cubicBezTo>
                <a:lnTo>
                  <a:pt x="304800" y="533400"/>
                </a:lnTo>
                <a:lnTo>
                  <a:pt x="304800" y="609600"/>
                </a:lnTo>
                <a:cubicBezTo>
                  <a:pt x="304800" y="630674"/>
                  <a:pt x="287774" y="647700"/>
                  <a:pt x="266700" y="647700"/>
                </a:cubicBezTo>
                <a:cubicBezTo>
                  <a:pt x="245626" y="647700"/>
                  <a:pt x="228600" y="630674"/>
                  <a:pt x="228600" y="609600"/>
                </a:cubicBezTo>
                <a:lnTo>
                  <a:pt x="228600" y="533400"/>
                </a:lnTo>
                <a:lnTo>
                  <a:pt x="28575" y="533400"/>
                </a:lnTo>
                <a:cubicBezTo>
                  <a:pt x="17383" y="533400"/>
                  <a:pt x="7263" y="526971"/>
                  <a:pt x="2619" y="516850"/>
                </a:cubicBezTo>
                <a:cubicBezTo>
                  <a:pt x="-2024" y="506730"/>
                  <a:pt x="-476" y="494824"/>
                  <a:pt x="6787" y="486370"/>
                </a:cubicBezTo>
                <a:lnTo>
                  <a:pt x="112514" y="361950"/>
                </a:lnTo>
                <a:lnTo>
                  <a:pt x="66675" y="361950"/>
                </a:lnTo>
                <a:cubicBezTo>
                  <a:pt x="55483" y="361950"/>
                  <a:pt x="45363" y="355521"/>
                  <a:pt x="40719" y="345400"/>
                </a:cubicBezTo>
                <a:cubicBezTo>
                  <a:pt x="36076" y="335280"/>
                  <a:pt x="37624" y="323374"/>
                  <a:pt x="44887" y="314920"/>
                </a:cubicBezTo>
                <a:lnTo>
                  <a:pt x="134422" y="209550"/>
                </a:lnTo>
                <a:lnTo>
                  <a:pt x="104775" y="209550"/>
                </a:lnTo>
                <a:cubicBezTo>
                  <a:pt x="93583" y="209550"/>
                  <a:pt x="83463" y="203121"/>
                  <a:pt x="78819" y="193000"/>
                </a:cubicBezTo>
                <a:cubicBezTo>
                  <a:pt x="74176" y="182880"/>
                  <a:pt x="75724" y="170974"/>
                  <a:pt x="82987" y="162520"/>
                </a:cubicBezTo>
                <a:lnTo>
                  <a:pt x="244912" y="-27980"/>
                </a:lnTo>
                <a:cubicBezTo>
                  <a:pt x="250388" y="-34409"/>
                  <a:pt x="258366" y="-38100"/>
                  <a:pt x="266700" y="-381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35814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8862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人类文化似树形同源异分支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52941" y="2895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331708"/>
                </a:moveTo>
                <a:cubicBezTo>
                  <a:pt x="689491" y="316825"/>
                  <a:pt x="689491" y="292656"/>
                  <a:pt x="674608" y="277773"/>
                </a:cubicBezTo>
                <a:lnTo>
                  <a:pt x="522208" y="125373"/>
                </a:lnTo>
                <a:cubicBezTo>
                  <a:pt x="507325" y="110490"/>
                  <a:pt x="483156" y="110490"/>
                  <a:pt x="468273" y="125373"/>
                </a:cubicBezTo>
                <a:cubicBezTo>
                  <a:pt x="453390" y="140256"/>
                  <a:pt x="453390" y="164425"/>
                  <a:pt x="468273" y="179308"/>
                </a:cubicBezTo>
                <a:lnTo>
                  <a:pt x="5556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555665" y="342900"/>
                </a:lnTo>
                <a:lnTo>
                  <a:pt x="468273" y="430292"/>
                </a:lnTo>
                <a:cubicBezTo>
                  <a:pt x="453390" y="445175"/>
                  <a:pt x="453390" y="469344"/>
                  <a:pt x="468273" y="484227"/>
                </a:cubicBezTo>
                <a:cubicBezTo>
                  <a:pt x="483156" y="499110"/>
                  <a:pt x="507325" y="499110"/>
                  <a:pt x="522208" y="484227"/>
                </a:cubicBezTo>
                <a:lnTo>
                  <a:pt x="674608" y="331827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9380855" y="2260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85655" y="2565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38100"/>
                </a:moveTo>
                <a:cubicBezTo>
                  <a:pt x="609600" y="166807"/>
                  <a:pt x="518398" y="274201"/>
                  <a:pt x="397193" y="299323"/>
                </a:cubicBezTo>
                <a:cubicBezTo>
                  <a:pt x="387787" y="230148"/>
                  <a:pt x="356711" y="167878"/>
                  <a:pt x="310872" y="119658"/>
                </a:cubicBezTo>
                <a:cubicBezTo>
                  <a:pt x="358616" y="47625"/>
                  <a:pt x="440412" y="0"/>
                  <a:pt x="533400" y="0"/>
                </a:cubicBezTo>
                <a:lnTo>
                  <a:pt x="571500" y="0"/>
                </a:lnTo>
                <a:cubicBezTo>
                  <a:pt x="592574" y="0"/>
                  <a:pt x="609600" y="17026"/>
                  <a:pt x="609600" y="38100"/>
                </a:cubicBezTo>
                <a:close/>
                <a:moveTo>
                  <a:pt x="0" y="114300"/>
                </a:moveTo>
                <a:cubicBezTo>
                  <a:pt x="0" y="93226"/>
                  <a:pt x="17026" y="76200"/>
                  <a:pt x="38100" y="76200"/>
                </a:cubicBezTo>
                <a:lnTo>
                  <a:pt x="76200" y="76200"/>
                </a:lnTo>
                <a:cubicBezTo>
                  <a:pt x="223480" y="76200"/>
                  <a:pt x="342900" y="195620"/>
                  <a:pt x="342900" y="342900"/>
                </a:cubicBezTo>
                <a:lnTo>
                  <a:pt x="342900" y="571500"/>
                </a:lnTo>
                <a:cubicBezTo>
                  <a:pt x="342900" y="592574"/>
                  <a:pt x="325874" y="609600"/>
                  <a:pt x="304800" y="609600"/>
                </a:cubicBezTo>
                <a:cubicBezTo>
                  <a:pt x="283726" y="609600"/>
                  <a:pt x="266700" y="592574"/>
                  <a:pt x="266700" y="571500"/>
                </a:cubicBezTo>
                <a:lnTo>
                  <a:pt x="266700" y="381000"/>
                </a:lnTo>
                <a:cubicBezTo>
                  <a:pt x="119420" y="381000"/>
                  <a:pt x="0" y="261580"/>
                  <a:pt x="0" y="11430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7789228" y="35814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新节点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89228" y="38862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设计是不断抽新芽的节点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4546600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76197" y="0"/>
                </a:moveTo>
                <a:lnTo>
                  <a:pt x="11607803" y="0"/>
                </a:lnTo>
                <a:cubicBezTo>
                  <a:pt x="11649885" y="0"/>
                  <a:pt x="11684000" y="34115"/>
                  <a:pt x="11684000" y="76197"/>
                </a:cubicBezTo>
                <a:lnTo>
                  <a:pt x="11684000" y="838203"/>
                </a:lnTo>
                <a:cubicBezTo>
                  <a:pt x="11684000" y="880285"/>
                  <a:pt x="11649885" y="914400"/>
                  <a:pt x="11607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4000" y="4546600"/>
            <a:ext cx="11684000" cy="914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设计既被社会、经济、技术塑造，也反向塑造文化。在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资本、人本、环境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三重逻辑中寻找平衡，以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科学为知、技术为能、艺术为感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，才能创造多元且可持续的人为事物。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设计认识论：目标系统与思维方法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2:04:52-d2t62p61bb2p4onbqpl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内外因素：设计问题的界面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目标系统：从抽象到具体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使用意义：动作与结构的共创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方式与合理：系统的评价坐标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生态观：从单向到循环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共生美学：多元反馈的新审美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有限理性与适应性：设计原则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设计思维六步法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内外因素：设计问题的界面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7856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设计生于关系：内外因素的界面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889760"/>
            <a:ext cx="975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设计是外部因素（目的与限定）与内部因素（可能与选择）的交界面，是两者相互适应的动态过程。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-254000" y="3708400"/>
            <a:ext cx="4102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外部因素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216241"/>
            <a:ext cx="359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人的目的环境限定社会文化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8614" y="3007360"/>
            <a:ext cx="3898900" cy="50800"/>
          </a:xfrm>
          <a:custGeom>
            <a:avLst/>
            <a:gdLst/>
            <a:ahLst/>
            <a:cxnLst/>
            <a:rect l="l" t="t" r="r" b="b"/>
            <a:pathLst>
              <a:path w="3898900" h="50800">
                <a:moveTo>
                  <a:pt x="0" y="0"/>
                </a:moveTo>
                <a:lnTo>
                  <a:pt x="3898900" y="0"/>
                </a:lnTo>
                <a:lnTo>
                  <a:pt x="38989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7" name="Shape 5"/>
          <p:cNvSpPr/>
          <p:nvPr/>
        </p:nvSpPr>
        <p:spPr>
          <a:xfrm>
            <a:off x="6089491" y="305816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8" name="Shape 6"/>
          <p:cNvSpPr/>
          <p:nvPr/>
        </p:nvSpPr>
        <p:spPr>
          <a:xfrm>
            <a:off x="5586571" y="3870960"/>
            <a:ext cx="977900" cy="901700"/>
          </a:xfrm>
          <a:custGeom>
            <a:avLst/>
            <a:gdLst/>
            <a:ahLst/>
            <a:cxnLst/>
            <a:rect l="l" t="t" r="r" b="b"/>
            <a:pathLst>
              <a:path w="977900" h="901700">
                <a:moveTo>
                  <a:pt x="101604" y="0"/>
                </a:moveTo>
                <a:lnTo>
                  <a:pt x="876296" y="0"/>
                </a:lnTo>
                <a:cubicBezTo>
                  <a:pt x="932411" y="0"/>
                  <a:pt x="977900" y="45489"/>
                  <a:pt x="977900" y="101604"/>
                </a:cubicBezTo>
                <a:lnTo>
                  <a:pt x="977900" y="800096"/>
                </a:lnTo>
                <a:cubicBezTo>
                  <a:pt x="977900" y="856211"/>
                  <a:pt x="932411" y="901700"/>
                  <a:pt x="876296" y="901700"/>
                </a:cubicBezTo>
                <a:lnTo>
                  <a:pt x="101604" y="901700"/>
                </a:lnTo>
                <a:cubicBezTo>
                  <a:pt x="45489" y="901700"/>
                  <a:pt x="0" y="856211"/>
                  <a:pt x="0" y="8000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10091" y="40944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57150"/>
                </a:moveTo>
                <a:lnTo>
                  <a:pt x="514350" y="57150"/>
                </a:lnTo>
                <a:lnTo>
                  <a:pt x="514350" y="157163"/>
                </a:lnTo>
                <a:cubicBezTo>
                  <a:pt x="480774" y="165556"/>
                  <a:pt x="457200" y="195739"/>
                  <a:pt x="457200" y="230386"/>
                </a:cubicBezTo>
                <a:lnTo>
                  <a:pt x="457200" y="298609"/>
                </a:lnTo>
                <a:cubicBezTo>
                  <a:pt x="438448" y="289947"/>
                  <a:pt x="418356" y="285661"/>
                  <a:pt x="398264" y="285750"/>
                </a:cubicBezTo>
                <a:cubicBezTo>
                  <a:pt x="389334" y="285839"/>
                  <a:pt x="380315" y="286732"/>
                  <a:pt x="371475" y="288518"/>
                </a:cubicBezTo>
                <a:lnTo>
                  <a:pt x="371475" y="257175"/>
                </a:lnTo>
                <a:cubicBezTo>
                  <a:pt x="371475" y="209848"/>
                  <a:pt x="333077" y="171450"/>
                  <a:pt x="285750" y="171450"/>
                </a:cubicBezTo>
                <a:cubicBezTo>
                  <a:pt x="238423" y="171450"/>
                  <a:pt x="200025" y="209848"/>
                  <a:pt x="200025" y="257175"/>
                </a:cubicBezTo>
                <a:lnTo>
                  <a:pt x="200025" y="286375"/>
                </a:lnTo>
                <a:cubicBezTo>
                  <a:pt x="195292" y="285929"/>
                  <a:pt x="190470" y="285661"/>
                  <a:pt x="185738" y="285750"/>
                </a:cubicBezTo>
                <a:cubicBezTo>
                  <a:pt x="161002" y="285929"/>
                  <a:pt x="136267" y="292715"/>
                  <a:pt x="114300" y="306288"/>
                </a:cubicBezTo>
                <a:lnTo>
                  <a:pt x="114300" y="230386"/>
                </a:lnTo>
                <a:cubicBezTo>
                  <a:pt x="114300" y="195739"/>
                  <a:pt x="90726" y="165556"/>
                  <a:pt x="57150" y="157163"/>
                </a:cubicBezTo>
                <a:lnTo>
                  <a:pt x="57150" y="57150"/>
                </a:lnTo>
                <a:close/>
                <a:moveTo>
                  <a:pt x="360224" y="396567"/>
                </a:moveTo>
                <a:cubicBezTo>
                  <a:pt x="338524" y="412819"/>
                  <a:pt x="313521" y="428625"/>
                  <a:pt x="285750" y="428625"/>
                </a:cubicBezTo>
                <a:cubicBezTo>
                  <a:pt x="257979" y="428625"/>
                  <a:pt x="232976" y="412819"/>
                  <a:pt x="211276" y="396567"/>
                </a:cubicBezTo>
                <a:cubicBezTo>
                  <a:pt x="192256" y="382191"/>
                  <a:pt x="166717" y="382191"/>
                  <a:pt x="147697" y="396567"/>
                </a:cubicBezTo>
                <a:cubicBezTo>
                  <a:pt x="126444" y="412552"/>
                  <a:pt x="99387" y="428268"/>
                  <a:pt x="69026" y="428089"/>
                </a:cubicBezTo>
                <a:cubicBezTo>
                  <a:pt x="50810" y="428000"/>
                  <a:pt x="32683" y="422106"/>
                  <a:pt x="15627" y="409248"/>
                </a:cubicBezTo>
                <a:cubicBezTo>
                  <a:pt x="6161" y="402104"/>
                  <a:pt x="4286" y="388709"/>
                  <a:pt x="11430" y="379244"/>
                </a:cubicBezTo>
                <a:cubicBezTo>
                  <a:pt x="18574" y="369778"/>
                  <a:pt x="31968" y="367903"/>
                  <a:pt x="41434" y="375047"/>
                </a:cubicBezTo>
                <a:cubicBezTo>
                  <a:pt x="51524" y="382637"/>
                  <a:pt x="60722" y="385227"/>
                  <a:pt x="69294" y="385316"/>
                </a:cubicBezTo>
                <a:cubicBezTo>
                  <a:pt x="85011" y="385405"/>
                  <a:pt x="102602" y="376922"/>
                  <a:pt x="121890" y="362367"/>
                </a:cubicBezTo>
                <a:cubicBezTo>
                  <a:pt x="156180" y="336471"/>
                  <a:pt x="202704" y="336471"/>
                  <a:pt x="237083" y="362367"/>
                </a:cubicBezTo>
                <a:cubicBezTo>
                  <a:pt x="258514" y="378529"/>
                  <a:pt x="273427" y="385852"/>
                  <a:pt x="285750" y="385852"/>
                </a:cubicBezTo>
                <a:cubicBezTo>
                  <a:pt x="298073" y="385852"/>
                  <a:pt x="312986" y="378529"/>
                  <a:pt x="334417" y="362367"/>
                </a:cubicBezTo>
                <a:cubicBezTo>
                  <a:pt x="368707" y="336471"/>
                  <a:pt x="415230" y="336471"/>
                  <a:pt x="449610" y="362367"/>
                </a:cubicBezTo>
                <a:cubicBezTo>
                  <a:pt x="464701" y="373707"/>
                  <a:pt x="478988" y="381566"/>
                  <a:pt x="492294" y="384334"/>
                </a:cubicBezTo>
                <a:cubicBezTo>
                  <a:pt x="504527" y="386834"/>
                  <a:pt x="516761" y="385137"/>
                  <a:pt x="530066" y="375136"/>
                </a:cubicBezTo>
                <a:cubicBezTo>
                  <a:pt x="539532" y="367992"/>
                  <a:pt x="552926" y="369868"/>
                  <a:pt x="560070" y="379333"/>
                </a:cubicBezTo>
                <a:cubicBezTo>
                  <a:pt x="567214" y="388799"/>
                  <a:pt x="565339" y="402193"/>
                  <a:pt x="555873" y="409337"/>
                </a:cubicBezTo>
                <a:cubicBezTo>
                  <a:pt x="532299" y="427107"/>
                  <a:pt x="507474" y="431125"/>
                  <a:pt x="483810" y="426393"/>
                </a:cubicBezTo>
                <a:cubicBezTo>
                  <a:pt x="461218" y="421838"/>
                  <a:pt x="440859" y="409515"/>
                  <a:pt x="423803" y="396657"/>
                </a:cubicBezTo>
                <a:cubicBezTo>
                  <a:pt x="404783" y="382280"/>
                  <a:pt x="379244" y="382280"/>
                  <a:pt x="360224" y="396657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491" y="4815840"/>
            <a:ext cx="12700" cy="812800"/>
          </a:xfrm>
          <a:custGeom>
            <a:avLst/>
            <a:gdLst/>
            <a:ahLst/>
            <a:cxnLst/>
            <a:rect l="l" t="t" r="r" b="b"/>
            <a:pathLst>
              <a:path w="12700" h="812800">
                <a:moveTo>
                  <a:pt x="0" y="0"/>
                </a:moveTo>
                <a:lnTo>
                  <a:pt x="12700" y="0"/>
                </a:lnTo>
                <a:lnTo>
                  <a:pt x="127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11" name="Shape 9"/>
          <p:cNvSpPr/>
          <p:nvPr/>
        </p:nvSpPr>
        <p:spPr>
          <a:xfrm>
            <a:off x="4148614" y="5628640"/>
            <a:ext cx="3898900" cy="50800"/>
          </a:xfrm>
          <a:custGeom>
            <a:avLst/>
            <a:gdLst/>
            <a:ahLst/>
            <a:cxnLst/>
            <a:rect l="l" t="t" r="r" b="b"/>
            <a:pathLst>
              <a:path w="3898900" h="50800">
                <a:moveTo>
                  <a:pt x="0" y="0"/>
                </a:moveTo>
                <a:lnTo>
                  <a:pt x="3898900" y="0"/>
                </a:lnTo>
                <a:lnTo>
                  <a:pt x="38989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12" name="Text 10"/>
          <p:cNvSpPr/>
          <p:nvPr/>
        </p:nvSpPr>
        <p:spPr>
          <a:xfrm>
            <a:off x="8348028" y="3708400"/>
            <a:ext cx="4102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内部因素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48028" y="4216241"/>
            <a:ext cx="3594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技术选择材料工艺结构形态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986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适应性系统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574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人为事物的存在逻辑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6162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人为事物是人的目的与环境之间的界面，其功能是在环境允许下达到人的目的。设计即通过调整内部系统以适应外部环境的变化。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3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46075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3886200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人的目的：充饥、移动、通信...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39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317500" y="4483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" y="4445000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内部系统：石斧、网银、手机...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075" y="504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5003800"/>
            <a:ext cx="280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外部环境：动物肉、商业交易...</a:t>
            </a:r>
            <a:endParaRPr lang="en-US" sz="1600" dirty="0"/>
          </a:p>
        </p:txBody>
      </p:sp>
      <p:pic>
        <p:nvPicPr>
          <p:cNvPr id="14" name="Image 0" descr="https://kimi-web-img.moonshot.cn/img/as2.ftcdn.net/dc7fbb3b54d76602490157ca652b3c1727fd88c3.jpg"/>
          <p:cNvPicPr>
            <a:picLocks noChangeAspect="1"/>
          </p:cNvPicPr>
          <p:nvPr/>
        </p:nvPicPr>
        <p:blipFill>
          <a:blip r:embed="rId3"/>
          <a:srcRect l="13837" r="13837"/>
          <a:stretch/>
        </p:blipFill>
        <p:spPr>
          <a:xfrm>
            <a:off x="5334000" y="783114"/>
            <a:ext cx="6604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452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双向适应：目的与手段的循环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3332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设计是目的与手段相互适应的结果，通过循环往复的反馈与调整，在内外因素间寻找最佳契合点。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766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0975" y="36728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明确目标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调研需求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24200" y="4191000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41484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8963" y="3672841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762" y="72256"/>
                </a:moveTo>
                <a:lnTo>
                  <a:pt x="166762" y="109165"/>
                </a:lnTo>
                <a:lnTo>
                  <a:pt x="167134" y="109537"/>
                </a:lnTo>
                <a:cubicBezTo>
                  <a:pt x="171971" y="48220"/>
                  <a:pt x="223242" y="0"/>
                  <a:pt x="285824" y="0"/>
                </a:cubicBezTo>
                <a:cubicBezTo>
                  <a:pt x="300782" y="0"/>
                  <a:pt x="315144" y="2753"/>
                  <a:pt x="328315" y="7813"/>
                </a:cubicBezTo>
                <a:cubicBezTo>
                  <a:pt x="335756" y="10641"/>
                  <a:pt x="337096" y="20092"/>
                  <a:pt x="331515" y="25747"/>
                </a:cubicBezTo>
                <a:lnTo>
                  <a:pt x="265509" y="91753"/>
                </a:lnTo>
                <a:cubicBezTo>
                  <a:pt x="263277" y="93985"/>
                  <a:pt x="262012" y="97036"/>
                  <a:pt x="262012" y="100161"/>
                </a:cubicBezTo>
                <a:lnTo>
                  <a:pt x="262012" y="130969"/>
                </a:lnTo>
                <a:cubicBezTo>
                  <a:pt x="262012" y="137517"/>
                  <a:pt x="267370" y="142875"/>
                  <a:pt x="273918" y="142875"/>
                </a:cubicBezTo>
                <a:lnTo>
                  <a:pt x="304726" y="142875"/>
                </a:lnTo>
                <a:cubicBezTo>
                  <a:pt x="307851" y="142875"/>
                  <a:pt x="310902" y="141610"/>
                  <a:pt x="313134" y="139378"/>
                </a:cubicBezTo>
                <a:lnTo>
                  <a:pt x="379140" y="73372"/>
                </a:lnTo>
                <a:cubicBezTo>
                  <a:pt x="384795" y="67717"/>
                  <a:pt x="394246" y="69131"/>
                  <a:pt x="397073" y="76572"/>
                </a:cubicBezTo>
                <a:cubicBezTo>
                  <a:pt x="402134" y="89743"/>
                  <a:pt x="404887" y="104105"/>
                  <a:pt x="404887" y="119063"/>
                </a:cubicBezTo>
                <a:cubicBezTo>
                  <a:pt x="404887" y="164157"/>
                  <a:pt x="379809" y="203448"/>
                  <a:pt x="342751" y="223614"/>
                </a:cubicBezTo>
                <a:lnTo>
                  <a:pt x="403399" y="284262"/>
                </a:lnTo>
                <a:cubicBezTo>
                  <a:pt x="417314" y="298177"/>
                  <a:pt x="417314" y="320799"/>
                  <a:pt x="403399" y="334789"/>
                </a:cubicBezTo>
                <a:lnTo>
                  <a:pt x="358676" y="379512"/>
                </a:lnTo>
                <a:cubicBezTo>
                  <a:pt x="344760" y="393427"/>
                  <a:pt x="322138" y="393427"/>
                  <a:pt x="308149" y="379512"/>
                </a:cubicBezTo>
                <a:lnTo>
                  <a:pt x="214387" y="285750"/>
                </a:lnTo>
                <a:cubicBezTo>
                  <a:pt x="193997" y="265361"/>
                  <a:pt x="189384" y="235223"/>
                  <a:pt x="200620" y="210369"/>
                </a:cubicBezTo>
                <a:lnTo>
                  <a:pt x="133127" y="142875"/>
                </a:lnTo>
                <a:lnTo>
                  <a:pt x="96217" y="142875"/>
                </a:lnTo>
                <a:cubicBezTo>
                  <a:pt x="88255" y="142875"/>
                  <a:pt x="80814" y="138931"/>
                  <a:pt x="76423" y="132308"/>
                </a:cubicBezTo>
                <a:lnTo>
                  <a:pt x="17413" y="43830"/>
                </a:lnTo>
                <a:cubicBezTo>
                  <a:pt x="14288" y="39142"/>
                  <a:pt x="14883" y="32817"/>
                  <a:pt x="18901" y="28798"/>
                </a:cubicBezTo>
                <a:lnTo>
                  <a:pt x="52685" y="-4986"/>
                </a:lnTo>
                <a:cubicBezTo>
                  <a:pt x="56704" y="-9004"/>
                  <a:pt x="62954" y="-9599"/>
                  <a:pt x="67717" y="-6474"/>
                </a:cubicBezTo>
                <a:lnTo>
                  <a:pt x="156195" y="52462"/>
                </a:lnTo>
                <a:cubicBezTo>
                  <a:pt x="162818" y="56852"/>
                  <a:pt x="166762" y="64294"/>
                  <a:pt x="166762" y="72256"/>
                </a:cubicBezTo>
                <a:close/>
                <a:moveTo>
                  <a:pt x="160437" y="220712"/>
                </a:moveTo>
                <a:cubicBezTo>
                  <a:pt x="155749" y="248245"/>
                  <a:pt x="162223" y="277341"/>
                  <a:pt x="180082" y="300633"/>
                </a:cubicBezTo>
                <a:lnTo>
                  <a:pt x="109389" y="371252"/>
                </a:lnTo>
                <a:cubicBezTo>
                  <a:pt x="88478" y="392162"/>
                  <a:pt x="54546" y="392162"/>
                  <a:pt x="33635" y="371252"/>
                </a:cubicBezTo>
                <a:cubicBezTo>
                  <a:pt x="12725" y="350341"/>
                  <a:pt x="12725" y="316409"/>
                  <a:pt x="33635" y="295498"/>
                </a:cubicBezTo>
                <a:lnTo>
                  <a:pt x="134392" y="194742"/>
                </a:lnTo>
                <a:lnTo>
                  <a:pt x="160437" y="220787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9497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构筑手段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005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组织内部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4191000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202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763" y="3672841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85750" y="107156"/>
                </a:moveTo>
                <a:cubicBezTo>
                  <a:pt x="285750" y="179487"/>
                  <a:pt x="221754" y="238125"/>
                  <a:pt x="142875" y="238125"/>
                </a:cubicBezTo>
                <a:cubicBezTo>
                  <a:pt x="123006" y="238125"/>
                  <a:pt x="104105" y="234404"/>
                  <a:pt x="86916" y="227707"/>
                </a:cubicBezTo>
                <a:lnTo>
                  <a:pt x="26194" y="259854"/>
                </a:lnTo>
                <a:cubicBezTo>
                  <a:pt x="19273" y="263500"/>
                  <a:pt x="10790" y="262235"/>
                  <a:pt x="5209" y="256729"/>
                </a:cubicBezTo>
                <a:cubicBezTo>
                  <a:pt x="-372" y="251222"/>
                  <a:pt x="-1637" y="242664"/>
                  <a:pt x="2084" y="235744"/>
                </a:cubicBezTo>
                <a:lnTo>
                  <a:pt x="28575" y="185738"/>
                </a:lnTo>
                <a:cubicBezTo>
                  <a:pt x="10641" y="163860"/>
                  <a:pt x="0" y="136624"/>
                  <a:pt x="0" y="107156"/>
                </a:cubicBezTo>
                <a:cubicBezTo>
                  <a:pt x="0" y="34826"/>
                  <a:pt x="63996" y="-23812"/>
                  <a:pt x="142875" y="-23812"/>
                </a:cubicBezTo>
                <a:cubicBezTo>
                  <a:pt x="221754" y="-23812"/>
                  <a:pt x="285750" y="34826"/>
                  <a:pt x="285750" y="107156"/>
                </a:cubicBezTo>
                <a:close/>
                <a:moveTo>
                  <a:pt x="285750" y="381000"/>
                </a:moveTo>
                <a:cubicBezTo>
                  <a:pt x="215726" y="381000"/>
                  <a:pt x="157460" y="334789"/>
                  <a:pt x="145256" y="273844"/>
                </a:cubicBezTo>
                <a:cubicBezTo>
                  <a:pt x="234553" y="272728"/>
                  <a:pt x="312167" y="209178"/>
                  <a:pt x="320725" y="123006"/>
                </a:cubicBezTo>
                <a:cubicBezTo>
                  <a:pt x="382712" y="137294"/>
                  <a:pt x="428625" y="188714"/>
                  <a:pt x="428625" y="250031"/>
                </a:cubicBezTo>
                <a:cubicBezTo>
                  <a:pt x="428625" y="279499"/>
                  <a:pt x="417984" y="306735"/>
                  <a:pt x="400050" y="328613"/>
                </a:cubicBezTo>
                <a:lnTo>
                  <a:pt x="426541" y="378619"/>
                </a:lnTo>
                <a:cubicBezTo>
                  <a:pt x="430188" y="385539"/>
                  <a:pt x="428923" y="394022"/>
                  <a:pt x="423416" y="399604"/>
                </a:cubicBezTo>
                <a:cubicBezTo>
                  <a:pt x="417909" y="405185"/>
                  <a:pt x="409352" y="406450"/>
                  <a:pt x="402431" y="402729"/>
                </a:cubicBezTo>
                <a:lnTo>
                  <a:pt x="341709" y="370582"/>
                </a:lnTo>
                <a:cubicBezTo>
                  <a:pt x="324520" y="377279"/>
                  <a:pt x="305619" y="381000"/>
                  <a:pt x="285750" y="3810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215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外部评估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723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获取反馈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67800" y="4191000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92055" y="3449320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6375" y="367284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893300" y="442468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修改完善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44100" y="472948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循环往复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目标系统：从抽象到具体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27200"/>
            <a:ext cx="604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从抽象到具体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86000"/>
            <a:ext cx="604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目标与目标系统的转化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844800"/>
            <a:ext cx="553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目标是抽象的，而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目标系统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是抽象目标在具体时空、文化、社会背景下的适应性选择。它是设计定位的具体化，是评价体系的基础。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4064000"/>
            <a:ext cx="5537200" cy="1066800"/>
          </a:xfrm>
          <a:custGeom>
            <a:avLst/>
            <a:gdLst/>
            <a:ahLst/>
            <a:cxnLst/>
            <a:rect l="l" t="t" r="r" b="b"/>
            <a:pathLst>
              <a:path w="5537200" h="1066800">
                <a:moveTo>
                  <a:pt x="101602" y="0"/>
                </a:moveTo>
                <a:lnTo>
                  <a:pt x="5435598" y="0"/>
                </a:lnTo>
                <a:cubicBezTo>
                  <a:pt x="5491711" y="0"/>
                  <a:pt x="5537200" y="45489"/>
                  <a:pt x="5537200" y="101602"/>
                </a:cubicBezTo>
                <a:lnTo>
                  <a:pt x="5537200" y="965198"/>
                </a:lnTo>
                <a:cubicBezTo>
                  <a:pt x="5537200" y="1021311"/>
                  <a:pt x="5491711" y="1066800"/>
                  <a:pt x="54355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03200" y="4267200"/>
            <a:ext cx="563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抽象目标 + 外部因素 = 具体目标系统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" y="4673600"/>
            <a:ext cx="563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(人、环境、条件等)</a:t>
            </a:r>
            <a:endParaRPr lang="en-US" sz="1600" dirty="0"/>
          </a:p>
        </p:txBody>
      </p:sp>
      <p:pic>
        <p:nvPicPr>
          <p:cNvPr id="8" name="Image 0" descr="https://kimi-web-img.moonshot.cn/img/img.freepik.com/f55a98491e43d746153ed92a4c1001e837d9db7e.jpg"/>
          <p:cNvPicPr>
            <a:picLocks noChangeAspect="1"/>
          </p:cNvPicPr>
          <p:nvPr/>
        </p:nvPicPr>
        <p:blipFill>
          <a:blip r:embed="rId3"/>
          <a:srcRect l="20957" r="20957"/>
          <a:stretch/>
        </p:blipFill>
        <p:spPr>
          <a:xfrm>
            <a:off x="6400800" y="254000"/>
            <a:ext cx="5537200" cy="6350000"/>
          </a:xfrm>
          <a:prstGeom prst="roundRect">
            <a:avLst>
              <a:gd name="adj" fmla="val 1835"/>
            </a:avLst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74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计时目标的多元裂变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133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同一抽象目标“计时”，在不同人群、情境、动机下，衍生出截然不同的具体目标系统，决定了设计的巨大差异。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400" y="31496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588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7112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9473" y="20122"/>
                </a:moveTo>
                <a:cubicBezTo>
                  <a:pt x="72152" y="16490"/>
                  <a:pt x="76438" y="14287"/>
                  <a:pt x="80962" y="14287"/>
                </a:cubicBezTo>
                <a:lnTo>
                  <a:pt x="223838" y="14287"/>
                </a:lnTo>
                <a:cubicBezTo>
                  <a:pt x="228362" y="14287"/>
                  <a:pt x="232648" y="16431"/>
                  <a:pt x="235327" y="20122"/>
                </a:cubicBezTo>
                <a:lnTo>
                  <a:pt x="302002" y="110609"/>
                </a:lnTo>
                <a:cubicBezTo>
                  <a:pt x="306050" y="116086"/>
                  <a:pt x="305633" y="123646"/>
                  <a:pt x="301109" y="128707"/>
                </a:cubicBezTo>
                <a:lnTo>
                  <a:pt x="162997" y="281107"/>
                </a:lnTo>
                <a:cubicBezTo>
                  <a:pt x="160318" y="284083"/>
                  <a:pt x="156448" y="285810"/>
                  <a:pt x="152400" y="285810"/>
                </a:cubicBezTo>
                <a:cubicBezTo>
                  <a:pt x="148352" y="285810"/>
                  <a:pt x="144542" y="284083"/>
                  <a:pt x="141803" y="281107"/>
                </a:cubicBezTo>
                <a:lnTo>
                  <a:pt x="3691" y="128707"/>
                </a:lnTo>
                <a:cubicBezTo>
                  <a:pt x="-893" y="123646"/>
                  <a:pt x="-1250" y="116086"/>
                  <a:pt x="2798" y="110609"/>
                </a:cubicBezTo>
                <a:lnTo>
                  <a:pt x="69473" y="20122"/>
                </a:lnTo>
                <a:close/>
                <a:moveTo>
                  <a:pt x="92393" y="43815"/>
                </a:moveTo>
                <a:cubicBezTo>
                  <a:pt x="90428" y="45303"/>
                  <a:pt x="89892" y="47982"/>
                  <a:pt x="91142" y="50066"/>
                </a:cubicBezTo>
                <a:lnTo>
                  <a:pt x="125313" y="107037"/>
                </a:lnTo>
                <a:lnTo>
                  <a:pt x="37683" y="114300"/>
                </a:lnTo>
                <a:cubicBezTo>
                  <a:pt x="35243" y="114479"/>
                  <a:pt x="33338" y="116562"/>
                  <a:pt x="33338" y="119062"/>
                </a:cubicBezTo>
                <a:cubicBezTo>
                  <a:pt x="33338" y="121563"/>
                  <a:pt x="35243" y="123587"/>
                  <a:pt x="37683" y="123825"/>
                </a:cubicBezTo>
                <a:lnTo>
                  <a:pt x="151983" y="133350"/>
                </a:lnTo>
                <a:cubicBezTo>
                  <a:pt x="152221" y="133350"/>
                  <a:pt x="152519" y="133350"/>
                  <a:pt x="152757" y="133350"/>
                </a:cubicBezTo>
                <a:lnTo>
                  <a:pt x="267057" y="123825"/>
                </a:lnTo>
                <a:cubicBezTo>
                  <a:pt x="269498" y="123646"/>
                  <a:pt x="271403" y="121563"/>
                  <a:pt x="271403" y="119062"/>
                </a:cubicBezTo>
                <a:cubicBezTo>
                  <a:pt x="271403" y="116562"/>
                  <a:pt x="269498" y="114538"/>
                  <a:pt x="267057" y="114300"/>
                </a:cubicBezTo>
                <a:lnTo>
                  <a:pt x="179427" y="106978"/>
                </a:lnTo>
                <a:lnTo>
                  <a:pt x="213598" y="50066"/>
                </a:lnTo>
                <a:cubicBezTo>
                  <a:pt x="214848" y="47982"/>
                  <a:pt x="214313" y="45244"/>
                  <a:pt x="212348" y="43815"/>
                </a:cubicBezTo>
                <a:cubicBezTo>
                  <a:pt x="210383" y="42386"/>
                  <a:pt x="207645" y="42624"/>
                  <a:pt x="205978" y="44410"/>
                </a:cubicBezTo>
                <a:lnTo>
                  <a:pt x="152400" y="102513"/>
                </a:lnTo>
                <a:lnTo>
                  <a:pt x="98762" y="44410"/>
                </a:lnTo>
                <a:cubicBezTo>
                  <a:pt x="97095" y="42624"/>
                  <a:pt x="94357" y="42386"/>
                  <a:pt x="92393" y="438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3274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劳力士：身份象征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632200"/>
            <a:ext cx="353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计时功能弱化，彰显社会地位与财富。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9200" y="31496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516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66040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64400" y="3327400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Swatch：时尚配饰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4400" y="3632200"/>
            <a:ext cx="370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计时退居次席，成为个性与潮流的表达。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400" y="43688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58800" y="452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11200" y="467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698" y="0"/>
                </a:moveTo>
                <a:cubicBezTo>
                  <a:pt x="161449" y="0"/>
                  <a:pt x="169485" y="4822"/>
                  <a:pt x="173653" y="12502"/>
                </a:cubicBezTo>
                <a:lnTo>
                  <a:pt x="302240" y="250627"/>
                </a:lnTo>
                <a:cubicBezTo>
                  <a:pt x="306229" y="258008"/>
                  <a:pt x="306050" y="266938"/>
                  <a:pt x="301764" y="274141"/>
                </a:cubicBezTo>
                <a:cubicBezTo>
                  <a:pt x="297478" y="281345"/>
                  <a:pt x="289679" y="285750"/>
                  <a:pt x="281345" y="285750"/>
                </a:cubicBezTo>
                <a:lnTo>
                  <a:pt x="24170" y="285750"/>
                </a:lnTo>
                <a:cubicBezTo>
                  <a:pt x="15776" y="285750"/>
                  <a:pt x="8037" y="281345"/>
                  <a:pt x="3750" y="274141"/>
                </a:cubicBezTo>
                <a:cubicBezTo>
                  <a:pt x="-536" y="266938"/>
                  <a:pt x="-714" y="258008"/>
                  <a:pt x="3274" y="250627"/>
                </a:cubicBezTo>
                <a:lnTo>
                  <a:pt x="131862" y="12502"/>
                </a:lnTo>
                <a:lnTo>
                  <a:pt x="133588" y="9763"/>
                </a:lnTo>
                <a:cubicBezTo>
                  <a:pt x="137934" y="3691"/>
                  <a:pt x="145018" y="0"/>
                  <a:pt x="152698" y="0"/>
                </a:cubicBezTo>
                <a:close/>
                <a:moveTo>
                  <a:pt x="101441" y="148769"/>
                </a:moveTo>
                <a:lnTo>
                  <a:pt x="117396" y="164723"/>
                </a:lnTo>
                <a:cubicBezTo>
                  <a:pt x="121087" y="168414"/>
                  <a:pt x="127159" y="168414"/>
                  <a:pt x="130850" y="164723"/>
                </a:cubicBezTo>
                <a:lnTo>
                  <a:pt x="156627" y="138946"/>
                </a:lnTo>
                <a:cubicBezTo>
                  <a:pt x="160199" y="135374"/>
                  <a:pt x="165021" y="133350"/>
                  <a:pt x="170081" y="133350"/>
                </a:cubicBezTo>
                <a:lnTo>
                  <a:pt x="195560" y="133350"/>
                </a:lnTo>
                <a:lnTo>
                  <a:pt x="152638" y="53876"/>
                </a:lnTo>
                <a:lnTo>
                  <a:pt x="101382" y="1487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5466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登山表：专业工具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514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集成高度、气压计，是户外探险的可靠伙伴。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99200" y="4368800"/>
            <a:ext cx="5486400" cy="914400"/>
          </a:xfrm>
          <a:custGeom>
            <a:avLst/>
            <a:gdLst/>
            <a:ahLst/>
            <a:cxnLst/>
            <a:rect l="l" t="t" r="r" b="b"/>
            <a:pathLst>
              <a:path w="5486400" h="914400">
                <a:moveTo>
                  <a:pt x="101599" y="0"/>
                </a:moveTo>
                <a:lnTo>
                  <a:pt x="5384801" y="0"/>
                </a:lnTo>
                <a:cubicBezTo>
                  <a:pt x="5440913" y="0"/>
                  <a:pt x="5486400" y="45487"/>
                  <a:pt x="5486400" y="101599"/>
                </a:cubicBezTo>
                <a:lnTo>
                  <a:pt x="5486400" y="812801"/>
                </a:lnTo>
                <a:cubicBezTo>
                  <a:pt x="5486400" y="868913"/>
                  <a:pt x="5440913" y="914400"/>
                  <a:pt x="5384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1600" y="452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4950" y="4673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64400" y="454660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老怀表：情感寄托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4400" y="4851400"/>
            <a:ext cx="388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计时功能被替代，承载回忆、怀旧与情感。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9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目标系统驱动创新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574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Dyson旋风吸尘器案例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6162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在“清除尘土”的共同目标下，Dyson通过革新内部因素——应用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二元离心技术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，解决了传统吸尘器吸力衰减的问题，创造了全新的产品品类，重塑了用户期待。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83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17500" y="3924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38354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内部革新: 抛弃尘袋，采用离心力分离灰尘。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394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7"/>
          <p:cNvSpPr/>
          <p:nvPr/>
        </p:nvSpPr>
        <p:spPr>
          <a:xfrm>
            <a:off x="346075" y="448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" y="43942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技术突破: 持续强劲吸力，解决用户痛点。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075" y="5041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12800" y="4953000"/>
            <a:ext cx="417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重塑期待: 技术突破反向定义了新的目标系统。</a:t>
            </a:r>
            <a:endParaRPr lang="en-US" sz="1600" dirty="0"/>
          </a:p>
        </p:txBody>
      </p:sp>
      <p:pic>
        <p:nvPicPr>
          <p:cNvPr id="14" name="Image 0" descr="https://kimi-web-img.moonshot.cn/img/kjsx.oss-cn-hangzhou.aliyuncs.com/b5dd5fef557adc2f9d224e5d0678c29414916d3b.jpg"/>
          <p:cNvPicPr>
            <a:picLocks noChangeAspect="1"/>
          </p:cNvPicPr>
          <p:nvPr/>
        </p:nvPicPr>
        <p:blipFill>
          <a:blip r:embed="rId3"/>
          <a:srcRect l="19266" r="19266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使用意义：动作与结构的共创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71321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使用即对话：人与物的双向动作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30121"/>
            <a:ext cx="1026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使用是连接人与物的桥梁，是动作的发出与反馈，是经验的积累与文明的创造。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52855" y="2941321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7175" y="31648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23812"/>
                </a:moveTo>
                <a:cubicBezTo>
                  <a:pt x="214313" y="10641"/>
                  <a:pt x="203671" y="0"/>
                  <a:pt x="190500" y="0"/>
                </a:cubicBezTo>
                <a:cubicBezTo>
                  <a:pt x="177329" y="0"/>
                  <a:pt x="166688" y="10641"/>
                  <a:pt x="166688" y="23812"/>
                </a:cubicBezTo>
                <a:lnTo>
                  <a:pt x="166688" y="178594"/>
                </a:lnTo>
                <a:cubicBezTo>
                  <a:pt x="166688" y="185142"/>
                  <a:pt x="161330" y="190500"/>
                  <a:pt x="154781" y="190500"/>
                </a:cubicBezTo>
                <a:cubicBezTo>
                  <a:pt x="148233" y="190500"/>
                  <a:pt x="142875" y="185142"/>
                  <a:pt x="142875" y="178594"/>
                </a:cubicBezTo>
                <a:lnTo>
                  <a:pt x="142875" y="47625"/>
                </a:lnTo>
                <a:cubicBezTo>
                  <a:pt x="142875" y="34454"/>
                  <a:pt x="132234" y="23812"/>
                  <a:pt x="119063" y="23812"/>
                </a:cubicBezTo>
                <a:cubicBezTo>
                  <a:pt x="105891" y="23812"/>
                  <a:pt x="95250" y="34454"/>
                  <a:pt x="95250" y="47625"/>
                </a:cubicBezTo>
                <a:lnTo>
                  <a:pt x="95250" y="250031"/>
                </a:lnTo>
                <a:cubicBezTo>
                  <a:pt x="95250" y="251147"/>
                  <a:pt x="95250" y="252338"/>
                  <a:pt x="95324" y="253454"/>
                </a:cubicBezTo>
                <a:lnTo>
                  <a:pt x="50304" y="210592"/>
                </a:lnTo>
                <a:cubicBezTo>
                  <a:pt x="38398" y="199281"/>
                  <a:pt x="19571" y="199727"/>
                  <a:pt x="8186" y="211634"/>
                </a:cubicBezTo>
                <a:cubicBezTo>
                  <a:pt x="-3200" y="223540"/>
                  <a:pt x="-2679" y="242367"/>
                  <a:pt x="9227" y="253752"/>
                </a:cubicBezTo>
                <a:lnTo>
                  <a:pt x="92869" y="333375"/>
                </a:lnTo>
                <a:cubicBezTo>
                  <a:pt x="124941" y="363959"/>
                  <a:pt x="167580" y="381000"/>
                  <a:pt x="211931" y="381000"/>
                </a:cubicBezTo>
                <a:lnTo>
                  <a:pt x="226219" y="381000"/>
                </a:lnTo>
                <a:cubicBezTo>
                  <a:pt x="298549" y="381000"/>
                  <a:pt x="357188" y="322362"/>
                  <a:pt x="357188" y="250031"/>
                </a:cubicBezTo>
                <a:lnTo>
                  <a:pt x="357188" y="95250"/>
                </a:lnTo>
                <a:cubicBezTo>
                  <a:pt x="357188" y="82079"/>
                  <a:pt x="346546" y="71438"/>
                  <a:pt x="333375" y="71438"/>
                </a:cubicBezTo>
                <a:cubicBezTo>
                  <a:pt x="320204" y="71438"/>
                  <a:pt x="309563" y="82079"/>
                  <a:pt x="309563" y="95250"/>
                </a:cubicBezTo>
                <a:lnTo>
                  <a:pt x="309563" y="178594"/>
                </a:lnTo>
                <a:cubicBezTo>
                  <a:pt x="309563" y="185142"/>
                  <a:pt x="304205" y="190500"/>
                  <a:pt x="297656" y="190500"/>
                </a:cubicBezTo>
                <a:cubicBezTo>
                  <a:pt x="291108" y="190500"/>
                  <a:pt x="285750" y="185142"/>
                  <a:pt x="285750" y="178594"/>
                </a:cubicBezTo>
                <a:lnTo>
                  <a:pt x="285750" y="47625"/>
                </a:lnTo>
                <a:cubicBezTo>
                  <a:pt x="285750" y="34454"/>
                  <a:pt x="275109" y="23812"/>
                  <a:pt x="261938" y="23812"/>
                </a:cubicBezTo>
                <a:cubicBezTo>
                  <a:pt x="248766" y="23812"/>
                  <a:pt x="238125" y="34454"/>
                  <a:pt x="238125" y="47625"/>
                </a:cubicBezTo>
                <a:lnTo>
                  <a:pt x="238125" y="178594"/>
                </a:lnTo>
                <a:cubicBezTo>
                  <a:pt x="238125" y="185142"/>
                  <a:pt x="232767" y="190500"/>
                  <a:pt x="226219" y="190500"/>
                </a:cubicBezTo>
                <a:cubicBezTo>
                  <a:pt x="219670" y="190500"/>
                  <a:pt x="214313" y="185142"/>
                  <a:pt x="214313" y="178594"/>
                </a:cubicBezTo>
                <a:lnTo>
                  <a:pt x="214313" y="23812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54100" y="3916682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人的动作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4221482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生理延伸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6600" y="3683000"/>
            <a:ext cx="1257300" cy="50800"/>
          </a:xfrm>
          <a:custGeom>
            <a:avLst/>
            <a:gdLst/>
            <a:ahLst/>
            <a:cxnLst/>
            <a:rect l="l" t="t" r="r" b="b"/>
            <a:pathLst>
              <a:path w="1257300" h="50800">
                <a:moveTo>
                  <a:pt x="0" y="0"/>
                </a:moveTo>
                <a:lnTo>
                  <a:pt x="1257300" y="0"/>
                </a:lnTo>
                <a:lnTo>
                  <a:pt x="1257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5634355" y="2941321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1050" y="3164839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83728" y="13618"/>
                </a:moveTo>
                <a:lnTo>
                  <a:pt x="201662" y="2828"/>
                </a:lnTo>
                <a:cubicBezTo>
                  <a:pt x="217736" y="-6846"/>
                  <a:pt x="236116" y="-11906"/>
                  <a:pt x="254868" y="-11906"/>
                </a:cubicBezTo>
                <a:cubicBezTo>
                  <a:pt x="282253" y="-11906"/>
                  <a:pt x="308595" y="-1042"/>
                  <a:pt x="327943" y="18380"/>
                </a:cubicBezTo>
                <a:lnTo>
                  <a:pt x="375493" y="65931"/>
                </a:lnTo>
                <a:cubicBezTo>
                  <a:pt x="386655" y="77093"/>
                  <a:pt x="392906" y="92273"/>
                  <a:pt x="392906" y="108049"/>
                </a:cubicBezTo>
                <a:lnTo>
                  <a:pt x="392906" y="131043"/>
                </a:lnTo>
                <a:lnTo>
                  <a:pt x="407566" y="145703"/>
                </a:lnTo>
                <a:lnTo>
                  <a:pt x="407566" y="145703"/>
                </a:lnTo>
                <a:cubicBezTo>
                  <a:pt x="419174" y="134094"/>
                  <a:pt x="438001" y="134094"/>
                  <a:pt x="449684" y="145703"/>
                </a:cubicBezTo>
                <a:cubicBezTo>
                  <a:pt x="461367" y="157311"/>
                  <a:pt x="461293" y="176138"/>
                  <a:pt x="449684" y="187821"/>
                </a:cubicBezTo>
                <a:lnTo>
                  <a:pt x="402059" y="235446"/>
                </a:lnTo>
                <a:cubicBezTo>
                  <a:pt x="390451" y="247055"/>
                  <a:pt x="371624" y="247055"/>
                  <a:pt x="359941" y="235446"/>
                </a:cubicBezTo>
                <a:cubicBezTo>
                  <a:pt x="348258" y="223837"/>
                  <a:pt x="348332" y="205011"/>
                  <a:pt x="359941" y="193328"/>
                </a:cubicBezTo>
                <a:lnTo>
                  <a:pt x="345281" y="178594"/>
                </a:lnTo>
                <a:lnTo>
                  <a:pt x="322287" y="178594"/>
                </a:lnTo>
                <a:cubicBezTo>
                  <a:pt x="306512" y="178594"/>
                  <a:pt x="291331" y="172343"/>
                  <a:pt x="280169" y="161181"/>
                </a:cubicBezTo>
                <a:lnTo>
                  <a:pt x="243632" y="124644"/>
                </a:lnTo>
                <a:cubicBezTo>
                  <a:pt x="232470" y="113481"/>
                  <a:pt x="226219" y="98301"/>
                  <a:pt x="226219" y="82525"/>
                </a:cubicBezTo>
                <a:lnTo>
                  <a:pt x="226219" y="73075"/>
                </a:lnTo>
                <a:cubicBezTo>
                  <a:pt x="226219" y="64740"/>
                  <a:pt x="221828" y="56927"/>
                  <a:pt x="214685" y="52685"/>
                </a:cubicBezTo>
                <a:lnTo>
                  <a:pt x="183728" y="34082"/>
                </a:lnTo>
                <a:cubicBezTo>
                  <a:pt x="175989" y="29468"/>
                  <a:pt x="175989" y="18306"/>
                  <a:pt x="183728" y="13692"/>
                </a:cubicBezTo>
                <a:close/>
                <a:moveTo>
                  <a:pt x="37728" y="299665"/>
                </a:moveTo>
                <a:lnTo>
                  <a:pt x="203002" y="134392"/>
                </a:lnTo>
                <a:lnTo>
                  <a:pt x="270346" y="201737"/>
                </a:lnTo>
                <a:lnTo>
                  <a:pt x="105073" y="367010"/>
                </a:lnTo>
                <a:cubicBezTo>
                  <a:pt x="86469" y="385614"/>
                  <a:pt x="56331" y="385614"/>
                  <a:pt x="37728" y="367010"/>
                </a:cubicBezTo>
                <a:cubicBezTo>
                  <a:pt x="19124" y="348407"/>
                  <a:pt x="19124" y="318269"/>
                  <a:pt x="37728" y="29966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435600" y="3916682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物的反应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0" y="4221482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变形与反馈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58100" y="3683000"/>
            <a:ext cx="1257300" cy="50800"/>
          </a:xfrm>
          <a:custGeom>
            <a:avLst/>
            <a:gdLst/>
            <a:ahLst/>
            <a:cxnLst/>
            <a:rect l="l" t="t" r="r" b="b"/>
            <a:pathLst>
              <a:path w="1257300" h="50800">
                <a:moveTo>
                  <a:pt x="0" y="0"/>
                </a:moveTo>
                <a:lnTo>
                  <a:pt x="1257300" y="0"/>
                </a:lnTo>
                <a:lnTo>
                  <a:pt x="1257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15855" y="2941321"/>
            <a:ext cx="889000" cy="838200"/>
          </a:xfrm>
          <a:custGeom>
            <a:avLst/>
            <a:gdLst/>
            <a:ahLst/>
            <a:cxnLst/>
            <a:rect l="l" t="t" r="r" b="b"/>
            <a:pathLst>
              <a:path w="889000" h="838200">
                <a:moveTo>
                  <a:pt x="419100" y="0"/>
                </a:moveTo>
                <a:lnTo>
                  <a:pt x="469900" y="0"/>
                </a:lnTo>
                <a:cubicBezTo>
                  <a:pt x="701208" y="0"/>
                  <a:pt x="889000" y="187792"/>
                  <a:pt x="889000" y="419100"/>
                </a:cubicBezTo>
                <a:lnTo>
                  <a:pt x="889000" y="419100"/>
                </a:lnTo>
                <a:cubicBezTo>
                  <a:pt x="889000" y="650408"/>
                  <a:pt x="701208" y="838200"/>
                  <a:pt x="469900" y="838200"/>
                </a:cubicBezTo>
                <a:lnTo>
                  <a:pt x="419100" y="838200"/>
                </a:lnTo>
                <a:cubicBezTo>
                  <a:pt x="187792" y="838200"/>
                  <a:pt x="0" y="650408"/>
                  <a:pt x="0" y="419100"/>
                </a:cubicBezTo>
                <a:lnTo>
                  <a:pt x="0" y="419100"/>
                </a:lnTo>
                <a:cubicBezTo>
                  <a:pt x="0" y="187792"/>
                  <a:pt x="187792" y="0"/>
                  <a:pt x="41910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90175" y="31648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817100" y="3916682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经验积累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67900" y="4221482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文化器官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000" y="4881882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以投石狩猎为例，人的动作驱动石头改进，物的反馈形成经验，最终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生理器官演化为文化器官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，设计由此萌动。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41270d862849a0aeafa8c2cc0e0dafd0ae26630.jpg"/>
          <p:cNvPicPr>
            <a:picLocks noChangeAspect="1"/>
          </p:cNvPicPr>
          <p:nvPr/>
        </p:nvPicPr>
        <p:blipFill>
          <a:blip r:embed="rId3"/>
          <a:srcRect t="18850" b="18850"/>
          <a:stretch/>
        </p:blipFill>
        <p:spPr>
          <a:xfrm>
            <a:off x="254000" y="254000"/>
            <a:ext cx="6604000" cy="6350000"/>
          </a:xfrm>
          <a:prstGeom prst="roundRect">
            <a:avLst>
              <a:gd name="adj" fmla="val 16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7264400" y="16002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结构的诞生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64400" y="21590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材料技术的秩序化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64400" y="27178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结构是由不同材料成形的元件，在一定构造形式下组成的有序、有效、经济的有机整体。它是材料、技术、工艺、原理的最终统一。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64400" y="3937000"/>
            <a:ext cx="4673600" cy="1320800"/>
          </a:xfrm>
          <a:custGeom>
            <a:avLst/>
            <a:gdLst/>
            <a:ahLst/>
            <a:cxnLst/>
            <a:rect l="l" t="t" r="r" b="b"/>
            <a:pathLst>
              <a:path w="4673600" h="1320800">
                <a:moveTo>
                  <a:pt x="101596" y="0"/>
                </a:moveTo>
                <a:lnTo>
                  <a:pt x="4572004" y="0"/>
                </a:lnTo>
                <a:cubicBezTo>
                  <a:pt x="4628114" y="0"/>
                  <a:pt x="4673600" y="45486"/>
                  <a:pt x="4673600" y="101596"/>
                </a:cubicBezTo>
                <a:lnTo>
                  <a:pt x="4673600" y="1219204"/>
                </a:lnTo>
                <a:cubicBezTo>
                  <a:pt x="4673600" y="1275314"/>
                  <a:pt x="4628114" y="1320800"/>
                  <a:pt x="4572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467600" y="41402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 = 灵魂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67600" y="4546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再先进的技术，若不能构成有效秩序，便失去了价值。结构使产品成为</a:t>
            </a: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“对象化了的人” </a:t>
            </a: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47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使用研究：设计的起点与动力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082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“使用”的意义不仅在于验证，更在于它是发现问题、启发创造的源头。研究使用过程是理解物与人、环境关系的最佳途径。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27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3454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3327400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200" y="36322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研究动作的顺序、力量、频率。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408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7"/>
          <p:cNvSpPr/>
          <p:nvPr/>
        </p:nvSpPr>
        <p:spPr>
          <a:xfrm>
            <a:off x="412750" y="4216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40894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43942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发现结构缺陷与隐藏需求。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4851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1000" y="4978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4851400"/>
            <a:ext cx="299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驱动创造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51562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诱发改进动机，形成创造循环。</a:t>
            </a:r>
            <a:endParaRPr lang="en-US" sz="1600" dirty="0"/>
          </a:p>
        </p:txBody>
      </p:sp>
      <p:pic>
        <p:nvPicPr>
          <p:cNvPr id="16" name="Image 0" descr="https://kimi-web-img.moonshot.cn/img/gozerbot.org/ba4236c7c530e87a71ce0fd52e6fc316b54d736c.jpg"/>
          <p:cNvPicPr>
            <a:picLocks noChangeAspect="1"/>
          </p:cNvPicPr>
          <p:nvPr/>
        </p:nvPicPr>
        <p:blipFill>
          <a:blip r:embed="rId3"/>
          <a:srcRect l="23471" r="23471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方式与合理：系统的评价坐标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方式：动作与环境的系统耦合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0828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方式是连贯动作与对应物环境的总和，是具有一定方向性和重点的系统。变更任一要素，都将重塑整个系统的意义。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39891" y="3098800"/>
            <a:ext cx="1828800" cy="1524000"/>
          </a:xfrm>
          <a:custGeom>
            <a:avLst/>
            <a:gdLst/>
            <a:ahLst/>
            <a:cxnLst/>
            <a:rect l="l" t="t" r="r" b="b"/>
            <a:pathLst>
              <a:path w="1828800" h="1524000">
                <a:moveTo>
                  <a:pt x="101605" y="0"/>
                </a:moveTo>
                <a:lnTo>
                  <a:pt x="1727195" y="0"/>
                </a:lnTo>
                <a:cubicBezTo>
                  <a:pt x="1783310" y="0"/>
                  <a:pt x="1828800" y="45490"/>
                  <a:pt x="1828800" y="101605"/>
                </a:cubicBezTo>
                <a:lnTo>
                  <a:pt x="1828800" y="1422395"/>
                </a:lnTo>
                <a:cubicBezTo>
                  <a:pt x="1828800" y="1478510"/>
                  <a:pt x="1783310" y="1524000"/>
                  <a:pt x="1727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4266" y="330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9046" y="-28575"/>
                </a:moveTo>
                <a:cubicBezTo>
                  <a:pt x="256646" y="-28575"/>
                  <a:pt x="279053" y="-6168"/>
                  <a:pt x="279053" y="21431"/>
                </a:cubicBezTo>
                <a:cubicBezTo>
                  <a:pt x="279053" y="49030"/>
                  <a:pt x="256646" y="71438"/>
                  <a:pt x="229046" y="71438"/>
                </a:cubicBezTo>
                <a:cubicBezTo>
                  <a:pt x="201447" y="71438"/>
                  <a:pt x="179040" y="49030"/>
                  <a:pt x="179040" y="21431"/>
                </a:cubicBezTo>
                <a:cubicBezTo>
                  <a:pt x="179040" y="-6168"/>
                  <a:pt x="201447" y="-28575"/>
                  <a:pt x="229046" y="-28575"/>
                </a:cubicBezTo>
                <a:close/>
                <a:moveTo>
                  <a:pt x="110371" y="157163"/>
                </a:moveTo>
                <a:cubicBezTo>
                  <a:pt x="107424" y="157163"/>
                  <a:pt x="104835" y="158948"/>
                  <a:pt x="103763" y="161627"/>
                </a:cubicBezTo>
                <a:lnTo>
                  <a:pt x="84118" y="210651"/>
                </a:lnTo>
                <a:cubicBezTo>
                  <a:pt x="78224" y="225296"/>
                  <a:pt x="61615" y="232440"/>
                  <a:pt x="46970" y="226546"/>
                </a:cubicBezTo>
                <a:cubicBezTo>
                  <a:pt x="32325" y="220653"/>
                  <a:pt x="25182" y="204043"/>
                  <a:pt x="31075" y="189399"/>
                </a:cubicBezTo>
                <a:lnTo>
                  <a:pt x="50631" y="140375"/>
                </a:lnTo>
                <a:cubicBezTo>
                  <a:pt x="60454" y="115997"/>
                  <a:pt x="84028" y="100013"/>
                  <a:pt x="110371" y="100013"/>
                </a:cubicBezTo>
                <a:lnTo>
                  <a:pt x="197257" y="100013"/>
                </a:lnTo>
                <a:cubicBezTo>
                  <a:pt x="222706" y="100013"/>
                  <a:pt x="246191" y="113496"/>
                  <a:pt x="258961" y="135463"/>
                </a:cubicBezTo>
                <a:lnTo>
                  <a:pt x="288250" y="185738"/>
                </a:lnTo>
                <a:lnTo>
                  <a:pt x="343257" y="185738"/>
                </a:lnTo>
                <a:cubicBezTo>
                  <a:pt x="359063" y="185738"/>
                  <a:pt x="371832" y="198507"/>
                  <a:pt x="371832" y="214313"/>
                </a:cubicBezTo>
                <a:cubicBezTo>
                  <a:pt x="371832" y="230118"/>
                  <a:pt x="359063" y="242888"/>
                  <a:pt x="343257" y="242888"/>
                </a:cubicBezTo>
                <a:lnTo>
                  <a:pt x="288250" y="242888"/>
                </a:lnTo>
                <a:cubicBezTo>
                  <a:pt x="267891" y="242888"/>
                  <a:pt x="249138" y="232083"/>
                  <a:pt x="238869" y="214491"/>
                </a:cubicBezTo>
                <a:lnTo>
                  <a:pt x="229939" y="199221"/>
                </a:lnTo>
                <a:lnTo>
                  <a:pt x="211455" y="262086"/>
                </a:lnTo>
                <a:lnTo>
                  <a:pt x="278785" y="282267"/>
                </a:lnTo>
                <a:cubicBezTo>
                  <a:pt x="303520" y="289679"/>
                  <a:pt x="316111" y="317093"/>
                  <a:pt x="305663" y="340757"/>
                </a:cubicBezTo>
                <a:lnTo>
                  <a:pt x="255121" y="454521"/>
                </a:lnTo>
                <a:cubicBezTo>
                  <a:pt x="248692" y="468987"/>
                  <a:pt x="231815" y="475417"/>
                  <a:pt x="217438" y="468987"/>
                </a:cubicBezTo>
                <a:cubicBezTo>
                  <a:pt x="203061" y="462558"/>
                  <a:pt x="196542" y="445681"/>
                  <a:pt x="202972" y="431304"/>
                </a:cubicBezTo>
                <a:lnTo>
                  <a:pt x="246906" y="332363"/>
                </a:lnTo>
                <a:lnTo>
                  <a:pt x="161270" y="306645"/>
                </a:lnTo>
                <a:cubicBezTo>
                  <a:pt x="132070" y="297894"/>
                  <a:pt x="114836" y="267623"/>
                  <a:pt x="122247" y="238065"/>
                </a:cubicBezTo>
                <a:lnTo>
                  <a:pt x="142518" y="157163"/>
                </a:lnTo>
                <a:lnTo>
                  <a:pt x="110460" y="157163"/>
                </a:lnTo>
                <a:close/>
                <a:moveTo>
                  <a:pt x="103227" y="318790"/>
                </a:moveTo>
                <a:cubicBezTo>
                  <a:pt x="115104" y="332095"/>
                  <a:pt x="130641" y="342275"/>
                  <a:pt x="148947" y="347722"/>
                </a:cubicBezTo>
                <a:lnTo>
                  <a:pt x="153144" y="348972"/>
                </a:lnTo>
                <a:lnTo>
                  <a:pt x="146983" y="366206"/>
                </a:lnTo>
                <a:cubicBezTo>
                  <a:pt x="141803" y="380762"/>
                  <a:pt x="132695" y="393710"/>
                  <a:pt x="120819" y="403533"/>
                </a:cubicBezTo>
                <a:lnTo>
                  <a:pt x="47238" y="464165"/>
                </a:lnTo>
                <a:cubicBezTo>
                  <a:pt x="35094" y="474166"/>
                  <a:pt x="17056" y="472470"/>
                  <a:pt x="7054" y="460325"/>
                </a:cubicBezTo>
                <a:cubicBezTo>
                  <a:pt x="-2947" y="448181"/>
                  <a:pt x="-1250" y="430143"/>
                  <a:pt x="10894" y="420142"/>
                </a:cubicBezTo>
                <a:lnTo>
                  <a:pt x="84475" y="359509"/>
                </a:lnTo>
                <a:cubicBezTo>
                  <a:pt x="88493" y="356205"/>
                  <a:pt x="91440" y="351919"/>
                  <a:pt x="93226" y="347097"/>
                </a:cubicBezTo>
                <a:lnTo>
                  <a:pt x="103227" y="31879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3193891" y="386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连贯动作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9091" y="41656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行为的方向与重点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71891" y="36068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3375" y="3098800"/>
            <a:ext cx="1651000" cy="1524000"/>
          </a:xfrm>
          <a:custGeom>
            <a:avLst/>
            <a:gdLst/>
            <a:ahLst/>
            <a:cxnLst/>
            <a:rect l="l" t="t" r="r" b="b"/>
            <a:pathLst>
              <a:path w="1651000" h="1524000">
                <a:moveTo>
                  <a:pt x="101605" y="0"/>
                </a:moveTo>
                <a:lnTo>
                  <a:pt x="1549395" y="0"/>
                </a:lnTo>
                <a:cubicBezTo>
                  <a:pt x="1605510" y="0"/>
                  <a:pt x="1651000" y="45490"/>
                  <a:pt x="1651000" y="101605"/>
                </a:cubicBezTo>
                <a:lnTo>
                  <a:pt x="1651000" y="1422395"/>
                </a:lnTo>
                <a:cubicBezTo>
                  <a:pt x="1651000" y="1478510"/>
                  <a:pt x="1605510" y="1524000"/>
                  <a:pt x="1549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10275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3603" y="-1161"/>
                </a:moveTo>
                <a:cubicBezTo>
                  <a:pt x="238155" y="-10091"/>
                  <a:pt x="219045" y="-10091"/>
                  <a:pt x="203597" y="-1161"/>
                </a:cubicBezTo>
                <a:lnTo>
                  <a:pt x="128409" y="42237"/>
                </a:lnTo>
                <a:cubicBezTo>
                  <a:pt x="112961" y="51167"/>
                  <a:pt x="103406" y="67687"/>
                  <a:pt x="103406" y="85546"/>
                </a:cubicBezTo>
                <a:lnTo>
                  <a:pt x="103406" y="176540"/>
                </a:lnTo>
                <a:lnTo>
                  <a:pt x="24557" y="222081"/>
                </a:lnTo>
                <a:cubicBezTo>
                  <a:pt x="9108" y="231011"/>
                  <a:pt x="-446" y="247531"/>
                  <a:pt x="-446" y="265390"/>
                </a:cubicBezTo>
                <a:lnTo>
                  <a:pt x="-446" y="352276"/>
                </a:lnTo>
                <a:cubicBezTo>
                  <a:pt x="-446" y="370136"/>
                  <a:pt x="9108" y="386655"/>
                  <a:pt x="24557" y="395585"/>
                </a:cubicBezTo>
                <a:lnTo>
                  <a:pt x="99834" y="438983"/>
                </a:lnTo>
                <a:cubicBezTo>
                  <a:pt x="115282" y="447913"/>
                  <a:pt x="134392" y="447913"/>
                  <a:pt x="149840" y="438983"/>
                </a:cubicBezTo>
                <a:lnTo>
                  <a:pt x="228689" y="393442"/>
                </a:lnTo>
                <a:lnTo>
                  <a:pt x="307538" y="438983"/>
                </a:lnTo>
                <a:cubicBezTo>
                  <a:pt x="322987" y="447913"/>
                  <a:pt x="342096" y="447913"/>
                  <a:pt x="357545" y="438983"/>
                </a:cubicBezTo>
                <a:lnTo>
                  <a:pt x="432643" y="395585"/>
                </a:lnTo>
                <a:cubicBezTo>
                  <a:pt x="448092" y="386655"/>
                  <a:pt x="457646" y="370136"/>
                  <a:pt x="457646" y="352276"/>
                </a:cubicBezTo>
                <a:lnTo>
                  <a:pt x="457646" y="265390"/>
                </a:lnTo>
                <a:cubicBezTo>
                  <a:pt x="457646" y="247531"/>
                  <a:pt x="448092" y="231011"/>
                  <a:pt x="432643" y="222081"/>
                </a:cubicBezTo>
                <a:lnTo>
                  <a:pt x="353794" y="176540"/>
                </a:lnTo>
                <a:lnTo>
                  <a:pt x="353794" y="85546"/>
                </a:lnTo>
                <a:cubicBezTo>
                  <a:pt x="353794" y="67687"/>
                  <a:pt x="344239" y="51167"/>
                  <a:pt x="328791" y="42237"/>
                </a:cubicBezTo>
                <a:lnTo>
                  <a:pt x="253603" y="-1161"/>
                </a:lnTo>
                <a:close/>
                <a:moveTo>
                  <a:pt x="207169" y="261283"/>
                </a:moveTo>
                <a:lnTo>
                  <a:pt x="207169" y="356384"/>
                </a:lnTo>
                <a:lnTo>
                  <a:pt x="128320" y="401925"/>
                </a:lnTo>
                <a:cubicBezTo>
                  <a:pt x="127248" y="402550"/>
                  <a:pt x="125998" y="402908"/>
                  <a:pt x="124748" y="402908"/>
                </a:cubicBezTo>
                <a:lnTo>
                  <a:pt x="124748" y="308878"/>
                </a:lnTo>
                <a:lnTo>
                  <a:pt x="207169" y="261283"/>
                </a:lnTo>
                <a:close/>
                <a:moveTo>
                  <a:pt x="413802" y="261818"/>
                </a:moveTo>
                <a:cubicBezTo>
                  <a:pt x="414427" y="262890"/>
                  <a:pt x="414784" y="264140"/>
                  <a:pt x="414784" y="265390"/>
                </a:cubicBezTo>
                <a:lnTo>
                  <a:pt x="414784" y="352276"/>
                </a:lnTo>
                <a:cubicBezTo>
                  <a:pt x="414784" y="354866"/>
                  <a:pt x="413445" y="357188"/>
                  <a:pt x="411212" y="358438"/>
                </a:cubicBezTo>
                <a:lnTo>
                  <a:pt x="335935" y="401836"/>
                </a:lnTo>
                <a:cubicBezTo>
                  <a:pt x="334863" y="402461"/>
                  <a:pt x="333613" y="402818"/>
                  <a:pt x="332363" y="402818"/>
                </a:cubicBezTo>
                <a:lnTo>
                  <a:pt x="332363" y="308789"/>
                </a:lnTo>
                <a:lnTo>
                  <a:pt x="413802" y="261818"/>
                </a:lnTo>
                <a:close/>
                <a:moveTo>
                  <a:pt x="311021" y="85546"/>
                </a:moveTo>
                <a:lnTo>
                  <a:pt x="311021" y="176540"/>
                </a:lnTo>
                <a:lnTo>
                  <a:pt x="228600" y="224135"/>
                </a:lnTo>
                <a:lnTo>
                  <a:pt x="228600" y="129034"/>
                </a:lnTo>
                <a:lnTo>
                  <a:pt x="310039" y="82064"/>
                </a:lnTo>
                <a:cubicBezTo>
                  <a:pt x="310664" y="83135"/>
                  <a:pt x="311021" y="84386"/>
                  <a:pt x="311021" y="85636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578475" y="386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物与环境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62575" y="41656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有序组合的整体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7575" y="36068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09059" y="3098800"/>
            <a:ext cx="1549400" cy="1524000"/>
          </a:xfrm>
          <a:custGeom>
            <a:avLst/>
            <a:gdLst/>
            <a:ahLst/>
            <a:cxnLst/>
            <a:rect l="l" t="t" r="r" b="b"/>
            <a:pathLst>
              <a:path w="1549400" h="1524000">
                <a:moveTo>
                  <a:pt x="101605" y="0"/>
                </a:moveTo>
                <a:lnTo>
                  <a:pt x="1447795" y="0"/>
                </a:lnTo>
                <a:cubicBezTo>
                  <a:pt x="1503910" y="0"/>
                  <a:pt x="1549400" y="45490"/>
                  <a:pt x="1549400" y="101605"/>
                </a:cubicBezTo>
                <a:lnTo>
                  <a:pt x="1549400" y="1422395"/>
                </a:lnTo>
                <a:cubicBezTo>
                  <a:pt x="1549400" y="1478510"/>
                  <a:pt x="1503910" y="1524000"/>
                  <a:pt x="14477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51984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7820184" y="3860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方式系统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58259" y="41656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生产/生活方式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000" y="50292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彩陶文化不仅是器物造型，更是那个时代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生产方式、生活方式和文明观念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的缩影。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52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合理：真与善的统一标准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13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合理是合乎客观规律、时代观念、社会准则与人类理想的动态标准，是主客观的统一，是真与善的统一，也是美的本质与根源。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6500" y="3632200"/>
            <a:ext cx="774700" cy="774700"/>
          </a:xfrm>
          <a:custGeom>
            <a:avLst/>
            <a:gdLst/>
            <a:ahLst/>
            <a:cxnLst/>
            <a:rect l="l" t="t" r="r" b="b"/>
            <a:pathLst>
              <a:path w="774700" h="774700">
                <a:moveTo>
                  <a:pt x="387350" y="0"/>
                </a:moveTo>
                <a:lnTo>
                  <a:pt x="387350" y="0"/>
                </a:lnTo>
                <a:cubicBezTo>
                  <a:pt x="601134" y="0"/>
                  <a:pt x="774700" y="173566"/>
                  <a:pt x="774700" y="387350"/>
                </a:cubicBezTo>
                <a:lnTo>
                  <a:pt x="774700" y="387350"/>
                </a:lnTo>
                <a:cubicBezTo>
                  <a:pt x="774700" y="601134"/>
                  <a:pt x="601134" y="774700"/>
                  <a:pt x="387350" y="774700"/>
                </a:cubicBezTo>
                <a:lnTo>
                  <a:pt x="387350" y="774700"/>
                </a:lnTo>
                <a:cubicBezTo>
                  <a:pt x="173566" y="774700"/>
                  <a:pt x="0" y="601134"/>
                  <a:pt x="0" y="387350"/>
                </a:cubicBezTo>
                <a:lnTo>
                  <a:pt x="0" y="387350"/>
                </a:lnTo>
                <a:cubicBezTo>
                  <a:pt x="0" y="173566"/>
                  <a:pt x="173566" y="0"/>
                  <a:pt x="3873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200" y="3848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85961" y="49709"/>
                </a:moveTo>
                <a:cubicBezTo>
                  <a:pt x="193700" y="39067"/>
                  <a:pt x="191319" y="24185"/>
                  <a:pt x="180677" y="16446"/>
                </a:cubicBezTo>
                <a:cubicBezTo>
                  <a:pt x="170036" y="8706"/>
                  <a:pt x="155153" y="11088"/>
                  <a:pt x="147414" y="21729"/>
                </a:cubicBezTo>
                <a:lnTo>
                  <a:pt x="68535" y="130150"/>
                </a:lnTo>
                <a:lnTo>
                  <a:pt x="40630" y="102245"/>
                </a:lnTo>
                <a:cubicBezTo>
                  <a:pt x="31328" y="92943"/>
                  <a:pt x="16222" y="92943"/>
                  <a:pt x="6921" y="102245"/>
                </a:cubicBezTo>
                <a:cubicBezTo>
                  <a:pt x="-2381" y="111547"/>
                  <a:pt x="-2381" y="126653"/>
                  <a:pt x="6921" y="135954"/>
                </a:cubicBezTo>
                <a:lnTo>
                  <a:pt x="54546" y="183579"/>
                </a:lnTo>
                <a:cubicBezTo>
                  <a:pt x="59457" y="188491"/>
                  <a:pt x="66303" y="191021"/>
                  <a:pt x="73223" y="190500"/>
                </a:cubicBezTo>
                <a:cubicBezTo>
                  <a:pt x="80144" y="189979"/>
                  <a:pt x="86544" y="186407"/>
                  <a:pt x="90636" y="180752"/>
                </a:cubicBezTo>
                <a:lnTo>
                  <a:pt x="185886" y="49783"/>
                </a:lnTo>
                <a:close/>
                <a:moveTo>
                  <a:pt x="281211" y="150912"/>
                </a:moveTo>
                <a:cubicBezTo>
                  <a:pt x="288950" y="140271"/>
                  <a:pt x="286569" y="125388"/>
                  <a:pt x="275927" y="117649"/>
                </a:cubicBezTo>
                <a:cubicBezTo>
                  <a:pt x="265286" y="109910"/>
                  <a:pt x="250403" y="112291"/>
                  <a:pt x="242664" y="122932"/>
                </a:cubicBezTo>
                <a:lnTo>
                  <a:pt x="116160" y="296838"/>
                </a:lnTo>
                <a:lnTo>
                  <a:pt x="64443" y="245120"/>
                </a:lnTo>
                <a:cubicBezTo>
                  <a:pt x="55141" y="235818"/>
                  <a:pt x="40035" y="235818"/>
                  <a:pt x="30733" y="245120"/>
                </a:cubicBezTo>
                <a:cubicBezTo>
                  <a:pt x="21431" y="254422"/>
                  <a:pt x="21431" y="269528"/>
                  <a:pt x="30733" y="278829"/>
                </a:cubicBezTo>
                <a:lnTo>
                  <a:pt x="102171" y="350267"/>
                </a:lnTo>
                <a:cubicBezTo>
                  <a:pt x="107082" y="355178"/>
                  <a:pt x="113928" y="357708"/>
                  <a:pt x="120848" y="357188"/>
                </a:cubicBezTo>
                <a:cubicBezTo>
                  <a:pt x="127769" y="356667"/>
                  <a:pt x="134169" y="353095"/>
                  <a:pt x="138261" y="347439"/>
                </a:cubicBezTo>
                <a:lnTo>
                  <a:pt x="281136" y="15098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546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合乎规律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4851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24300" y="3632200"/>
            <a:ext cx="774700" cy="774700"/>
          </a:xfrm>
          <a:custGeom>
            <a:avLst/>
            <a:gdLst/>
            <a:ahLst/>
            <a:cxnLst/>
            <a:rect l="l" t="t" r="r" b="b"/>
            <a:pathLst>
              <a:path w="774700" h="774700">
                <a:moveTo>
                  <a:pt x="387350" y="0"/>
                </a:moveTo>
                <a:lnTo>
                  <a:pt x="387350" y="0"/>
                </a:lnTo>
                <a:cubicBezTo>
                  <a:pt x="601134" y="0"/>
                  <a:pt x="774700" y="173566"/>
                  <a:pt x="774700" y="387350"/>
                </a:cubicBezTo>
                <a:lnTo>
                  <a:pt x="774700" y="387350"/>
                </a:lnTo>
                <a:cubicBezTo>
                  <a:pt x="774700" y="601134"/>
                  <a:pt x="601134" y="774700"/>
                  <a:pt x="387350" y="774700"/>
                </a:cubicBezTo>
                <a:lnTo>
                  <a:pt x="387350" y="774700"/>
                </a:lnTo>
                <a:cubicBezTo>
                  <a:pt x="173566" y="774700"/>
                  <a:pt x="0" y="601134"/>
                  <a:pt x="0" y="387350"/>
                </a:cubicBezTo>
                <a:lnTo>
                  <a:pt x="0" y="387350"/>
                </a:lnTo>
                <a:cubicBezTo>
                  <a:pt x="0" y="173566"/>
                  <a:pt x="173566" y="0"/>
                  <a:pt x="3873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4337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70300" y="45466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合乎理想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70300" y="4851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善</a:t>
            </a:r>
            <a:endParaRPr lang="en-US" sz="1600" dirty="0"/>
          </a:p>
        </p:txBody>
      </p:sp>
      <p:pic>
        <p:nvPicPr>
          <p:cNvPr id="12" name="Image 0" descr="https://kimi-web-img.moonshot.cn/img/img.freepik.com/4079c5eb20421a1f464dfaede6ac48c3e0b2e33d.jpg"/>
          <p:cNvPicPr>
            <a:picLocks noChangeAspect="1"/>
          </p:cNvPicPr>
          <p:nvPr/>
        </p:nvPicPr>
        <p:blipFill>
          <a:blip r:embed="rId3"/>
          <a:srcRect l="18003" r="18003"/>
          <a:stretch/>
        </p:blipFill>
        <p:spPr>
          <a:xfrm>
            <a:off x="6502400" y="1047750"/>
            <a:ext cx="54356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843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工业设计的最高原则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095500"/>
            <a:ext cx="11684000" cy="812800"/>
          </a:xfrm>
          <a:custGeom>
            <a:avLst/>
            <a:gdLst/>
            <a:ahLst/>
            <a:cxnLst/>
            <a:rect l="l" t="t" r="r" b="b"/>
            <a:pathLst>
              <a:path w="11684000" h="8128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711200"/>
                </a:lnTo>
                <a:cubicBezTo>
                  <a:pt x="11684000" y="767275"/>
                  <a:pt x="11638475" y="812800"/>
                  <a:pt x="115824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095500"/>
            <a:ext cx="12192000" cy="8128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创造更合理的生存（使用）方式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111345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方式是主客观的暂时谐调，合理是评价的控制阀。设计必须兼顾制造、商业、使用、环境，形成多元反馈网络，实现真、善、美的统一。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412875" y="42797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10641" y="23812"/>
                  <a:pt x="0" y="34454"/>
                  <a:pt x="0" y="47625"/>
                </a:cubicBezTo>
                <a:lnTo>
                  <a:pt x="0" y="321469"/>
                </a:lnTo>
                <a:cubicBezTo>
                  <a:pt x="0" y="341188"/>
                  <a:pt x="15999" y="357188"/>
                  <a:pt x="35719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113258"/>
                </a:lnTo>
                <a:cubicBezTo>
                  <a:pt x="381000" y="99715"/>
                  <a:pt x="366564" y="91157"/>
                  <a:pt x="354657" y="97557"/>
                </a:cubicBezTo>
                <a:lnTo>
                  <a:pt x="238125" y="160288"/>
                </a:lnTo>
                <a:lnTo>
                  <a:pt x="238125" y="113258"/>
                </a:lnTo>
                <a:cubicBezTo>
                  <a:pt x="238125" y="99715"/>
                  <a:pt x="223689" y="91157"/>
                  <a:pt x="211782" y="97557"/>
                </a:cubicBezTo>
                <a:lnTo>
                  <a:pt x="95250" y="160288"/>
                </a:lnTo>
                <a:lnTo>
                  <a:pt x="95250" y="47625"/>
                </a:lnTo>
                <a:cubicBezTo>
                  <a:pt x="95250" y="34454"/>
                  <a:pt x="84609" y="23812"/>
                  <a:pt x="71438" y="23812"/>
                </a:cubicBezTo>
                <a:lnTo>
                  <a:pt x="23812" y="23812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可行高效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496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850" y="427974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7859" y="-11906"/>
                </a:moveTo>
                <a:cubicBezTo>
                  <a:pt x="7962" y="-11906"/>
                  <a:pt x="0" y="-3944"/>
                  <a:pt x="0" y="5953"/>
                </a:cubicBezTo>
                <a:cubicBezTo>
                  <a:pt x="0" y="15850"/>
                  <a:pt x="7962" y="23812"/>
                  <a:pt x="17859" y="23812"/>
                </a:cubicBezTo>
                <a:lnTo>
                  <a:pt x="51569" y="23812"/>
                </a:lnTo>
                <a:cubicBezTo>
                  <a:pt x="54471" y="23812"/>
                  <a:pt x="56927" y="25896"/>
                  <a:pt x="57448" y="28724"/>
                </a:cubicBezTo>
                <a:lnTo>
                  <a:pt x="96217" y="241771"/>
                </a:lnTo>
                <a:cubicBezTo>
                  <a:pt x="100831" y="267221"/>
                  <a:pt x="123006" y="285750"/>
                  <a:pt x="148903" y="285750"/>
                </a:cubicBezTo>
                <a:lnTo>
                  <a:pt x="339328" y="285750"/>
                </a:lnTo>
                <a:cubicBezTo>
                  <a:pt x="349225" y="285750"/>
                  <a:pt x="357188" y="277788"/>
                  <a:pt x="357188" y="267891"/>
                </a:cubicBezTo>
                <a:cubicBezTo>
                  <a:pt x="357188" y="257994"/>
                  <a:pt x="349225" y="250031"/>
                  <a:pt x="339328" y="250031"/>
                </a:cubicBezTo>
                <a:lnTo>
                  <a:pt x="148903" y="250031"/>
                </a:lnTo>
                <a:cubicBezTo>
                  <a:pt x="140271" y="250031"/>
                  <a:pt x="132904" y="243855"/>
                  <a:pt x="131341" y="235372"/>
                </a:cubicBezTo>
                <a:lnTo>
                  <a:pt x="127546" y="214313"/>
                </a:lnTo>
                <a:lnTo>
                  <a:pt x="353467" y="214313"/>
                </a:lnTo>
                <a:cubicBezTo>
                  <a:pt x="376386" y="214313"/>
                  <a:pt x="396032" y="198016"/>
                  <a:pt x="400273" y="175468"/>
                </a:cubicBezTo>
                <a:lnTo>
                  <a:pt x="423342" y="52015"/>
                </a:lnTo>
                <a:cubicBezTo>
                  <a:pt x="426095" y="37356"/>
                  <a:pt x="414858" y="23812"/>
                  <a:pt x="399901" y="23812"/>
                </a:cubicBezTo>
                <a:lnTo>
                  <a:pt x="92794" y="23812"/>
                </a:lnTo>
                <a:lnTo>
                  <a:pt x="92497" y="22324"/>
                </a:lnTo>
                <a:cubicBezTo>
                  <a:pt x="88925" y="2530"/>
                  <a:pt x="71661" y="-11906"/>
                  <a:pt x="51495" y="-11906"/>
                </a:cubicBezTo>
                <a:lnTo>
                  <a:pt x="17859" y="-11906"/>
                </a:lnTo>
                <a:close/>
                <a:moveTo>
                  <a:pt x="154781" y="381000"/>
                </a:moveTo>
                <a:cubicBezTo>
                  <a:pt x="174495" y="381000"/>
                  <a:pt x="190500" y="364995"/>
                  <a:pt x="190500" y="345281"/>
                </a:cubicBezTo>
                <a:cubicBezTo>
                  <a:pt x="190500" y="325568"/>
                  <a:pt x="174495" y="309563"/>
                  <a:pt x="154781" y="309563"/>
                </a:cubicBezTo>
                <a:cubicBezTo>
                  <a:pt x="135068" y="309563"/>
                  <a:pt x="119063" y="325568"/>
                  <a:pt x="119063" y="345281"/>
                </a:cubicBezTo>
                <a:cubicBezTo>
                  <a:pt x="119063" y="364995"/>
                  <a:pt x="135068" y="381000"/>
                  <a:pt x="154781" y="381000"/>
                </a:cubicBezTo>
                <a:close/>
                <a:moveTo>
                  <a:pt x="321469" y="381000"/>
                </a:moveTo>
                <a:cubicBezTo>
                  <a:pt x="341182" y="381000"/>
                  <a:pt x="357188" y="364995"/>
                  <a:pt x="357188" y="345281"/>
                </a:cubicBezTo>
                <a:cubicBezTo>
                  <a:pt x="357188" y="325568"/>
                  <a:pt x="341182" y="309563"/>
                  <a:pt x="321469" y="309563"/>
                </a:cubicBezTo>
                <a:cubicBezTo>
                  <a:pt x="301755" y="309563"/>
                  <a:pt x="285750" y="325568"/>
                  <a:pt x="285750" y="345281"/>
                </a:cubicBezTo>
                <a:cubicBezTo>
                  <a:pt x="285750" y="364995"/>
                  <a:pt x="301755" y="381000"/>
                  <a:pt x="321469" y="3810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0386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流通销售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452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6450" y="427974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01203" y="95250"/>
                </a:moveTo>
                <a:cubicBezTo>
                  <a:pt x="101203" y="45966"/>
                  <a:pt x="141216" y="5953"/>
                  <a:pt x="190500" y="5953"/>
                </a:cubicBezTo>
                <a:cubicBezTo>
                  <a:pt x="239784" y="5953"/>
                  <a:pt x="279797" y="45966"/>
                  <a:pt x="279797" y="95250"/>
                </a:cubicBezTo>
                <a:cubicBezTo>
                  <a:pt x="279797" y="144534"/>
                  <a:pt x="239784" y="184547"/>
                  <a:pt x="190500" y="184547"/>
                </a:cubicBezTo>
                <a:cubicBezTo>
                  <a:pt x="141216" y="184547"/>
                  <a:pt x="101203" y="144534"/>
                  <a:pt x="101203" y="95250"/>
                </a:cubicBezTo>
                <a:close/>
                <a:moveTo>
                  <a:pt x="35719" y="358899"/>
                </a:moveTo>
                <a:cubicBezTo>
                  <a:pt x="35719" y="285601"/>
                  <a:pt x="95101" y="226219"/>
                  <a:pt x="168399" y="226219"/>
                </a:cubicBezTo>
                <a:lnTo>
                  <a:pt x="212601" y="226219"/>
                </a:lnTo>
                <a:cubicBezTo>
                  <a:pt x="285899" y="226219"/>
                  <a:pt x="345281" y="285601"/>
                  <a:pt x="345281" y="358899"/>
                </a:cubicBezTo>
                <a:cubicBezTo>
                  <a:pt x="345281" y="371103"/>
                  <a:pt x="335384" y="381000"/>
                  <a:pt x="323180" y="381000"/>
                </a:cubicBezTo>
                <a:lnTo>
                  <a:pt x="57820" y="381000"/>
                </a:lnTo>
                <a:cubicBezTo>
                  <a:pt x="45616" y="381000"/>
                  <a:pt x="35719" y="371103"/>
                  <a:pt x="35719" y="358899"/>
                </a:cubicBezTo>
                <a:close/>
                <a:moveTo>
                  <a:pt x="455712" y="98747"/>
                </a:moveTo>
                <a:lnTo>
                  <a:pt x="396180" y="193997"/>
                </a:lnTo>
                <a:cubicBezTo>
                  <a:pt x="393055" y="198983"/>
                  <a:pt x="387697" y="202109"/>
                  <a:pt x="381819" y="202406"/>
                </a:cubicBezTo>
                <a:cubicBezTo>
                  <a:pt x="375940" y="202704"/>
                  <a:pt x="370284" y="200025"/>
                  <a:pt x="366787" y="195262"/>
                </a:cubicBezTo>
                <a:lnTo>
                  <a:pt x="331068" y="147637"/>
                </a:lnTo>
                <a:cubicBezTo>
                  <a:pt x="325115" y="139750"/>
                  <a:pt x="326752" y="128588"/>
                  <a:pt x="334640" y="122634"/>
                </a:cubicBezTo>
                <a:cubicBezTo>
                  <a:pt x="342528" y="116681"/>
                  <a:pt x="353690" y="118318"/>
                  <a:pt x="359643" y="126206"/>
                </a:cubicBezTo>
                <a:lnTo>
                  <a:pt x="379735" y="152995"/>
                </a:lnTo>
                <a:lnTo>
                  <a:pt x="425425" y="79846"/>
                </a:lnTo>
                <a:cubicBezTo>
                  <a:pt x="430634" y="71512"/>
                  <a:pt x="441647" y="68907"/>
                  <a:pt x="450056" y="74191"/>
                </a:cubicBezTo>
                <a:cubicBezTo>
                  <a:pt x="458465" y="79474"/>
                  <a:pt x="460995" y="90413"/>
                  <a:pt x="455712" y="9882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9342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使用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18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舒适耐用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40800" y="4127345"/>
            <a:ext cx="2692400" cy="1346200"/>
          </a:xfrm>
          <a:custGeom>
            <a:avLst/>
            <a:gdLst/>
            <a:ahLst/>
            <a:cxnLst/>
            <a:rect l="l" t="t" r="r" b="b"/>
            <a:pathLst>
              <a:path w="2692400" h="1346200">
                <a:moveTo>
                  <a:pt x="101598" y="0"/>
                </a:moveTo>
                <a:lnTo>
                  <a:pt x="2590802" y="0"/>
                </a:lnTo>
                <a:cubicBezTo>
                  <a:pt x="2646913" y="0"/>
                  <a:pt x="2692400" y="45487"/>
                  <a:pt x="2692400" y="101598"/>
                </a:cubicBezTo>
                <a:lnTo>
                  <a:pt x="2692400" y="1244602"/>
                </a:lnTo>
                <a:cubicBezTo>
                  <a:pt x="2692400" y="1300713"/>
                  <a:pt x="2646913" y="1346200"/>
                  <a:pt x="2590802" y="1346200"/>
                </a:cubicBezTo>
                <a:lnTo>
                  <a:pt x="101598" y="1346200"/>
                </a:lnTo>
                <a:cubicBezTo>
                  <a:pt x="45487" y="1346200"/>
                  <a:pt x="0" y="1300713"/>
                  <a:pt x="0" y="12446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99675" y="42797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0713" y="4986"/>
                </a:moveTo>
                <a:cubicBezTo>
                  <a:pt x="355476" y="446"/>
                  <a:pt x="362396" y="-1191"/>
                  <a:pt x="368796" y="893"/>
                </a:cubicBezTo>
                <a:cubicBezTo>
                  <a:pt x="376089" y="3349"/>
                  <a:pt x="381000" y="10195"/>
                  <a:pt x="381000" y="17859"/>
                </a:cubicBezTo>
                <a:lnTo>
                  <a:pt x="381000" y="156939"/>
                </a:lnTo>
                <a:cubicBezTo>
                  <a:pt x="381000" y="254571"/>
                  <a:pt x="300558" y="333375"/>
                  <a:pt x="203299" y="333375"/>
                </a:cubicBezTo>
                <a:cubicBezTo>
                  <a:pt x="146000" y="333375"/>
                  <a:pt x="96589" y="296540"/>
                  <a:pt x="78656" y="245046"/>
                </a:cubicBezTo>
                <a:cubicBezTo>
                  <a:pt x="52313" y="267965"/>
                  <a:pt x="35719" y="301675"/>
                  <a:pt x="35719" y="339328"/>
                </a:cubicBezTo>
                <a:cubicBezTo>
                  <a:pt x="35719" y="349225"/>
                  <a:pt x="27756" y="357188"/>
                  <a:pt x="17859" y="357188"/>
                </a:cubicBezTo>
                <a:cubicBezTo>
                  <a:pt x="7962" y="357188"/>
                  <a:pt x="0" y="349225"/>
                  <a:pt x="0" y="339328"/>
                </a:cubicBezTo>
                <a:cubicBezTo>
                  <a:pt x="0" y="283592"/>
                  <a:pt x="28426" y="234479"/>
                  <a:pt x="71512" y="205606"/>
                </a:cubicBezTo>
                <a:cubicBezTo>
                  <a:pt x="97780" y="188044"/>
                  <a:pt x="129108" y="178594"/>
                  <a:pt x="160734" y="178594"/>
                </a:cubicBezTo>
                <a:lnTo>
                  <a:pt x="220266" y="178594"/>
                </a:lnTo>
                <a:cubicBezTo>
                  <a:pt x="230163" y="178594"/>
                  <a:pt x="238125" y="170631"/>
                  <a:pt x="238125" y="160734"/>
                </a:cubicBezTo>
                <a:cubicBezTo>
                  <a:pt x="238125" y="150837"/>
                  <a:pt x="230163" y="142875"/>
                  <a:pt x="220266" y="142875"/>
                </a:cubicBezTo>
                <a:lnTo>
                  <a:pt x="160734" y="142875"/>
                </a:lnTo>
                <a:cubicBezTo>
                  <a:pt x="131192" y="142875"/>
                  <a:pt x="103212" y="149423"/>
                  <a:pt x="78135" y="161106"/>
                </a:cubicBezTo>
                <a:cubicBezTo>
                  <a:pt x="95473" y="109017"/>
                  <a:pt x="144512" y="71438"/>
                  <a:pt x="202406" y="71438"/>
                </a:cubicBezTo>
                <a:cubicBezTo>
                  <a:pt x="251817" y="71438"/>
                  <a:pt x="288578" y="54992"/>
                  <a:pt x="313060" y="38695"/>
                </a:cubicBezTo>
                <a:cubicBezTo>
                  <a:pt x="327347" y="29170"/>
                  <a:pt x="339477" y="17785"/>
                  <a:pt x="350788" y="4986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476234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77400" y="5067145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友好循环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生态观：从单向到循环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自然生态闭环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590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一个无废物的世界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7178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自然系统是一个封闭的、可自足的有机生态系统。它不出产绝对的废品，任何物质都可被分解吸收，物质生产与再生产处于永恒的循环状态。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9370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402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设计启示：模仿自然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466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将废品变为资源，使销毁成为制造的开始，构建循环式设计生态链。</a:t>
            </a:r>
            <a:endParaRPr lang="en-US" sz="1600" dirty="0"/>
          </a:p>
        </p:txBody>
      </p:sp>
      <p:pic>
        <p:nvPicPr>
          <p:cNvPr id="8" name="Image 0" descr="https://kimi-web-img.moonshot.cn/img/static.wixstatic.com/31373ddf90b336fc39d142755f3d9e5be0cb6de9.jpg"/>
          <p:cNvPicPr>
            <a:picLocks noChangeAspect="1"/>
          </p:cNvPicPr>
          <p:nvPr/>
        </p:nvPicPr>
        <p:blipFill>
          <a:blip r:embed="rId3"/>
          <a:srcRect l="11836" r="11836"/>
          <a:stretch/>
        </p:blipFill>
        <p:spPr>
          <a:xfrm>
            <a:off x="6502400" y="1047750"/>
            <a:ext cx="5435600" cy="4762500"/>
          </a:xfrm>
          <a:prstGeom prst="roundRect">
            <a:avLst>
              <a:gd name="adj" fmla="val 2133"/>
            </a:avLst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923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资本单向度：不可持续的危机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66800" y="2451100"/>
            <a:ext cx="1005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资本以增殖为唯一目的，催生高速生产与快速废弃，导致资源枯竭与废品堆积，地球自然资本正急剧减少。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190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975100" y="331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3812" y="23812"/>
                </a:moveTo>
                <a:cubicBezTo>
                  <a:pt x="10641" y="23812"/>
                  <a:pt x="0" y="34454"/>
                  <a:pt x="0" y="47625"/>
                </a:cubicBezTo>
                <a:lnTo>
                  <a:pt x="0" y="321469"/>
                </a:lnTo>
                <a:cubicBezTo>
                  <a:pt x="0" y="341188"/>
                  <a:pt x="15999" y="357188"/>
                  <a:pt x="35719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113258"/>
                </a:lnTo>
                <a:cubicBezTo>
                  <a:pt x="381000" y="99715"/>
                  <a:pt x="366564" y="91157"/>
                  <a:pt x="354657" y="97557"/>
                </a:cubicBezTo>
                <a:lnTo>
                  <a:pt x="238125" y="160288"/>
                </a:lnTo>
                <a:lnTo>
                  <a:pt x="238125" y="113258"/>
                </a:lnTo>
                <a:cubicBezTo>
                  <a:pt x="238125" y="99715"/>
                  <a:pt x="223689" y="91157"/>
                  <a:pt x="211782" y="97557"/>
                </a:cubicBezTo>
                <a:lnTo>
                  <a:pt x="95250" y="160288"/>
                </a:lnTo>
                <a:lnTo>
                  <a:pt x="95250" y="47625"/>
                </a:lnTo>
                <a:cubicBezTo>
                  <a:pt x="95250" y="34454"/>
                  <a:pt x="84609" y="23812"/>
                  <a:pt x="71438" y="23812"/>
                </a:cubicBezTo>
                <a:lnTo>
                  <a:pt x="23812" y="23812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370522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5455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6095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287963" y="3314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19063" y="59531"/>
                </a:moveTo>
                <a:cubicBezTo>
                  <a:pt x="119063" y="33263"/>
                  <a:pt x="140419" y="11906"/>
                  <a:pt x="166688" y="11906"/>
                </a:cubicBezTo>
                <a:cubicBezTo>
                  <a:pt x="192956" y="11906"/>
                  <a:pt x="214313" y="33263"/>
                  <a:pt x="214313" y="59531"/>
                </a:cubicBezTo>
                <a:lnTo>
                  <a:pt x="214313" y="95250"/>
                </a:lnTo>
                <a:lnTo>
                  <a:pt x="119063" y="95250"/>
                </a:lnTo>
                <a:lnTo>
                  <a:pt x="119063" y="59531"/>
                </a:lnTo>
                <a:close/>
                <a:moveTo>
                  <a:pt x="83344" y="95250"/>
                </a:moveTo>
                <a:lnTo>
                  <a:pt x="35719" y="95250"/>
                </a:lnTo>
                <a:cubicBezTo>
                  <a:pt x="15999" y="95250"/>
                  <a:pt x="0" y="111249"/>
                  <a:pt x="0" y="130969"/>
                </a:cubicBezTo>
                <a:lnTo>
                  <a:pt x="0" y="285750"/>
                </a:lnTo>
                <a:cubicBezTo>
                  <a:pt x="0" y="325189"/>
                  <a:pt x="31998" y="357188"/>
                  <a:pt x="71438" y="357188"/>
                </a:cubicBezTo>
                <a:lnTo>
                  <a:pt x="261938" y="357188"/>
                </a:lnTo>
                <a:cubicBezTo>
                  <a:pt x="301377" y="357188"/>
                  <a:pt x="333375" y="325189"/>
                  <a:pt x="333375" y="285750"/>
                </a:cubicBezTo>
                <a:lnTo>
                  <a:pt x="333375" y="130969"/>
                </a:lnTo>
                <a:cubicBezTo>
                  <a:pt x="333375" y="111249"/>
                  <a:pt x="317376" y="95250"/>
                  <a:pt x="297656" y="95250"/>
                </a:cubicBezTo>
                <a:lnTo>
                  <a:pt x="250031" y="95250"/>
                </a:lnTo>
                <a:lnTo>
                  <a:pt x="250031" y="59531"/>
                </a:lnTo>
                <a:cubicBezTo>
                  <a:pt x="250031" y="13469"/>
                  <a:pt x="212750" y="-23812"/>
                  <a:pt x="166688" y="-23812"/>
                </a:cubicBezTo>
                <a:cubicBezTo>
                  <a:pt x="120625" y="-23812"/>
                  <a:pt x="83344" y="13469"/>
                  <a:pt x="83344" y="59531"/>
                </a:cubicBezTo>
                <a:lnTo>
                  <a:pt x="83344" y="95250"/>
                </a:lnTo>
                <a:close/>
                <a:moveTo>
                  <a:pt x="101203" y="130969"/>
                </a:moveTo>
                <a:cubicBezTo>
                  <a:pt x="111060" y="130969"/>
                  <a:pt x="119063" y="138971"/>
                  <a:pt x="119063" y="148828"/>
                </a:cubicBezTo>
                <a:cubicBezTo>
                  <a:pt x="119063" y="158685"/>
                  <a:pt x="111060" y="166688"/>
                  <a:pt x="101203" y="166688"/>
                </a:cubicBezTo>
                <a:cubicBezTo>
                  <a:pt x="91346" y="166688"/>
                  <a:pt x="83344" y="158685"/>
                  <a:pt x="83344" y="148828"/>
                </a:cubicBezTo>
                <a:cubicBezTo>
                  <a:pt x="83344" y="138971"/>
                  <a:pt x="91346" y="130969"/>
                  <a:pt x="101203" y="130969"/>
                </a:cubicBezTo>
                <a:close/>
                <a:moveTo>
                  <a:pt x="214313" y="148828"/>
                </a:moveTo>
                <a:cubicBezTo>
                  <a:pt x="214313" y="138971"/>
                  <a:pt x="222315" y="130969"/>
                  <a:pt x="232172" y="130969"/>
                </a:cubicBezTo>
                <a:cubicBezTo>
                  <a:pt x="242029" y="130969"/>
                  <a:pt x="250031" y="138971"/>
                  <a:pt x="250031" y="148828"/>
                </a:cubicBezTo>
                <a:cubicBezTo>
                  <a:pt x="250031" y="158685"/>
                  <a:pt x="242029" y="166688"/>
                  <a:pt x="232172" y="166688"/>
                </a:cubicBezTo>
                <a:cubicBezTo>
                  <a:pt x="222315" y="166688"/>
                  <a:pt x="214313" y="158685"/>
                  <a:pt x="214313" y="148828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99427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000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7013" y="3314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01724" y="4390"/>
                </a:moveTo>
                <a:cubicBezTo>
                  <a:pt x="104998" y="-5358"/>
                  <a:pt x="114077" y="-11906"/>
                  <a:pt x="124346" y="-11906"/>
                </a:cubicBezTo>
                <a:lnTo>
                  <a:pt x="209104" y="-11906"/>
                </a:lnTo>
                <a:cubicBezTo>
                  <a:pt x="219373" y="-11906"/>
                  <a:pt x="228451" y="-5358"/>
                  <a:pt x="231725" y="4390"/>
                </a:cubicBezTo>
                <a:lnTo>
                  <a:pt x="238125" y="23812"/>
                </a:lnTo>
                <a:lnTo>
                  <a:pt x="309563" y="23812"/>
                </a:lnTo>
                <a:cubicBezTo>
                  <a:pt x="322734" y="23812"/>
                  <a:pt x="333375" y="34454"/>
                  <a:pt x="333375" y="47625"/>
                </a:cubicBezTo>
                <a:cubicBezTo>
                  <a:pt x="333375" y="60796"/>
                  <a:pt x="322734" y="71438"/>
                  <a:pt x="309563" y="71438"/>
                </a:cubicBezTo>
                <a:lnTo>
                  <a:pt x="23812" y="71438"/>
                </a:lnTo>
                <a:cubicBezTo>
                  <a:pt x="10641" y="71438"/>
                  <a:pt x="0" y="60796"/>
                  <a:pt x="0" y="47625"/>
                </a:cubicBezTo>
                <a:cubicBezTo>
                  <a:pt x="0" y="34454"/>
                  <a:pt x="10641" y="23812"/>
                  <a:pt x="23812" y="23812"/>
                </a:cubicBezTo>
                <a:lnTo>
                  <a:pt x="95250" y="23812"/>
                </a:lnTo>
                <a:lnTo>
                  <a:pt x="101724" y="4390"/>
                </a:lnTo>
                <a:close/>
                <a:moveTo>
                  <a:pt x="23812" y="107156"/>
                </a:moveTo>
                <a:lnTo>
                  <a:pt x="309563" y="107156"/>
                </a:lnTo>
                <a:lnTo>
                  <a:pt x="309563" y="333375"/>
                </a:lnTo>
                <a:cubicBezTo>
                  <a:pt x="309563" y="359643"/>
                  <a:pt x="288206" y="381000"/>
                  <a:pt x="261938" y="381000"/>
                </a:cubicBezTo>
                <a:lnTo>
                  <a:pt x="71438" y="381000"/>
                </a:lnTo>
                <a:cubicBezTo>
                  <a:pt x="45169" y="381000"/>
                  <a:pt x="23812" y="359643"/>
                  <a:pt x="23812" y="333375"/>
                </a:cubicBezTo>
                <a:lnTo>
                  <a:pt x="23812" y="107156"/>
                </a:lnTo>
                <a:close/>
                <a:moveTo>
                  <a:pt x="89297" y="154781"/>
                </a:moveTo>
                <a:cubicBezTo>
                  <a:pt x="79400" y="154781"/>
                  <a:pt x="71438" y="162744"/>
                  <a:pt x="71438" y="172641"/>
                </a:cubicBezTo>
                <a:lnTo>
                  <a:pt x="71438" y="315516"/>
                </a:lnTo>
                <a:cubicBezTo>
                  <a:pt x="71438" y="325413"/>
                  <a:pt x="79400" y="333375"/>
                  <a:pt x="89297" y="333375"/>
                </a:cubicBezTo>
                <a:cubicBezTo>
                  <a:pt x="99194" y="333375"/>
                  <a:pt x="107156" y="325413"/>
                  <a:pt x="107156" y="315516"/>
                </a:cubicBezTo>
                <a:lnTo>
                  <a:pt x="107156" y="172641"/>
                </a:lnTo>
                <a:cubicBezTo>
                  <a:pt x="107156" y="162744"/>
                  <a:pt x="99194" y="154781"/>
                  <a:pt x="89297" y="154781"/>
                </a:cubicBezTo>
                <a:close/>
                <a:moveTo>
                  <a:pt x="166688" y="154781"/>
                </a:moveTo>
                <a:cubicBezTo>
                  <a:pt x="156790" y="154781"/>
                  <a:pt x="148828" y="162744"/>
                  <a:pt x="148828" y="172641"/>
                </a:cubicBezTo>
                <a:lnTo>
                  <a:pt x="148828" y="315516"/>
                </a:lnTo>
                <a:cubicBezTo>
                  <a:pt x="148828" y="325413"/>
                  <a:pt x="156790" y="333375"/>
                  <a:pt x="166688" y="333375"/>
                </a:cubicBezTo>
                <a:cubicBezTo>
                  <a:pt x="176585" y="333375"/>
                  <a:pt x="184547" y="325413"/>
                  <a:pt x="184547" y="315516"/>
                </a:cubicBezTo>
                <a:lnTo>
                  <a:pt x="184547" y="172641"/>
                </a:lnTo>
                <a:cubicBezTo>
                  <a:pt x="184547" y="162744"/>
                  <a:pt x="176585" y="154781"/>
                  <a:pt x="166688" y="154781"/>
                </a:cubicBezTo>
                <a:close/>
                <a:moveTo>
                  <a:pt x="244078" y="154781"/>
                </a:moveTo>
                <a:cubicBezTo>
                  <a:pt x="234181" y="154781"/>
                  <a:pt x="226219" y="162744"/>
                  <a:pt x="226219" y="172641"/>
                </a:cubicBezTo>
                <a:lnTo>
                  <a:pt x="226219" y="315516"/>
                </a:lnTo>
                <a:cubicBezTo>
                  <a:pt x="226219" y="325413"/>
                  <a:pt x="234181" y="333375"/>
                  <a:pt x="244078" y="333375"/>
                </a:cubicBezTo>
                <a:cubicBezTo>
                  <a:pt x="253975" y="333375"/>
                  <a:pt x="261938" y="325413"/>
                  <a:pt x="261938" y="315516"/>
                </a:cubicBezTo>
                <a:lnTo>
                  <a:pt x="261938" y="172641"/>
                </a:lnTo>
                <a:cubicBezTo>
                  <a:pt x="261938" y="162744"/>
                  <a:pt x="253975" y="154781"/>
                  <a:pt x="244078" y="154781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28332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废品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265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9050" y="3162300"/>
            <a:ext cx="787400" cy="1092200"/>
          </a:xfrm>
          <a:custGeom>
            <a:avLst/>
            <a:gdLst/>
            <a:ahLst/>
            <a:cxnLst/>
            <a:rect l="l" t="t" r="r" b="b"/>
            <a:pathLst>
              <a:path w="787400" h="1092200">
                <a:moveTo>
                  <a:pt x="101598" y="0"/>
                </a:moveTo>
                <a:lnTo>
                  <a:pt x="685802" y="0"/>
                </a:lnTo>
                <a:cubicBezTo>
                  <a:pt x="741913" y="0"/>
                  <a:pt x="787400" y="45487"/>
                  <a:pt x="787400" y="101598"/>
                </a:cubicBezTo>
                <a:lnTo>
                  <a:pt x="787400" y="990602"/>
                </a:lnTo>
                <a:cubicBezTo>
                  <a:pt x="787400" y="1046713"/>
                  <a:pt x="741913" y="1092200"/>
                  <a:pt x="685802" y="1092200"/>
                </a:cubicBezTo>
                <a:lnTo>
                  <a:pt x="101598" y="1092200"/>
                </a:lnTo>
                <a:cubicBezTo>
                  <a:pt x="45487" y="1092200"/>
                  <a:pt x="0" y="1046713"/>
                  <a:pt x="0" y="990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2250" y="331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572375" y="3797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危机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000" y="46609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设计师必须同时回应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生产者、消费者、使用者、自然环境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的四重凝视，构建新的设计伦理。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4130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设计生态链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971800"/>
            <a:ext cx="518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四品循环模型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30600"/>
            <a:ext cx="467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同一物在不同阶段扮演不同角色，设计要求也随之变化。设计需前置考虑回收再造，以闭环思维平衡各方需求。</a:t>
            </a:r>
            <a:endParaRPr lang="en-US" sz="1600" dirty="0"/>
          </a:p>
        </p:txBody>
      </p:sp>
      <p:pic>
        <p:nvPicPr>
          <p:cNvPr id="5" name="Image 0" descr="https://kimi-web-img.moonshot.cn/img/www.zaafdesign.com/e1c937504a2c209732e42cb2591e1165c291704b.jpeg"/>
          <p:cNvPicPr>
            <a:picLocks noChangeAspect="1"/>
          </p:cNvPicPr>
          <p:nvPr/>
        </p:nvPicPr>
        <p:blipFill>
          <a:blip r:embed="rId3"/>
          <a:srcRect l="3237" r="3237"/>
          <a:stretch/>
        </p:blipFill>
        <p:spPr>
          <a:xfrm>
            <a:off x="5334000" y="783115"/>
            <a:ext cx="6604000" cy="5295900"/>
          </a:xfrm>
          <a:prstGeom prst="roundRect">
            <a:avLst>
              <a:gd name="adj" fmla="val 1918"/>
            </a:avLst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共生美学：多元反馈的新审美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美学演进：从再现到共生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260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人类文明的美学观经历了从模仿自然、到张扬自我、再到多元并存的演进，当代设计美学是多种美学观的重叠、并行与综合。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276600"/>
            <a:ext cx="3759200" cy="1879600"/>
          </a:xfrm>
          <a:custGeom>
            <a:avLst/>
            <a:gdLst/>
            <a:ahLst/>
            <a:cxnLst/>
            <a:rect l="l" t="t" r="r" b="b"/>
            <a:pathLst>
              <a:path w="3759200" h="1879600">
                <a:moveTo>
                  <a:pt x="101592" y="0"/>
                </a:moveTo>
                <a:lnTo>
                  <a:pt x="3657608" y="0"/>
                </a:lnTo>
                <a:cubicBezTo>
                  <a:pt x="3713716" y="0"/>
                  <a:pt x="3759200" y="45484"/>
                  <a:pt x="3759200" y="101592"/>
                </a:cubicBezTo>
                <a:lnTo>
                  <a:pt x="3759200" y="1778008"/>
                </a:lnTo>
                <a:cubicBezTo>
                  <a:pt x="3759200" y="1834116"/>
                  <a:pt x="3713716" y="1879600"/>
                  <a:pt x="36576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34798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古典主义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987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再现美学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44839"/>
            <a:ext cx="335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机械反映论，单向、纵深、一次元的模仿。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16400" y="3530600"/>
            <a:ext cx="3759200" cy="1625600"/>
          </a:xfrm>
          <a:custGeom>
            <a:avLst/>
            <a:gdLst/>
            <a:ahLst/>
            <a:cxnLst/>
            <a:rect l="l" t="t" r="r" b="b"/>
            <a:pathLst>
              <a:path w="3759200" h="16256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1524000"/>
                </a:lnTo>
                <a:cubicBezTo>
                  <a:pt x="3759200" y="1580075"/>
                  <a:pt x="3713675" y="1625600"/>
                  <a:pt x="36576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32400" y="37338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现代主义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0" y="4241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表现美学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8500" y="4698839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逆向、否定、排他性的自我表现。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78800" y="3530600"/>
            <a:ext cx="3759200" cy="1625600"/>
          </a:xfrm>
          <a:custGeom>
            <a:avLst/>
            <a:gdLst/>
            <a:ahLst/>
            <a:cxnLst/>
            <a:rect l="l" t="t" r="r" b="b"/>
            <a:pathLst>
              <a:path w="3759200" h="16256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1524000"/>
                </a:lnTo>
                <a:cubicBezTo>
                  <a:pt x="3759200" y="1580075"/>
                  <a:pt x="3713675" y="1625600"/>
                  <a:pt x="36576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499600" y="3733800"/>
            <a:ext cx="1117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6400" y="4241639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共生美学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4698839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开放、网络式、多次元的兼容并蓄。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7404" y="2209800"/>
            <a:ext cx="4673600" cy="2438400"/>
          </a:xfrm>
          <a:custGeom>
            <a:avLst/>
            <a:gdLst/>
            <a:ahLst/>
            <a:cxnLst/>
            <a:rect l="l" t="t" r="r" b="b"/>
            <a:pathLst>
              <a:path w="4673600" h="2438400">
                <a:moveTo>
                  <a:pt x="101608" y="0"/>
                </a:moveTo>
                <a:lnTo>
                  <a:pt x="4571992" y="0"/>
                </a:lnTo>
                <a:cubicBezTo>
                  <a:pt x="4628108" y="0"/>
                  <a:pt x="4673600" y="45492"/>
                  <a:pt x="4673600" y="101608"/>
                </a:cubicBezTo>
                <a:lnTo>
                  <a:pt x="4673600" y="2336792"/>
                </a:lnTo>
                <a:cubicBezTo>
                  <a:pt x="4673600" y="2392908"/>
                  <a:pt x="4628108" y="2438400"/>
                  <a:pt x="4571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849404" y="2514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3400" y="304800"/>
                </a:moveTo>
                <a:cubicBezTo>
                  <a:pt x="533400" y="178632"/>
                  <a:pt x="430968" y="76200"/>
                  <a:pt x="304800" y="76200"/>
                </a:cubicBezTo>
                <a:cubicBezTo>
                  <a:pt x="178632" y="76200"/>
                  <a:pt x="76200" y="178632"/>
                  <a:pt x="76200" y="304800"/>
                </a:cubicBezTo>
                <a:cubicBezTo>
                  <a:pt x="76200" y="430968"/>
                  <a:pt x="178632" y="533400"/>
                  <a:pt x="304800" y="533400"/>
                </a:cubicBezTo>
                <a:cubicBezTo>
                  <a:pt x="430968" y="533400"/>
                  <a:pt x="533400" y="430968"/>
                  <a:pt x="533400" y="304800"/>
                </a:cubicBezTo>
                <a:close/>
                <a:moveTo>
                  <a:pt x="0" y="304800"/>
                </a:moveTo>
                <a:cubicBezTo>
                  <a:pt x="0" y="136576"/>
                  <a:pt x="136576" y="0"/>
                  <a:pt x="304800" y="0"/>
                </a:cubicBezTo>
                <a:cubicBezTo>
                  <a:pt x="473024" y="0"/>
                  <a:pt x="609600" y="136576"/>
                  <a:pt x="609600" y="304800"/>
                </a:cubicBezTo>
                <a:cubicBezTo>
                  <a:pt x="609600" y="473024"/>
                  <a:pt x="473024" y="609600"/>
                  <a:pt x="304800" y="609600"/>
                </a:cubicBezTo>
                <a:cubicBezTo>
                  <a:pt x="136576" y="609600"/>
                  <a:pt x="0" y="473024"/>
                  <a:pt x="0" y="304800"/>
                </a:cubicBezTo>
                <a:close/>
                <a:moveTo>
                  <a:pt x="304800" y="400050"/>
                </a:moveTo>
                <a:cubicBezTo>
                  <a:pt x="357370" y="400050"/>
                  <a:pt x="400050" y="357370"/>
                  <a:pt x="400050" y="304800"/>
                </a:cubicBezTo>
                <a:cubicBezTo>
                  <a:pt x="400050" y="252230"/>
                  <a:pt x="357370" y="209550"/>
                  <a:pt x="304800" y="209550"/>
                </a:cubicBezTo>
                <a:cubicBezTo>
                  <a:pt x="252230" y="209550"/>
                  <a:pt x="209550" y="252230"/>
                  <a:pt x="209550" y="304800"/>
                </a:cubicBezTo>
                <a:cubicBezTo>
                  <a:pt x="209550" y="357370"/>
                  <a:pt x="252230" y="400050"/>
                  <a:pt x="304800" y="400050"/>
                </a:cubicBezTo>
                <a:close/>
                <a:moveTo>
                  <a:pt x="304800" y="133350"/>
                </a:moveTo>
                <a:cubicBezTo>
                  <a:pt x="399426" y="133350"/>
                  <a:pt x="476250" y="210174"/>
                  <a:pt x="476250" y="304800"/>
                </a:cubicBezTo>
                <a:cubicBezTo>
                  <a:pt x="476250" y="399426"/>
                  <a:pt x="399426" y="476250"/>
                  <a:pt x="304800" y="476250"/>
                </a:cubicBezTo>
                <a:cubicBezTo>
                  <a:pt x="210174" y="476250"/>
                  <a:pt x="133350" y="399426"/>
                  <a:pt x="133350" y="304800"/>
                </a:cubicBezTo>
                <a:cubicBezTo>
                  <a:pt x="133350" y="210174"/>
                  <a:pt x="210174" y="133350"/>
                  <a:pt x="304800" y="133350"/>
                </a:cubicBezTo>
                <a:close/>
                <a:moveTo>
                  <a:pt x="266700" y="304800"/>
                </a:moveTo>
                <a:cubicBezTo>
                  <a:pt x="266700" y="283772"/>
                  <a:pt x="283772" y="266700"/>
                  <a:pt x="304800" y="266700"/>
                </a:cubicBezTo>
                <a:cubicBezTo>
                  <a:pt x="325828" y="266700"/>
                  <a:pt x="342900" y="283772"/>
                  <a:pt x="342900" y="304800"/>
                </a:cubicBezTo>
                <a:cubicBezTo>
                  <a:pt x="342900" y="325828"/>
                  <a:pt x="325828" y="342900"/>
                  <a:pt x="304800" y="342900"/>
                </a:cubicBezTo>
                <a:cubicBezTo>
                  <a:pt x="283772" y="342900"/>
                  <a:pt x="266700" y="325828"/>
                  <a:pt x="266700" y="3048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868204" y="3327400"/>
            <a:ext cx="457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合目的性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2204" y="3835239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以目标使用者的目的为依据创造美，满足人的需求与理想。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97404" y="3048000"/>
            <a:ext cx="901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6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00838" y="2209800"/>
            <a:ext cx="4673600" cy="2438400"/>
          </a:xfrm>
          <a:custGeom>
            <a:avLst/>
            <a:gdLst/>
            <a:ahLst/>
            <a:cxnLst/>
            <a:rect l="l" t="t" r="r" b="b"/>
            <a:pathLst>
              <a:path w="4673600" h="2438400">
                <a:moveTo>
                  <a:pt x="101608" y="0"/>
                </a:moveTo>
                <a:lnTo>
                  <a:pt x="4571992" y="0"/>
                </a:lnTo>
                <a:cubicBezTo>
                  <a:pt x="4628108" y="0"/>
                  <a:pt x="4673600" y="45492"/>
                  <a:pt x="4673600" y="101608"/>
                </a:cubicBezTo>
                <a:lnTo>
                  <a:pt x="4673600" y="2336792"/>
                </a:lnTo>
                <a:cubicBezTo>
                  <a:pt x="4673600" y="2392908"/>
                  <a:pt x="4628108" y="2438400"/>
                  <a:pt x="45719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656638" y="2514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6751638" y="3327400"/>
            <a:ext cx="457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合规律性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05638" y="3835239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符合技术、制造、材料的客观规律，是美的客观基础。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24000" y="5689600"/>
            <a:ext cx="9144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101603" y="0"/>
                </a:moveTo>
                <a:lnTo>
                  <a:pt x="9042397" y="0"/>
                </a:lnTo>
                <a:cubicBezTo>
                  <a:pt x="9098511" y="0"/>
                  <a:pt x="9144000" y="45489"/>
                  <a:pt x="9144000" y="101603"/>
                </a:cubicBezTo>
                <a:lnTo>
                  <a:pt x="9144000" y="558797"/>
                </a:lnTo>
                <a:cubicBezTo>
                  <a:pt x="9144000" y="614911"/>
                  <a:pt x="9098511" y="660400"/>
                  <a:pt x="90423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5842000"/>
            <a:ext cx="934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设计美的本质：主客观的统一，真与善的统一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79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多元反馈：开放系统的审美机制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400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共生美学鼓励观者、用者参与再创造，形成多向比较、补充、竞争的连锁反应，激发更丰富的新信息产生。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45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3543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35052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开放参与: 还给民众参与艺术和设计的权利。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01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Shape 6"/>
          <p:cNvSpPr/>
          <p:nvPr/>
        </p:nvSpPr>
        <p:spPr>
          <a:xfrm>
            <a:off x="331788" y="410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4064000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交流感应: 启发联想，达到相互交流、补充、再创造。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57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360363" y="4660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12800" y="4622800"/>
            <a:ext cx="478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连锁反应: 如原子核裂变，释放无与伦比的创造能量。</a:t>
            </a:r>
            <a:endParaRPr lang="en-US" sz="1600" dirty="0"/>
          </a:p>
        </p:txBody>
      </p:sp>
      <p:pic>
        <p:nvPicPr>
          <p:cNvPr id="13" name="Image 0" descr="https://kimi-web-img.moonshot.cn/img/img-blog.csdnimg.cn/c12a3c52c7b8d040453d0c307d971aa39a54d738.png"/>
          <p:cNvPicPr>
            <a:picLocks noChangeAspect="1"/>
          </p:cNvPicPr>
          <p:nvPr/>
        </p:nvPicPr>
        <p:blipFill>
          <a:blip r:embed="rId3"/>
          <a:srcRect l="29118" r="29118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有限理性与适应性：设计原则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95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有限理性原则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06600"/>
            <a:ext cx="1219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“满意即好” (Satisficing)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616039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设计的目的并非寻找虚幻的“最优解”，而是在复杂的内外部因素限制下，获得一个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“满意解”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。美是相对的，只存在于具体人的具体实践中。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93800" y="3759039"/>
            <a:ext cx="977900" cy="977900"/>
          </a:xfrm>
          <a:custGeom>
            <a:avLst/>
            <a:gdLst/>
            <a:ahLst/>
            <a:cxnLst/>
            <a:rect l="l" t="t" r="r" b="b"/>
            <a:pathLst>
              <a:path w="977900" h="977900">
                <a:moveTo>
                  <a:pt x="488950" y="0"/>
                </a:moveTo>
                <a:lnTo>
                  <a:pt x="488950" y="0"/>
                </a:lnTo>
                <a:cubicBezTo>
                  <a:pt x="758809" y="0"/>
                  <a:pt x="977900" y="219091"/>
                  <a:pt x="977900" y="488950"/>
                </a:cubicBezTo>
                <a:lnTo>
                  <a:pt x="977900" y="488950"/>
                </a:lnTo>
                <a:cubicBezTo>
                  <a:pt x="977900" y="758809"/>
                  <a:pt x="758809" y="977900"/>
                  <a:pt x="488950" y="977900"/>
                </a:cubicBezTo>
                <a:lnTo>
                  <a:pt x="488950" y="977900"/>
                </a:lnTo>
                <a:cubicBezTo>
                  <a:pt x="219091" y="977900"/>
                  <a:pt x="0" y="758809"/>
                  <a:pt x="0" y="488950"/>
                </a:cubicBezTo>
                <a:lnTo>
                  <a:pt x="0" y="488950"/>
                </a:lnTo>
                <a:cubicBezTo>
                  <a:pt x="0" y="219091"/>
                  <a:pt x="219091" y="0"/>
                  <a:pt x="4889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0350" y="403843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49203" y="65544"/>
                </a:moveTo>
                <a:cubicBezTo>
                  <a:pt x="38040" y="54382"/>
                  <a:pt x="19913" y="54382"/>
                  <a:pt x="8751" y="65544"/>
                </a:cubicBezTo>
                <a:cubicBezTo>
                  <a:pt x="-2411" y="76706"/>
                  <a:pt x="-2411" y="94833"/>
                  <a:pt x="8751" y="105995"/>
                </a:cubicBezTo>
                <a:lnTo>
                  <a:pt x="131445" y="228600"/>
                </a:lnTo>
                <a:lnTo>
                  <a:pt x="8840" y="351294"/>
                </a:lnTo>
                <a:cubicBezTo>
                  <a:pt x="-2322" y="362456"/>
                  <a:pt x="-2322" y="380583"/>
                  <a:pt x="8840" y="391745"/>
                </a:cubicBezTo>
                <a:cubicBezTo>
                  <a:pt x="20003" y="402908"/>
                  <a:pt x="38130" y="402908"/>
                  <a:pt x="49292" y="391745"/>
                </a:cubicBezTo>
                <a:lnTo>
                  <a:pt x="171896" y="269051"/>
                </a:lnTo>
                <a:lnTo>
                  <a:pt x="294590" y="391656"/>
                </a:lnTo>
                <a:cubicBezTo>
                  <a:pt x="305753" y="402818"/>
                  <a:pt x="323880" y="402818"/>
                  <a:pt x="335042" y="391656"/>
                </a:cubicBezTo>
                <a:cubicBezTo>
                  <a:pt x="346204" y="380494"/>
                  <a:pt x="346204" y="362367"/>
                  <a:pt x="335042" y="351205"/>
                </a:cubicBezTo>
                <a:lnTo>
                  <a:pt x="212348" y="228600"/>
                </a:lnTo>
                <a:lnTo>
                  <a:pt x="334953" y="105906"/>
                </a:lnTo>
                <a:cubicBezTo>
                  <a:pt x="346115" y="94744"/>
                  <a:pt x="346115" y="76617"/>
                  <a:pt x="334953" y="65455"/>
                </a:cubicBezTo>
                <a:cubicBezTo>
                  <a:pt x="323790" y="54293"/>
                  <a:pt x="305663" y="54293"/>
                  <a:pt x="294501" y="65455"/>
                </a:cubicBezTo>
                <a:lnTo>
                  <a:pt x="171896" y="188149"/>
                </a:lnTo>
                <a:lnTo>
                  <a:pt x="49203" y="65544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939800" y="4876639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最优解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" y="5181439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不现实的神话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4292439"/>
            <a:ext cx="111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3632039"/>
            <a:ext cx="1155700" cy="1155700"/>
          </a:xfrm>
          <a:custGeom>
            <a:avLst/>
            <a:gdLst/>
            <a:ahLst/>
            <a:cxnLst/>
            <a:rect l="l" t="t" r="r" b="b"/>
            <a:pathLst>
              <a:path w="1155700" h="1155700">
                <a:moveTo>
                  <a:pt x="577850" y="0"/>
                </a:moveTo>
                <a:lnTo>
                  <a:pt x="577850" y="0"/>
                </a:lnTo>
                <a:cubicBezTo>
                  <a:pt x="896774" y="0"/>
                  <a:pt x="1155700" y="258926"/>
                  <a:pt x="1155700" y="577850"/>
                </a:cubicBezTo>
                <a:lnTo>
                  <a:pt x="1155700" y="577850"/>
                </a:lnTo>
                <a:cubicBezTo>
                  <a:pt x="1155700" y="896774"/>
                  <a:pt x="896774" y="1155700"/>
                  <a:pt x="577850" y="1155700"/>
                </a:cubicBezTo>
                <a:lnTo>
                  <a:pt x="577850" y="1155700"/>
                </a:lnTo>
                <a:cubicBezTo>
                  <a:pt x="258926" y="1155700"/>
                  <a:pt x="0" y="896774"/>
                  <a:pt x="0" y="577850"/>
                </a:cubicBezTo>
                <a:lnTo>
                  <a:pt x="0" y="577850"/>
                </a:lnTo>
                <a:cubicBezTo>
                  <a:pt x="0" y="258926"/>
                  <a:pt x="258926" y="0"/>
                  <a:pt x="577850" y="0"/>
                </a:cubicBezTo>
                <a:close/>
              </a:path>
            </a:pathLst>
          </a:custGeom>
          <a:solidFill>
            <a:srgbClr val="FFFFFF"/>
          </a:solidFill>
          <a:ln w="30480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72300" y="3936839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17684" y="83463"/>
                </a:moveTo>
                <a:cubicBezTo>
                  <a:pt x="534710" y="95845"/>
                  <a:pt x="538520" y="119658"/>
                  <a:pt x="526137" y="136684"/>
                </a:cubicBezTo>
                <a:lnTo>
                  <a:pt x="221337" y="555784"/>
                </a:lnTo>
                <a:cubicBezTo>
                  <a:pt x="214789" y="564833"/>
                  <a:pt x="204668" y="570428"/>
                  <a:pt x="193477" y="571381"/>
                </a:cubicBezTo>
                <a:cubicBezTo>
                  <a:pt x="182285" y="572333"/>
                  <a:pt x="171450" y="568166"/>
                  <a:pt x="163592" y="560308"/>
                </a:cubicBezTo>
                <a:lnTo>
                  <a:pt x="11192" y="407908"/>
                </a:lnTo>
                <a:cubicBezTo>
                  <a:pt x="-3691" y="393025"/>
                  <a:pt x="-3691" y="368856"/>
                  <a:pt x="11192" y="353973"/>
                </a:cubicBezTo>
                <a:cubicBezTo>
                  <a:pt x="26075" y="339090"/>
                  <a:pt x="50244" y="339090"/>
                  <a:pt x="65127" y="353973"/>
                </a:cubicBezTo>
                <a:lnTo>
                  <a:pt x="185976" y="474821"/>
                </a:lnTo>
                <a:lnTo>
                  <a:pt x="464582" y="91797"/>
                </a:lnTo>
                <a:cubicBezTo>
                  <a:pt x="476964" y="74771"/>
                  <a:pt x="500777" y="70961"/>
                  <a:pt x="517803" y="83344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4952839"/>
            <a:ext cx="172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满意解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5400" y="5308439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现实的追求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img.com/030334309be16fe83bdb35a16296bae385f7f0f0.png"/>
          <p:cNvPicPr>
            <a:picLocks noChangeAspect="1"/>
          </p:cNvPicPr>
          <p:nvPr/>
        </p:nvPicPr>
        <p:blipFill>
          <a:blip r:embed="rId3"/>
          <a:srcRect l="17900" r="17900"/>
          <a:stretch/>
        </p:blipFill>
        <p:spPr>
          <a:xfrm>
            <a:off x="254000" y="254000"/>
            <a:ext cx="5435600" cy="63500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600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适应性原则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1590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内外环境的动态匹配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27178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设计创造的人为世界是一个“适应性系统”，需通过调整内部元素关系，来适配变化的外部环境与多元目的，实现主观与客观的统一。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02400" y="39370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705600" y="41402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以汽车为例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05600" y="45466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其作为交通工具的目的，只有在</a:t>
            </a: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平坦路面（外因） </a:t>
            </a: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正常运转（内因） </a:t>
            </a: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都协调时才能实现。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54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设计即搜索：满意驱动的创造过程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473200" y="2413000"/>
            <a:ext cx="924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设计过程是不断生成备选方案，并以“满意原则”进行选择和调整的搜索链。搜索本身即是创造。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892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16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23368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020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24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228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308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32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9784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归纳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16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2100" y="3378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2992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44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4800" y="337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5200" y="3505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93200" y="32258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285750" y="0"/>
                </a:lnTo>
                <a:cubicBezTo>
                  <a:pt x="443460" y="0"/>
                  <a:pt x="571500" y="128040"/>
                  <a:pt x="571500" y="285750"/>
                </a:cubicBezTo>
                <a:lnTo>
                  <a:pt x="571500" y="285750"/>
                </a:lnTo>
                <a:cubicBezTo>
                  <a:pt x="571500" y="443460"/>
                  <a:pt x="443460" y="571500"/>
                  <a:pt x="2857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7500" y="3378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940800" y="3886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4000" y="46990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整个过程需结合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文化性、社会性、技术性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进行综合创造，缺乏主动创造将导致机械适应，无法获得满意解。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设计思维六步法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51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观察：发现问题的入口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311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观察是设计思维的第一步，是发现问题、收集信息为目的的过程。内行才能看出门道，需要正确的方法和知识经验。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2258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目的明确: 从现象到本质，形而上地抽象。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683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忠实对象: 感官体验+思考反馈，用各种视角。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4000" y="41402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扩延比较: 搜寻同类目之“物”进行比较，形而下。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" y="4597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由表及里: 从整体到局部再回到整体，把握细节与目的一致。</a:t>
            </a:r>
            <a:endParaRPr lang="en-US" sz="1600" dirty="0"/>
          </a:p>
        </p:txBody>
      </p:sp>
      <p:pic>
        <p:nvPicPr>
          <p:cNvPr id="8" name="Image 0" descr="https://kimi-web-img.moonshot.cn/img/img.alicdn.com/72baf8ed70ed8dc55654896aeb41921f443db7e2.jpg"/>
          <p:cNvPicPr>
            <a:picLocks noChangeAspect="1"/>
          </p:cNvPicPr>
          <p:nvPr/>
        </p:nvPicPr>
        <p:blipFill>
          <a:blip r:embed="rId3"/>
          <a:srcRect l="5600" r="5600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-blog.csdnimg.cn/759d1ecc7ecb53a07569f11bd97998c555be80f9.png"/>
          <p:cNvPicPr>
            <a:picLocks noChangeAspect="1"/>
          </p:cNvPicPr>
          <p:nvPr/>
        </p:nvPicPr>
        <p:blipFill>
          <a:blip r:embed="rId3"/>
          <a:srcRect l="25245" r="25245"/>
          <a:stretch/>
        </p:blipFill>
        <p:spPr>
          <a:xfrm>
            <a:off x="254000" y="254000"/>
            <a:ext cx="5638800" cy="6350000"/>
          </a:xfrm>
          <a:prstGeom prst="roundRect">
            <a:avLst>
              <a:gd name="adj" fmla="val 180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152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分析与归纳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0828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从拆解到定位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02400" y="2641600"/>
            <a:ext cx="5435600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05600" y="28448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 (Analysis)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05600" y="3302000"/>
            <a:ext cx="553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析出“物”的内因与外因的逻辑关系，透析共性基础上的个性。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02400" y="39624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705600" y="41656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归纳 (Induction)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705600" y="46228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将目的与限制归纳成“目标系统”，形成“实事求是”的“设计定位”。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397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联想与创造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955800"/>
            <a:ext cx="594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在限制下扩散方案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5146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178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联想 (Association)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750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在“关系”限制下，举一反三，搜寻并研究“其他物”，形成创意。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40894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2600"/>
            <a:ext cx="502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highlight>
                  <a:srgbClr val="262626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 (Creation)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7498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用“目标系统”评价“创意”，组织“内因”以支撑、完善方案。</a:t>
            </a:r>
            <a:endParaRPr lang="en-US" sz="1600" dirty="0"/>
          </a:p>
        </p:txBody>
      </p:sp>
      <p:pic>
        <p:nvPicPr>
          <p:cNvPr id="10" name="Image 0" descr="https://kimi-web-img.moonshot.cn/img/gozerbot.org/ba4236c7c530e87a71ce0fd52e6fc316b54d736c.jpg"/>
          <p:cNvPicPr>
            <a:picLocks noChangeAspect="1"/>
          </p:cNvPicPr>
          <p:nvPr/>
        </p:nvPicPr>
        <p:blipFill>
          <a:blip r:embed="rId3"/>
          <a:srcRect l="23471" r="23471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1802"/>
            </a:avLst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70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评价：系统视角下的持续验证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981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评价贯穿设计思维全过程，以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适应性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为准绳，检验方案是否满足特定时空人群需求，并可制造、流通、使用、回收。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997200"/>
            <a:ext cx="8534400" cy="1320800"/>
          </a:xfrm>
          <a:custGeom>
            <a:avLst/>
            <a:gdLst/>
            <a:ahLst/>
            <a:cxnLst/>
            <a:rect l="l" t="t" r="r" b="b"/>
            <a:pathLst>
              <a:path w="8534400" h="1320800">
                <a:moveTo>
                  <a:pt x="101596" y="0"/>
                </a:moveTo>
                <a:lnTo>
                  <a:pt x="8432804" y="0"/>
                </a:lnTo>
                <a:cubicBezTo>
                  <a:pt x="8488914" y="0"/>
                  <a:pt x="8534400" y="45486"/>
                  <a:pt x="8534400" y="101596"/>
                </a:cubicBezTo>
                <a:lnTo>
                  <a:pt x="8534400" y="1219204"/>
                </a:lnTo>
                <a:cubicBezTo>
                  <a:pt x="8534400" y="1275314"/>
                  <a:pt x="8488914" y="1320800"/>
                  <a:pt x="84328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" y="3302000"/>
            <a:ext cx="843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“事理学”思维方法的统一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" y="3759200"/>
            <a:ext cx="843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基于设计“本体论”、“认识论”与“方法论”的统一，相互依存，“实事求是”。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16291" y="462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Shape 6"/>
          <p:cNvSpPr/>
          <p:nvPr/>
        </p:nvSpPr>
        <p:spPr>
          <a:xfrm>
            <a:off x="4768691" y="477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529" y="-1488"/>
                </a:moveTo>
                <a:cubicBezTo>
                  <a:pt x="145316" y="-8275"/>
                  <a:pt x="159841" y="-8275"/>
                  <a:pt x="171629" y="-1488"/>
                </a:cubicBezTo>
                <a:lnTo>
                  <a:pt x="276344" y="58936"/>
                </a:lnTo>
                <a:cubicBezTo>
                  <a:pt x="288131" y="65723"/>
                  <a:pt x="295394" y="78343"/>
                  <a:pt x="295394" y="91916"/>
                </a:cubicBezTo>
                <a:lnTo>
                  <a:pt x="295394" y="212765"/>
                </a:lnTo>
                <a:cubicBezTo>
                  <a:pt x="295394" y="226397"/>
                  <a:pt x="288131" y="238958"/>
                  <a:pt x="276344" y="245745"/>
                </a:cubicBezTo>
                <a:lnTo>
                  <a:pt x="171629" y="306288"/>
                </a:lnTo>
                <a:cubicBezTo>
                  <a:pt x="159841" y="313075"/>
                  <a:pt x="145316" y="313075"/>
                  <a:pt x="133529" y="306288"/>
                </a:cubicBezTo>
                <a:lnTo>
                  <a:pt x="28873" y="245864"/>
                </a:lnTo>
                <a:cubicBezTo>
                  <a:pt x="17085" y="239078"/>
                  <a:pt x="9823" y="226457"/>
                  <a:pt x="9823" y="212884"/>
                </a:cubicBezTo>
                <a:lnTo>
                  <a:pt x="9823" y="92035"/>
                </a:lnTo>
                <a:cubicBezTo>
                  <a:pt x="9823" y="78403"/>
                  <a:pt x="17085" y="65842"/>
                  <a:pt x="28873" y="59055"/>
                </a:cubicBezTo>
                <a:lnTo>
                  <a:pt x="133529" y="-1488"/>
                </a:lnTo>
                <a:close/>
                <a:moveTo>
                  <a:pt x="257235" y="212824"/>
                </a:moveTo>
                <a:lnTo>
                  <a:pt x="257235" y="113943"/>
                </a:lnTo>
                <a:lnTo>
                  <a:pt x="171629" y="163354"/>
                </a:lnTo>
                <a:lnTo>
                  <a:pt x="171629" y="262235"/>
                </a:lnTo>
                <a:lnTo>
                  <a:pt x="257235" y="21282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362291" y="528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本体论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75091" y="4902200"/>
            <a:ext cx="67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0" y="462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Shape 10"/>
          <p:cNvSpPr/>
          <p:nvPr/>
        </p:nvSpPr>
        <p:spPr>
          <a:xfrm>
            <a:off x="5924550" y="4775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37200" y="528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认识论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000" y="4902200"/>
            <a:ext cx="67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66109" y="462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0409" y="4775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12109" y="528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方法论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941768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事与物：中国传统设计事理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27525"/>
            <a:ext cx="7486015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2845" y="4820920"/>
            <a:ext cx="701040" cy="68262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由物及事：方法论转向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车轮：滚动中的事理演进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升水器械：提水事中的造物智慧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金属礼器：权力符号的生成逻辑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9542145" y="49904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思维模型：天时地利人和物宜工巧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现代启示：传统智慧的转译路径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结论：事理不息，设计常新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由物及事：方法论转向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711450"/>
            <a:ext cx="4876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由物及事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333375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方法论转向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09575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927600" y="2501900"/>
            <a:ext cx="0" cy="1854200"/>
          </a:xfrm>
          <a:prstGeom prst="line">
            <a:avLst/>
          </a:prstGeom>
          <a:noFill/>
          <a:ln w="20320">
            <a:solidFill>
              <a:srgbClr val="8C8C8C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252720" y="2501900"/>
            <a:ext cx="6680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传统研究多聚焦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造型与断代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，本章则提出“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由物及事、由事明理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”的逆向视角，将器物放回其产生、发展、演变的天时、地利、人和网络中，考察外部限制如何驱动内部技术选择。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52720" y="3695700"/>
            <a:ext cx="668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研究目的并非穷尽形式，而是揭示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需求—限制—手段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的平衡机制，为理解中国本土设计智慧提供可迁移的框架。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事理思想：人造物背后的文化秩序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81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古人造物是顺应天时、综合地利、讲究人和、因材施艺的系统决策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78000" y="2692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87575" y="3073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0"/>
                </a:moveTo>
                <a:cubicBezTo>
                  <a:pt x="130106" y="0"/>
                  <a:pt x="142875" y="12769"/>
                  <a:pt x="142875" y="28575"/>
                </a:cubicBezTo>
                <a:lnTo>
                  <a:pt x="142875" y="57150"/>
                </a:lnTo>
                <a:lnTo>
                  <a:pt x="257175" y="57150"/>
                </a:lnTo>
                <a:lnTo>
                  <a:pt x="257175" y="28575"/>
                </a:lnTo>
                <a:cubicBezTo>
                  <a:pt x="257175" y="12769"/>
                  <a:pt x="269944" y="0"/>
                  <a:pt x="285750" y="0"/>
                </a:cubicBezTo>
                <a:cubicBezTo>
                  <a:pt x="301556" y="0"/>
                  <a:pt x="314325" y="12769"/>
                  <a:pt x="314325" y="28575"/>
                </a:cubicBezTo>
                <a:lnTo>
                  <a:pt x="314325" y="57150"/>
                </a:lnTo>
                <a:lnTo>
                  <a:pt x="342900" y="57150"/>
                </a:lnTo>
                <a:cubicBezTo>
                  <a:pt x="374422" y="57150"/>
                  <a:pt x="400050" y="82778"/>
                  <a:pt x="400050" y="1143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14300"/>
                </a:lnTo>
                <a:cubicBezTo>
                  <a:pt x="0" y="82778"/>
                  <a:pt x="25628" y="57150"/>
                  <a:pt x="57150" y="57150"/>
                </a:cubicBezTo>
                <a:lnTo>
                  <a:pt x="85725" y="57150"/>
                </a:lnTo>
                <a:lnTo>
                  <a:pt x="85725" y="28575"/>
                </a:lnTo>
                <a:cubicBezTo>
                  <a:pt x="85725" y="12769"/>
                  <a:pt x="98494" y="0"/>
                  <a:pt x="114300" y="0"/>
                </a:cubicBezTo>
                <a:close/>
                <a:moveTo>
                  <a:pt x="57150" y="214313"/>
                </a:moveTo>
                <a:lnTo>
                  <a:pt x="57150" y="242888"/>
                </a:lnTo>
                <a:cubicBezTo>
                  <a:pt x="57150" y="250746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50746"/>
                  <a:pt x="114300" y="242888"/>
                </a:cubicBezTo>
                <a:lnTo>
                  <a:pt x="114300" y="214313"/>
                </a:lnTo>
                <a:cubicBezTo>
                  <a:pt x="114300" y="206454"/>
                  <a:pt x="107871" y="200025"/>
                  <a:pt x="100013" y="200025"/>
                </a:cubicBezTo>
                <a:lnTo>
                  <a:pt x="71438" y="200025"/>
                </a:lnTo>
                <a:cubicBezTo>
                  <a:pt x="63579" y="200025"/>
                  <a:pt x="57150" y="206454"/>
                  <a:pt x="57150" y="214313"/>
                </a:cubicBezTo>
                <a:close/>
                <a:moveTo>
                  <a:pt x="171450" y="214313"/>
                </a:moveTo>
                <a:lnTo>
                  <a:pt x="171450" y="242888"/>
                </a:lnTo>
                <a:cubicBezTo>
                  <a:pt x="171450" y="250746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50746"/>
                  <a:pt x="228600" y="242888"/>
                </a:cubicBezTo>
                <a:lnTo>
                  <a:pt x="228600" y="214313"/>
                </a:lnTo>
                <a:cubicBezTo>
                  <a:pt x="228600" y="206454"/>
                  <a:pt x="222171" y="200025"/>
                  <a:pt x="214313" y="200025"/>
                </a:cubicBezTo>
                <a:lnTo>
                  <a:pt x="185738" y="200025"/>
                </a:lnTo>
                <a:cubicBezTo>
                  <a:pt x="177879" y="200025"/>
                  <a:pt x="171450" y="206454"/>
                  <a:pt x="171450" y="214313"/>
                </a:cubicBezTo>
                <a:close/>
                <a:moveTo>
                  <a:pt x="300038" y="200025"/>
                </a:moveTo>
                <a:cubicBezTo>
                  <a:pt x="292179" y="200025"/>
                  <a:pt x="285750" y="206454"/>
                  <a:pt x="285750" y="214313"/>
                </a:cubicBezTo>
                <a:lnTo>
                  <a:pt x="285750" y="242888"/>
                </a:lnTo>
                <a:cubicBezTo>
                  <a:pt x="285750" y="250746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50746"/>
                  <a:pt x="342900" y="242888"/>
                </a:cubicBezTo>
                <a:lnTo>
                  <a:pt x="342900" y="214313"/>
                </a:lnTo>
                <a:cubicBezTo>
                  <a:pt x="342900" y="206454"/>
                  <a:pt x="336471" y="200025"/>
                  <a:pt x="328613" y="200025"/>
                </a:cubicBezTo>
                <a:lnTo>
                  <a:pt x="300038" y="200025"/>
                </a:lnTo>
                <a:close/>
                <a:moveTo>
                  <a:pt x="57150" y="328613"/>
                </a:move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100013" y="371475"/>
                </a:lnTo>
                <a:cubicBezTo>
                  <a:pt x="107871" y="371475"/>
                  <a:pt x="114300" y="365046"/>
                  <a:pt x="114300" y="357188"/>
                </a:cubicBezTo>
                <a:lnTo>
                  <a:pt x="114300" y="328613"/>
                </a:lnTo>
                <a:cubicBezTo>
                  <a:pt x="114300" y="320754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20754"/>
                  <a:pt x="57150" y="328613"/>
                </a:cubicBezTo>
                <a:close/>
                <a:moveTo>
                  <a:pt x="185738" y="314325"/>
                </a:moveTo>
                <a:cubicBezTo>
                  <a:pt x="177879" y="314325"/>
                  <a:pt x="171450" y="320754"/>
                  <a:pt x="171450" y="328613"/>
                </a:cubicBezTo>
                <a:lnTo>
                  <a:pt x="171450" y="357188"/>
                </a:lnTo>
                <a:cubicBezTo>
                  <a:pt x="171450" y="365046"/>
                  <a:pt x="177879" y="371475"/>
                  <a:pt x="185738" y="371475"/>
                </a:cubicBezTo>
                <a:lnTo>
                  <a:pt x="214313" y="371475"/>
                </a:lnTo>
                <a:cubicBezTo>
                  <a:pt x="222171" y="371475"/>
                  <a:pt x="228600" y="365046"/>
                  <a:pt x="228600" y="357188"/>
                </a:cubicBezTo>
                <a:lnTo>
                  <a:pt x="228600" y="328613"/>
                </a:lnTo>
                <a:cubicBezTo>
                  <a:pt x="228600" y="320754"/>
                  <a:pt x="222171" y="314325"/>
                  <a:pt x="214313" y="314325"/>
                </a:cubicBezTo>
                <a:lnTo>
                  <a:pt x="185738" y="314325"/>
                </a:lnTo>
                <a:close/>
                <a:moveTo>
                  <a:pt x="285750" y="328613"/>
                </a:moveTo>
                <a:lnTo>
                  <a:pt x="285750" y="357188"/>
                </a:lnTo>
                <a:cubicBezTo>
                  <a:pt x="285750" y="365046"/>
                  <a:pt x="292179" y="371475"/>
                  <a:pt x="300038" y="371475"/>
                </a:cubicBezTo>
                <a:lnTo>
                  <a:pt x="328613" y="371475"/>
                </a:lnTo>
                <a:cubicBezTo>
                  <a:pt x="336471" y="371475"/>
                  <a:pt x="342900" y="365046"/>
                  <a:pt x="342900" y="357188"/>
                </a:cubicBezTo>
                <a:lnTo>
                  <a:pt x="342900" y="328613"/>
                </a:lnTo>
                <a:cubicBezTo>
                  <a:pt x="342900" y="320754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20754"/>
                  <a:pt x="285750" y="3286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4064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44196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顺应时序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894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26924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67400" y="307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613400" y="4064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44196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利用地财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978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9194800" y="2692400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18650" y="3073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1800" y="40640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94800" y="44196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以人为本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4000" y="50800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器物是</a:t>
            </a:r>
            <a:r>
              <a:rPr lang="en-US" sz="18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礼乐、农政、战争 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等“大事”的物化接口，“事”先于“物”。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车轮：滚动中的事理演进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09700"/>
            <a:ext cx="604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起源假说：多源路径的汇聚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70100"/>
            <a:ext cx="5537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车轮的诞生并非单一灵感，而是多种可能性在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“省力+快捷”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目标下的汇聚。早期技术储备决定了其从玩具到实车的转化节奏。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5600" y="336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2952" y="60"/>
                </a:moveTo>
                <a:cubicBezTo>
                  <a:pt x="288846" y="-417"/>
                  <a:pt x="294620" y="1845"/>
                  <a:pt x="298787" y="6013"/>
                </a:cubicBezTo>
                <a:cubicBezTo>
                  <a:pt x="302955" y="10180"/>
                  <a:pt x="305217" y="15954"/>
                  <a:pt x="304740" y="21848"/>
                </a:cubicBezTo>
                <a:cubicBezTo>
                  <a:pt x="302359" y="51197"/>
                  <a:pt x="294382" y="96976"/>
                  <a:pt x="277178" y="140732"/>
                </a:cubicBezTo>
                <a:cubicBezTo>
                  <a:pt x="276106" y="143411"/>
                  <a:pt x="273903" y="145435"/>
                  <a:pt x="271105" y="146268"/>
                </a:cubicBezTo>
                <a:lnTo>
                  <a:pt x="222945" y="160734"/>
                </a:lnTo>
                <a:cubicBezTo>
                  <a:pt x="220623" y="161449"/>
                  <a:pt x="219075" y="163532"/>
                  <a:pt x="219075" y="165973"/>
                </a:cubicBezTo>
                <a:cubicBezTo>
                  <a:pt x="219075" y="169009"/>
                  <a:pt x="221516" y="171450"/>
                  <a:pt x="224552" y="171450"/>
                </a:cubicBezTo>
                <a:lnTo>
                  <a:pt x="247531" y="171450"/>
                </a:lnTo>
                <a:cubicBezTo>
                  <a:pt x="254675" y="171450"/>
                  <a:pt x="259259" y="179070"/>
                  <a:pt x="255568" y="185202"/>
                </a:cubicBezTo>
                <a:cubicBezTo>
                  <a:pt x="253186" y="189190"/>
                  <a:pt x="250627" y="193060"/>
                  <a:pt x="248007" y="196870"/>
                </a:cubicBezTo>
                <a:cubicBezTo>
                  <a:pt x="246817" y="198596"/>
                  <a:pt x="245031" y="199846"/>
                  <a:pt x="243007" y="200501"/>
                </a:cubicBezTo>
                <a:lnTo>
                  <a:pt x="184845" y="217884"/>
                </a:lnTo>
                <a:cubicBezTo>
                  <a:pt x="182523" y="218599"/>
                  <a:pt x="180975" y="220682"/>
                  <a:pt x="180975" y="223123"/>
                </a:cubicBezTo>
                <a:cubicBezTo>
                  <a:pt x="180975" y="226159"/>
                  <a:pt x="183416" y="228600"/>
                  <a:pt x="186452" y="228600"/>
                </a:cubicBezTo>
                <a:lnTo>
                  <a:pt x="195977" y="228600"/>
                </a:lnTo>
                <a:cubicBezTo>
                  <a:pt x="204668" y="228600"/>
                  <a:pt x="208478" y="238958"/>
                  <a:pt x="201216" y="243721"/>
                </a:cubicBezTo>
                <a:cubicBezTo>
                  <a:pt x="160734" y="270510"/>
                  <a:pt x="119241" y="269498"/>
                  <a:pt x="92631" y="262354"/>
                </a:cubicBezTo>
                <a:cubicBezTo>
                  <a:pt x="85070" y="260330"/>
                  <a:pt x="78343" y="256461"/>
                  <a:pt x="72152" y="251698"/>
                </a:cubicBezTo>
                <a:lnTo>
                  <a:pt x="28575" y="295275"/>
                </a:lnTo>
                <a:cubicBezTo>
                  <a:pt x="23336" y="300514"/>
                  <a:pt x="14764" y="300514"/>
                  <a:pt x="9525" y="295275"/>
                </a:cubicBezTo>
                <a:cubicBezTo>
                  <a:pt x="4286" y="290036"/>
                  <a:pt x="4286" y="281464"/>
                  <a:pt x="9525" y="276225"/>
                </a:cubicBezTo>
                <a:lnTo>
                  <a:pt x="57150" y="228600"/>
                </a:lnTo>
                <a:lnTo>
                  <a:pt x="57448" y="228898"/>
                </a:lnTo>
                <a:cubicBezTo>
                  <a:pt x="57864" y="228124"/>
                  <a:pt x="58400" y="227409"/>
                  <a:pt x="59055" y="226755"/>
                </a:cubicBezTo>
                <a:lnTo>
                  <a:pt x="152400" y="133350"/>
                </a:lnTo>
                <a:cubicBezTo>
                  <a:pt x="157639" y="128111"/>
                  <a:pt x="157639" y="119539"/>
                  <a:pt x="152400" y="114300"/>
                </a:cubicBezTo>
                <a:cubicBezTo>
                  <a:pt x="147161" y="109061"/>
                  <a:pt x="138589" y="109061"/>
                  <a:pt x="133350" y="114300"/>
                </a:cubicBezTo>
                <a:lnTo>
                  <a:pt x="53400" y="194191"/>
                </a:lnTo>
                <a:cubicBezTo>
                  <a:pt x="48101" y="199489"/>
                  <a:pt x="39112" y="196810"/>
                  <a:pt x="38517" y="189309"/>
                </a:cubicBezTo>
                <a:cubicBezTo>
                  <a:pt x="35957" y="157639"/>
                  <a:pt x="44053" y="116026"/>
                  <a:pt x="81736" y="78343"/>
                </a:cubicBezTo>
                <a:cubicBezTo>
                  <a:pt x="135969" y="24110"/>
                  <a:pt x="233065" y="4108"/>
                  <a:pt x="282892" y="6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655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仿生说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6703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见飞蓬旋转，启发了轮子的概念。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5600" y="412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2576" y="19110"/>
                </a:moveTo>
                <a:cubicBezTo>
                  <a:pt x="135553" y="29170"/>
                  <a:pt x="129838" y="39826"/>
                  <a:pt x="119777" y="42803"/>
                </a:cubicBezTo>
                <a:cubicBezTo>
                  <a:pt x="72569" y="56852"/>
                  <a:pt x="38160" y="100608"/>
                  <a:pt x="38160" y="152400"/>
                </a:cubicBezTo>
                <a:cubicBezTo>
                  <a:pt x="38160" y="215503"/>
                  <a:pt x="89356" y="266700"/>
                  <a:pt x="152460" y="266700"/>
                </a:cubicBezTo>
                <a:cubicBezTo>
                  <a:pt x="215563" y="266700"/>
                  <a:pt x="266760" y="215503"/>
                  <a:pt x="266760" y="152400"/>
                </a:cubicBezTo>
                <a:cubicBezTo>
                  <a:pt x="266760" y="100667"/>
                  <a:pt x="232350" y="56912"/>
                  <a:pt x="185142" y="42803"/>
                </a:cubicBezTo>
                <a:cubicBezTo>
                  <a:pt x="175081" y="39826"/>
                  <a:pt x="169307" y="29170"/>
                  <a:pt x="172343" y="19110"/>
                </a:cubicBezTo>
                <a:cubicBezTo>
                  <a:pt x="175379" y="9049"/>
                  <a:pt x="185976" y="3274"/>
                  <a:pt x="196036" y="6310"/>
                </a:cubicBezTo>
                <a:cubicBezTo>
                  <a:pt x="258901" y="25063"/>
                  <a:pt x="304800" y="83344"/>
                  <a:pt x="304800" y="152400"/>
                </a:cubicBezTo>
                <a:cubicBezTo>
                  <a:pt x="304800" y="236577"/>
                  <a:pt x="236577" y="304800"/>
                  <a:pt x="152400" y="304800"/>
                </a:cubicBezTo>
                <a:cubicBezTo>
                  <a:pt x="68223" y="304800"/>
                  <a:pt x="0" y="236577"/>
                  <a:pt x="0" y="152400"/>
                </a:cubicBezTo>
                <a:cubicBezTo>
                  <a:pt x="0" y="83344"/>
                  <a:pt x="45899" y="25063"/>
                  <a:pt x="108883" y="6310"/>
                </a:cubicBezTo>
                <a:cubicBezTo>
                  <a:pt x="118943" y="3334"/>
                  <a:pt x="129600" y="9049"/>
                  <a:pt x="132576" y="1911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275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陶轮说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4323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制陶离心力经验，提供了技术原型。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650" y="488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-19050"/>
                </a:moveTo>
                <a:cubicBezTo>
                  <a:pt x="137517" y="-19050"/>
                  <a:pt x="141506" y="-17205"/>
                  <a:pt x="144244" y="-13990"/>
                </a:cubicBezTo>
                <a:lnTo>
                  <a:pt x="225207" y="81260"/>
                </a:lnTo>
                <a:cubicBezTo>
                  <a:pt x="228838" y="85487"/>
                  <a:pt x="229612" y="91440"/>
                  <a:pt x="227290" y="96500"/>
                </a:cubicBezTo>
                <a:cubicBezTo>
                  <a:pt x="224969" y="101560"/>
                  <a:pt x="219908" y="104775"/>
                  <a:pt x="214313" y="104775"/>
                </a:cubicBezTo>
                <a:lnTo>
                  <a:pt x="199489" y="104775"/>
                </a:lnTo>
                <a:lnTo>
                  <a:pt x="244257" y="157460"/>
                </a:lnTo>
                <a:cubicBezTo>
                  <a:pt x="247888" y="161687"/>
                  <a:pt x="248662" y="167640"/>
                  <a:pt x="246340" y="172700"/>
                </a:cubicBezTo>
                <a:cubicBezTo>
                  <a:pt x="244019" y="177760"/>
                  <a:pt x="238958" y="180975"/>
                  <a:pt x="233363" y="180975"/>
                </a:cubicBezTo>
                <a:lnTo>
                  <a:pt x="210443" y="180975"/>
                </a:lnTo>
                <a:lnTo>
                  <a:pt x="263307" y="243185"/>
                </a:lnTo>
                <a:cubicBezTo>
                  <a:pt x="266938" y="247412"/>
                  <a:pt x="267712" y="253365"/>
                  <a:pt x="265390" y="258425"/>
                </a:cubicBezTo>
                <a:cubicBezTo>
                  <a:pt x="263069" y="263485"/>
                  <a:pt x="258008" y="266700"/>
                  <a:pt x="252413" y="266700"/>
                </a:cubicBezTo>
                <a:lnTo>
                  <a:pt x="152400" y="266700"/>
                </a:lnTo>
                <a:lnTo>
                  <a:pt x="152400" y="304800"/>
                </a:lnTo>
                <a:cubicBezTo>
                  <a:pt x="152400" y="315337"/>
                  <a:pt x="143887" y="323850"/>
                  <a:pt x="133350" y="323850"/>
                </a:cubicBezTo>
                <a:cubicBezTo>
                  <a:pt x="122813" y="323850"/>
                  <a:pt x="114300" y="315337"/>
                  <a:pt x="114300" y="304800"/>
                </a:cubicBezTo>
                <a:lnTo>
                  <a:pt x="114300" y="266700"/>
                </a:lnTo>
                <a:lnTo>
                  <a:pt x="14288" y="266700"/>
                </a:lnTo>
                <a:cubicBezTo>
                  <a:pt x="8692" y="266700"/>
                  <a:pt x="3631" y="263485"/>
                  <a:pt x="1310" y="258425"/>
                </a:cubicBezTo>
                <a:cubicBezTo>
                  <a:pt x="-1012" y="253365"/>
                  <a:pt x="-238" y="247412"/>
                  <a:pt x="3393" y="243185"/>
                </a:cubicBezTo>
                <a:lnTo>
                  <a:pt x="56257" y="180975"/>
                </a:lnTo>
                <a:lnTo>
                  <a:pt x="33338" y="180975"/>
                </a:lnTo>
                <a:cubicBezTo>
                  <a:pt x="27742" y="180975"/>
                  <a:pt x="22681" y="177760"/>
                  <a:pt x="20360" y="172700"/>
                </a:cubicBezTo>
                <a:cubicBezTo>
                  <a:pt x="18038" y="167640"/>
                  <a:pt x="18812" y="161687"/>
                  <a:pt x="22443" y="157460"/>
                </a:cubicBezTo>
                <a:lnTo>
                  <a:pt x="67211" y="104775"/>
                </a:lnTo>
                <a:lnTo>
                  <a:pt x="52388" y="104775"/>
                </a:lnTo>
                <a:cubicBezTo>
                  <a:pt x="46792" y="104775"/>
                  <a:pt x="41731" y="101560"/>
                  <a:pt x="39410" y="96500"/>
                </a:cubicBezTo>
                <a:cubicBezTo>
                  <a:pt x="37088" y="91440"/>
                  <a:pt x="37862" y="85487"/>
                  <a:pt x="41493" y="81260"/>
                </a:cubicBezTo>
                <a:lnTo>
                  <a:pt x="122456" y="-13990"/>
                </a:lnTo>
                <a:cubicBezTo>
                  <a:pt x="125194" y="-17205"/>
                  <a:pt x="129183" y="-19050"/>
                  <a:pt x="133350" y="-1905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89500"/>
            <a:ext cx="335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滚木说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194300"/>
            <a:ext cx="335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移动巨石的实践，验证了滚动原理。</a:t>
            </a:r>
            <a:endParaRPr lang="en-US" sz="1600" dirty="0"/>
          </a:p>
        </p:txBody>
      </p:sp>
      <p:pic>
        <p:nvPicPr>
          <p:cNvPr id="13" name="Image 0" descr="https://kimi-web-img.moonshot.cn/img/upload.wikimedia.org/bfaba2173af8f3aadcdb94f8632df6d8a619ec11.JPG"/>
          <p:cNvPicPr>
            <a:picLocks noChangeAspect="1"/>
          </p:cNvPicPr>
          <p:nvPr/>
        </p:nvPicPr>
        <p:blipFill>
          <a:blip r:embed="rId3"/>
          <a:srcRect t="15703" b="15703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065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中国古轮：七次变革的演进之路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653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从实心木到扬帆车，每一次形态跃迁都对应着社会需求的深刻变化。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4064000"/>
            <a:ext cx="11684000" cy="25400"/>
          </a:xfrm>
          <a:custGeom>
            <a:avLst/>
            <a:gdLst/>
            <a:ahLst/>
            <a:cxnLst/>
            <a:rect l="l" t="t" r="r" b="b"/>
            <a:pathLst>
              <a:path w="11684000" h="25400">
                <a:moveTo>
                  <a:pt x="0" y="0"/>
                </a:moveTo>
                <a:lnTo>
                  <a:pt x="11684000" y="0"/>
                </a:lnTo>
                <a:lnTo>
                  <a:pt x="11684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>
              <a:alpha val="5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6949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7849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实心轮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7849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新石器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56046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36946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辐式轮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36946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夏商周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5144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67944" y="43688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夹辅轮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67944" y="46228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春秋战国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94241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5141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蝶形轮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5141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63339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4239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金属轮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44239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2437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13337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13337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唐宋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01534" y="4064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165100" h="165100">
                <a:moveTo>
                  <a:pt x="82550" y="0"/>
                </a:moveTo>
                <a:lnTo>
                  <a:pt x="82550" y="0"/>
                </a:lnTo>
                <a:cubicBezTo>
                  <a:pt x="128111" y="0"/>
                  <a:pt x="165100" y="36989"/>
                  <a:pt x="165100" y="82550"/>
                </a:cubicBezTo>
                <a:lnTo>
                  <a:pt x="165100" y="82550"/>
                </a:lnTo>
                <a:cubicBezTo>
                  <a:pt x="165100" y="128111"/>
                  <a:pt x="128111" y="165100"/>
                  <a:pt x="82550" y="165100"/>
                </a:cubicBezTo>
                <a:lnTo>
                  <a:pt x="82550" y="165100"/>
                </a:lnTo>
                <a:cubicBezTo>
                  <a:pt x="36989" y="165100"/>
                  <a:pt x="0" y="128111"/>
                  <a:pt x="0" y="82550"/>
                </a:cubicBezTo>
                <a:lnTo>
                  <a:pt x="0" y="82550"/>
                </a:lnTo>
                <a:cubicBezTo>
                  <a:pt x="0" y="36989"/>
                  <a:pt x="36989" y="0"/>
                  <a:pt x="82550" y="0"/>
                </a:cubicBezTo>
                <a:close/>
              </a:path>
            </a:pathLst>
          </a:custGeom>
          <a:solidFill>
            <a:srgbClr val="262626"/>
          </a:solidFill>
          <a:ln w="20320">
            <a:solidFill>
              <a:srgbClr val="FFFFFF"/>
            </a:solidFill>
            <a:prstDash val="solid"/>
          </a:ln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82434" y="43688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扬帆车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82434" y="4622800"/>
            <a:ext cx="1041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明清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2.piqsels.com/b734efd72eb24d5ad817dcc61e1377fc857b5d53.jpg"/>
          <p:cNvPicPr>
            <a:picLocks noChangeAspect="1"/>
          </p:cNvPicPr>
          <p:nvPr/>
        </p:nvPicPr>
        <p:blipFill>
          <a:blip r:embed="rId3"/>
          <a:srcRect l="10571" r="10571"/>
          <a:stretch/>
        </p:blipFill>
        <p:spPr>
          <a:xfrm>
            <a:off x="254000" y="254000"/>
            <a:ext cx="5257800" cy="4445000"/>
          </a:xfrm>
          <a:prstGeom prst="roundRect">
            <a:avLst>
              <a:gd name="adj" fmla="val 2286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096000" y="19558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中外比较：轮径的分岔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096000" y="2616200"/>
            <a:ext cx="584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1760年后，欧洲以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蒸汽→橡胶→充气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序列追求高速载重。而中国仍保木质小轮，以适应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水田阡陌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的地理语境。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096000" y="3581400"/>
            <a:ext cx="5842000" cy="1320800"/>
          </a:xfrm>
          <a:custGeom>
            <a:avLst/>
            <a:gdLst/>
            <a:ahLst/>
            <a:cxnLst/>
            <a:rect l="l" t="t" r="r" b="b"/>
            <a:pathLst>
              <a:path w="5842000" h="13208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219204"/>
                </a:lnTo>
                <a:cubicBezTo>
                  <a:pt x="5842000" y="1275314"/>
                  <a:pt x="5796514" y="1320800"/>
                  <a:pt x="57404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6299200" y="3784600"/>
            <a:ext cx="594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99200" y="4191000"/>
            <a:ext cx="543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“合理”并非技术最优，而是系统成本最低的选择。这为“适可而止”原则提供了历史注脚。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47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趋势洞察：形式退场，方法长存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1082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磁悬浮取代滚动，共享出行淡化拥有，轮子或隐或显，但“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省力—快捷—适配</a:t>
            </a: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”的方法永续。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49316" y="3276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73116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省力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94016" y="3530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53100" y="3276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42555" y="51316"/>
                </a:moveTo>
                <a:cubicBezTo>
                  <a:pt x="428744" y="38100"/>
                  <a:pt x="408384" y="34409"/>
                  <a:pt x="390882" y="41910"/>
                </a:cubicBezTo>
                <a:cubicBezTo>
                  <a:pt x="373380" y="49411"/>
                  <a:pt x="361950" y="66675"/>
                  <a:pt x="361950" y="85725"/>
                </a:cubicBezTo>
                <a:lnTo>
                  <a:pt x="361950" y="248007"/>
                </a:lnTo>
                <a:lnTo>
                  <a:pt x="156805" y="51435"/>
                </a:lnTo>
                <a:cubicBezTo>
                  <a:pt x="142994" y="38100"/>
                  <a:pt x="122634" y="34409"/>
                  <a:pt x="105132" y="41910"/>
                </a:cubicBezTo>
                <a:cubicBezTo>
                  <a:pt x="87630" y="49411"/>
                  <a:pt x="76200" y="66675"/>
                  <a:pt x="76200" y="85725"/>
                </a:cubicBezTo>
                <a:lnTo>
                  <a:pt x="76200" y="523875"/>
                </a:lnTo>
                <a:cubicBezTo>
                  <a:pt x="76200" y="542925"/>
                  <a:pt x="87630" y="560189"/>
                  <a:pt x="105132" y="567690"/>
                </a:cubicBezTo>
                <a:cubicBezTo>
                  <a:pt x="122634" y="575191"/>
                  <a:pt x="142994" y="571500"/>
                  <a:pt x="156805" y="558284"/>
                </a:cubicBezTo>
                <a:lnTo>
                  <a:pt x="361950" y="361593"/>
                </a:lnTo>
                <a:lnTo>
                  <a:pt x="361950" y="523875"/>
                </a:lnTo>
                <a:cubicBezTo>
                  <a:pt x="361950" y="542925"/>
                  <a:pt x="373380" y="560189"/>
                  <a:pt x="390882" y="567690"/>
                </a:cubicBezTo>
                <a:cubicBezTo>
                  <a:pt x="408384" y="575191"/>
                  <a:pt x="428744" y="571500"/>
                  <a:pt x="442555" y="558284"/>
                </a:cubicBezTo>
                <a:lnTo>
                  <a:pt x="671155" y="339209"/>
                </a:lnTo>
                <a:cubicBezTo>
                  <a:pt x="680561" y="330279"/>
                  <a:pt x="685800" y="317778"/>
                  <a:pt x="685800" y="304800"/>
                </a:cubicBezTo>
                <a:cubicBezTo>
                  <a:pt x="685800" y="291822"/>
                  <a:pt x="680442" y="279440"/>
                  <a:pt x="671155" y="270391"/>
                </a:cubicBezTo>
                <a:lnTo>
                  <a:pt x="442555" y="5131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5638800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59700" y="3530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56884" y="327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405289" y="253246"/>
                </a:moveTo>
                <a:lnTo>
                  <a:pt x="310039" y="405646"/>
                </a:lnTo>
                <a:cubicBezTo>
                  <a:pt x="305038" y="413623"/>
                  <a:pt x="296466" y="418624"/>
                  <a:pt x="287060" y="419100"/>
                </a:cubicBezTo>
                <a:cubicBezTo>
                  <a:pt x="277654" y="419576"/>
                  <a:pt x="268605" y="415290"/>
                  <a:pt x="263009" y="407670"/>
                </a:cubicBezTo>
                <a:lnTo>
                  <a:pt x="205859" y="331470"/>
                </a:lnTo>
                <a:cubicBezTo>
                  <a:pt x="196334" y="318849"/>
                  <a:pt x="198953" y="300990"/>
                  <a:pt x="211574" y="291465"/>
                </a:cubicBezTo>
                <a:cubicBezTo>
                  <a:pt x="224195" y="281940"/>
                  <a:pt x="242054" y="284559"/>
                  <a:pt x="251579" y="297180"/>
                </a:cubicBezTo>
                <a:lnTo>
                  <a:pt x="283726" y="340043"/>
                </a:lnTo>
                <a:lnTo>
                  <a:pt x="356830" y="223004"/>
                </a:lnTo>
                <a:cubicBezTo>
                  <a:pt x="365165" y="209669"/>
                  <a:pt x="382786" y="205502"/>
                  <a:pt x="396240" y="213955"/>
                </a:cubicBezTo>
                <a:cubicBezTo>
                  <a:pt x="409694" y="222409"/>
                  <a:pt x="413742" y="239911"/>
                  <a:pt x="405289" y="25336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204484" y="4191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" y="51054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未来设计需回归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需求本源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，警惕为高科技而高科技的资源代价。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升水器械：提水事中的造物智慧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177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事件切入：提水灌溉的千年命题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78100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稻作文明需将低水变高田，提水灌溉是跨越千年的持续性“事件”。研究聚焦于此，旨在理解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“事在物亡”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的设计逻辑。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73500"/>
            <a:ext cx="0" cy="10668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8000" y="38735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核心观点：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433070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只要稻作结构不变，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“事”延续，“物”则随能量形态更替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。这为文化剖析奠定了问题意识。</a:t>
            </a:r>
            <a:endParaRPr lang="en-US" sz="1600" dirty="0"/>
          </a:p>
        </p:txBody>
      </p:sp>
      <p:pic>
        <p:nvPicPr>
          <p:cNvPr id="7" name="Image 0" descr="https://kimi-web-img.moonshot.cn/img/www.gov.cn/fcfe6f0b1d2fc1ac83c81f388eb259731c8adec7.jpg"/>
          <p:cNvPicPr>
            <a:picLocks noChangeAspect="1"/>
          </p:cNvPicPr>
          <p:nvPr/>
        </p:nvPicPr>
        <p:blipFill>
          <a:blip r:embed="rId3"/>
          <a:srcRect t="21487" b="21487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98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技术谱系：从人力到水能的跃迁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以王祯“人无灌溉之劳，田有常熟之利”为目标，升水器完成了三次能源革命。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09700" y="307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42900" y="38100"/>
                </a:moveTo>
                <a:cubicBezTo>
                  <a:pt x="342900" y="17026"/>
                  <a:pt x="325874" y="0"/>
                  <a:pt x="304800" y="0"/>
                </a:cubicBezTo>
                <a:cubicBezTo>
                  <a:pt x="283726" y="0"/>
                  <a:pt x="266700" y="17026"/>
                  <a:pt x="266700" y="38100"/>
                </a:cubicBezTo>
                <a:lnTo>
                  <a:pt x="266700" y="285750"/>
                </a:lnTo>
                <a:cubicBezTo>
                  <a:pt x="266700" y="296228"/>
                  <a:pt x="258128" y="304800"/>
                  <a:pt x="247650" y="304800"/>
                </a:cubicBezTo>
                <a:cubicBezTo>
                  <a:pt x="237173" y="304800"/>
                  <a:pt x="228600" y="296228"/>
                  <a:pt x="228600" y="285750"/>
                </a:cubicBezTo>
                <a:lnTo>
                  <a:pt x="228600" y="76200"/>
                </a:lnTo>
                <a:cubicBezTo>
                  <a:pt x="228600" y="55126"/>
                  <a:pt x="211574" y="38100"/>
                  <a:pt x="190500" y="38100"/>
                </a:cubicBezTo>
                <a:cubicBezTo>
                  <a:pt x="169426" y="38100"/>
                  <a:pt x="152400" y="55126"/>
                  <a:pt x="152400" y="76200"/>
                </a:cubicBezTo>
                <a:lnTo>
                  <a:pt x="152400" y="400050"/>
                </a:lnTo>
                <a:cubicBezTo>
                  <a:pt x="152400" y="401836"/>
                  <a:pt x="152400" y="403741"/>
                  <a:pt x="152519" y="405527"/>
                </a:cubicBezTo>
                <a:lnTo>
                  <a:pt x="80486" y="336947"/>
                </a:lnTo>
                <a:cubicBezTo>
                  <a:pt x="61436" y="318849"/>
                  <a:pt x="31313" y="319564"/>
                  <a:pt x="13097" y="338614"/>
                </a:cubicBezTo>
                <a:cubicBezTo>
                  <a:pt x="-5120" y="357664"/>
                  <a:pt x="-4286" y="387787"/>
                  <a:pt x="14764" y="406003"/>
                </a:cubicBezTo>
                <a:lnTo>
                  <a:pt x="148590" y="533400"/>
                </a:lnTo>
                <a:cubicBezTo>
                  <a:pt x="199906" y="582335"/>
                  <a:pt x="268129" y="609600"/>
                  <a:pt x="339090" y="609600"/>
                </a:cubicBezTo>
                <a:lnTo>
                  <a:pt x="361950" y="609600"/>
                </a:lnTo>
                <a:cubicBezTo>
                  <a:pt x="477679" y="609600"/>
                  <a:pt x="571500" y="515779"/>
                  <a:pt x="571500" y="400050"/>
                </a:cubicBezTo>
                <a:lnTo>
                  <a:pt x="571500" y="152400"/>
                </a:lnTo>
                <a:cubicBezTo>
                  <a:pt x="571500" y="131326"/>
                  <a:pt x="554474" y="114300"/>
                  <a:pt x="533400" y="114300"/>
                </a:cubicBezTo>
                <a:cubicBezTo>
                  <a:pt x="512326" y="114300"/>
                  <a:pt x="495300" y="131326"/>
                  <a:pt x="495300" y="152400"/>
                </a:cubicBezTo>
                <a:lnTo>
                  <a:pt x="495300" y="285750"/>
                </a:lnTo>
                <a:cubicBezTo>
                  <a:pt x="495300" y="296228"/>
                  <a:pt x="486728" y="304800"/>
                  <a:pt x="476250" y="304800"/>
                </a:cubicBezTo>
                <a:cubicBezTo>
                  <a:pt x="465773" y="304800"/>
                  <a:pt x="457200" y="296228"/>
                  <a:pt x="457200" y="285750"/>
                </a:cubicBezTo>
                <a:lnTo>
                  <a:pt x="457200" y="76200"/>
                </a:lnTo>
                <a:cubicBezTo>
                  <a:pt x="457200" y="55126"/>
                  <a:pt x="440174" y="38100"/>
                  <a:pt x="419100" y="38100"/>
                </a:cubicBezTo>
                <a:cubicBezTo>
                  <a:pt x="398026" y="38100"/>
                  <a:pt x="381000" y="55126"/>
                  <a:pt x="381000" y="76200"/>
                </a:cubicBezTo>
                <a:lnTo>
                  <a:pt x="381000" y="285750"/>
                </a:lnTo>
                <a:cubicBezTo>
                  <a:pt x="381000" y="296228"/>
                  <a:pt x="372428" y="304800"/>
                  <a:pt x="361950" y="304800"/>
                </a:cubicBezTo>
                <a:cubicBezTo>
                  <a:pt x="351472" y="304800"/>
                  <a:pt x="342900" y="296228"/>
                  <a:pt x="342900" y="285750"/>
                </a:cubicBezTo>
                <a:lnTo>
                  <a:pt x="342900" y="3810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4089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桔槔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4394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人力杠杆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75000" y="3683000"/>
            <a:ext cx="1460500" cy="50800"/>
          </a:xfrm>
          <a:custGeom>
            <a:avLst/>
            <a:gdLst/>
            <a:ahLst/>
            <a:cxnLst/>
            <a:rect l="l" t="t" r="r" b="b"/>
            <a:pathLst>
              <a:path w="1460500" h="50800">
                <a:moveTo>
                  <a:pt x="0" y="0"/>
                </a:moveTo>
                <a:lnTo>
                  <a:pt x="1460500" y="0"/>
                </a:lnTo>
                <a:lnTo>
                  <a:pt x="1460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2626"/>
              </a:gs>
              <a:gs pos="100000">
                <a:srgbClr val="8C8C8C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5753100" y="3073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533400" y="283488"/>
                </a:moveTo>
                <a:lnTo>
                  <a:pt x="533400" y="190500"/>
                </a:lnTo>
                <a:lnTo>
                  <a:pt x="552450" y="190500"/>
                </a:lnTo>
                <a:lnTo>
                  <a:pt x="564118" y="213836"/>
                </a:lnTo>
                <a:cubicBezTo>
                  <a:pt x="579001" y="243721"/>
                  <a:pt x="614363" y="257175"/>
                  <a:pt x="645438" y="244793"/>
                </a:cubicBezTo>
                <a:cubicBezTo>
                  <a:pt x="669846" y="235029"/>
                  <a:pt x="685800" y="211455"/>
                  <a:pt x="685800" y="185142"/>
                </a:cubicBezTo>
                <a:lnTo>
                  <a:pt x="685800" y="95250"/>
                </a:lnTo>
                <a:cubicBezTo>
                  <a:pt x="685800" y="72509"/>
                  <a:pt x="675799" y="52030"/>
                  <a:pt x="659963" y="38100"/>
                </a:cubicBezTo>
                <a:lnTo>
                  <a:pt x="666750" y="38100"/>
                </a:lnTo>
                <a:cubicBezTo>
                  <a:pt x="677228" y="38100"/>
                  <a:pt x="685800" y="29527"/>
                  <a:pt x="685800" y="19050"/>
                </a:cubicBezTo>
                <a:cubicBezTo>
                  <a:pt x="685800" y="8573"/>
                  <a:pt x="677228" y="0"/>
                  <a:pt x="666750" y="0"/>
                </a:cubicBezTo>
                <a:lnTo>
                  <a:pt x="533400" y="0"/>
                </a:lnTo>
                <a:cubicBezTo>
                  <a:pt x="449223" y="0"/>
                  <a:pt x="381000" y="68223"/>
                  <a:pt x="381000" y="152400"/>
                </a:cubicBezTo>
                <a:lnTo>
                  <a:pt x="177165" y="152400"/>
                </a:lnTo>
                <a:cubicBezTo>
                  <a:pt x="140613" y="152400"/>
                  <a:pt x="108585" y="171807"/>
                  <a:pt x="90845" y="200978"/>
                </a:cubicBezTo>
                <a:cubicBezTo>
                  <a:pt x="39529" y="207764"/>
                  <a:pt x="0" y="251698"/>
                  <a:pt x="0" y="304800"/>
                </a:cubicBezTo>
                <a:lnTo>
                  <a:pt x="0" y="371475"/>
                </a:lnTo>
                <a:cubicBezTo>
                  <a:pt x="0" y="387310"/>
                  <a:pt x="12740" y="400050"/>
                  <a:pt x="28575" y="400050"/>
                </a:cubicBezTo>
                <a:cubicBezTo>
                  <a:pt x="44410" y="400050"/>
                  <a:pt x="57150" y="387310"/>
                  <a:pt x="57150" y="371475"/>
                </a:cubicBezTo>
                <a:lnTo>
                  <a:pt x="57150" y="304800"/>
                </a:lnTo>
                <a:cubicBezTo>
                  <a:pt x="57150" y="288846"/>
                  <a:pt x="65008" y="274796"/>
                  <a:pt x="77033" y="266105"/>
                </a:cubicBezTo>
                <a:cubicBezTo>
                  <a:pt x="78938" y="281583"/>
                  <a:pt x="84534" y="296347"/>
                  <a:pt x="93226" y="309443"/>
                </a:cubicBezTo>
                <a:lnTo>
                  <a:pt x="126802" y="359926"/>
                </a:lnTo>
                <a:cubicBezTo>
                  <a:pt x="136684" y="374690"/>
                  <a:pt x="134422" y="394097"/>
                  <a:pt x="125373" y="409456"/>
                </a:cubicBezTo>
                <a:cubicBezTo>
                  <a:pt x="105728" y="442793"/>
                  <a:pt x="100846" y="483513"/>
                  <a:pt x="113467" y="521256"/>
                </a:cubicBezTo>
                <a:lnTo>
                  <a:pt x="134303" y="583644"/>
                </a:lnTo>
                <a:cubicBezTo>
                  <a:pt x="139541" y="599242"/>
                  <a:pt x="154067" y="609719"/>
                  <a:pt x="170497" y="609719"/>
                </a:cubicBezTo>
                <a:lnTo>
                  <a:pt x="210622" y="609719"/>
                </a:lnTo>
                <a:cubicBezTo>
                  <a:pt x="236577" y="609719"/>
                  <a:pt x="255032" y="584240"/>
                  <a:pt x="246817" y="559594"/>
                </a:cubicBezTo>
                <a:lnTo>
                  <a:pt x="222052" y="485180"/>
                </a:lnTo>
                <a:cubicBezTo>
                  <a:pt x="219551" y="477560"/>
                  <a:pt x="221456" y="469225"/>
                  <a:pt x="227171" y="463510"/>
                </a:cubicBezTo>
                <a:lnTo>
                  <a:pt x="242292" y="448389"/>
                </a:lnTo>
                <a:cubicBezTo>
                  <a:pt x="258008" y="432673"/>
                  <a:pt x="266819" y="411361"/>
                  <a:pt x="266819" y="389215"/>
                </a:cubicBezTo>
                <a:cubicBezTo>
                  <a:pt x="266819" y="386477"/>
                  <a:pt x="266700" y="383738"/>
                  <a:pt x="266462" y="381000"/>
                </a:cubicBezTo>
                <a:lnTo>
                  <a:pt x="366474" y="409575"/>
                </a:lnTo>
                <a:cubicBezTo>
                  <a:pt x="371356" y="411004"/>
                  <a:pt x="376237" y="412075"/>
                  <a:pt x="381119" y="412909"/>
                </a:cubicBezTo>
                <a:lnTo>
                  <a:pt x="381000" y="571500"/>
                </a:lnTo>
                <a:cubicBezTo>
                  <a:pt x="381000" y="592574"/>
                  <a:pt x="398026" y="609600"/>
                  <a:pt x="419100" y="609600"/>
                </a:cubicBezTo>
                <a:lnTo>
                  <a:pt x="457200" y="609600"/>
                </a:lnTo>
                <a:cubicBezTo>
                  <a:pt x="478274" y="609600"/>
                  <a:pt x="495300" y="592574"/>
                  <a:pt x="495300" y="571500"/>
                </a:cubicBezTo>
                <a:lnTo>
                  <a:pt x="495300" y="375880"/>
                </a:lnTo>
                <a:cubicBezTo>
                  <a:pt x="518160" y="353020"/>
                  <a:pt x="532805" y="321469"/>
                  <a:pt x="533400" y="285750"/>
                </a:cubicBezTo>
                <a:lnTo>
                  <a:pt x="533400" y="285750"/>
                </a:lnTo>
                <a:lnTo>
                  <a:pt x="533400" y="283488"/>
                </a:lnTo>
                <a:close/>
                <a:moveTo>
                  <a:pt x="590550" y="76200"/>
                </a:moveTo>
                <a:cubicBezTo>
                  <a:pt x="601064" y="76200"/>
                  <a:pt x="609600" y="84736"/>
                  <a:pt x="609600" y="95250"/>
                </a:cubicBezTo>
                <a:cubicBezTo>
                  <a:pt x="609600" y="105764"/>
                  <a:pt x="601064" y="114300"/>
                  <a:pt x="590550" y="114300"/>
                </a:cubicBezTo>
                <a:cubicBezTo>
                  <a:pt x="580036" y="114300"/>
                  <a:pt x="571500" y="105764"/>
                  <a:pt x="571500" y="95250"/>
                </a:cubicBezTo>
                <a:cubicBezTo>
                  <a:pt x="571500" y="84736"/>
                  <a:pt x="580036" y="76200"/>
                  <a:pt x="590550" y="7620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5638800" y="4089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翻车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4394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畜力驱动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56500" y="3683000"/>
            <a:ext cx="1460500" cy="50800"/>
          </a:xfrm>
          <a:custGeom>
            <a:avLst/>
            <a:gdLst/>
            <a:ahLst/>
            <a:cxnLst/>
            <a:rect l="l" t="t" r="r" b="b"/>
            <a:pathLst>
              <a:path w="1460500" h="50800">
                <a:moveTo>
                  <a:pt x="0" y="0"/>
                </a:moveTo>
                <a:lnTo>
                  <a:pt x="1460500" y="0"/>
                </a:lnTo>
                <a:lnTo>
                  <a:pt x="1460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8C8C"/>
              </a:gs>
              <a:gs pos="100000">
                <a:srgbClr val="FFFFFF"/>
              </a:gs>
            </a:gsLst>
            <a:lin ang="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10172700" y="307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88871" y="147757"/>
                </a:moveTo>
                <a:cubicBezTo>
                  <a:pt x="513517" y="166330"/>
                  <a:pt x="543639" y="184309"/>
                  <a:pt x="577215" y="188833"/>
                </a:cubicBezTo>
                <a:cubicBezTo>
                  <a:pt x="592812" y="190976"/>
                  <a:pt x="607219" y="179903"/>
                  <a:pt x="609362" y="164306"/>
                </a:cubicBezTo>
                <a:cubicBezTo>
                  <a:pt x="611505" y="148709"/>
                  <a:pt x="600432" y="134303"/>
                  <a:pt x="584835" y="132159"/>
                </a:cubicBezTo>
                <a:cubicBezTo>
                  <a:pt x="565904" y="129659"/>
                  <a:pt x="545306" y="118705"/>
                  <a:pt x="523280" y="102156"/>
                </a:cubicBezTo>
                <a:cubicBezTo>
                  <a:pt x="477560" y="67628"/>
                  <a:pt x="415528" y="67628"/>
                  <a:pt x="369689" y="102156"/>
                </a:cubicBezTo>
                <a:cubicBezTo>
                  <a:pt x="341114" y="123706"/>
                  <a:pt x="321231" y="133469"/>
                  <a:pt x="304800" y="133469"/>
                </a:cubicBezTo>
                <a:cubicBezTo>
                  <a:pt x="288369" y="133469"/>
                  <a:pt x="268486" y="123706"/>
                  <a:pt x="239911" y="102156"/>
                </a:cubicBezTo>
                <a:cubicBezTo>
                  <a:pt x="194191" y="67628"/>
                  <a:pt x="132159" y="67628"/>
                  <a:pt x="86320" y="102156"/>
                </a:cubicBezTo>
                <a:cubicBezTo>
                  <a:pt x="64294" y="118705"/>
                  <a:pt x="43696" y="129659"/>
                  <a:pt x="24765" y="132159"/>
                </a:cubicBezTo>
                <a:cubicBezTo>
                  <a:pt x="9168" y="134303"/>
                  <a:pt x="-1905" y="148590"/>
                  <a:pt x="238" y="164306"/>
                </a:cubicBezTo>
                <a:cubicBezTo>
                  <a:pt x="2381" y="180022"/>
                  <a:pt x="16669" y="190976"/>
                  <a:pt x="32385" y="188833"/>
                </a:cubicBezTo>
                <a:cubicBezTo>
                  <a:pt x="65961" y="184309"/>
                  <a:pt x="96203" y="166330"/>
                  <a:pt x="120729" y="147757"/>
                </a:cubicBezTo>
                <a:cubicBezTo>
                  <a:pt x="146090" y="128588"/>
                  <a:pt x="180142" y="128588"/>
                  <a:pt x="205502" y="147757"/>
                </a:cubicBezTo>
                <a:cubicBezTo>
                  <a:pt x="234315" y="169545"/>
                  <a:pt x="267772" y="190500"/>
                  <a:pt x="304800" y="190500"/>
                </a:cubicBezTo>
                <a:cubicBezTo>
                  <a:pt x="341828" y="190500"/>
                  <a:pt x="375166" y="169426"/>
                  <a:pt x="404098" y="147757"/>
                </a:cubicBezTo>
                <a:cubicBezTo>
                  <a:pt x="429458" y="128588"/>
                  <a:pt x="463510" y="128588"/>
                  <a:pt x="488871" y="147757"/>
                </a:cubicBezTo>
                <a:close/>
                <a:moveTo>
                  <a:pt x="488871" y="319207"/>
                </a:moveTo>
                <a:cubicBezTo>
                  <a:pt x="513517" y="337780"/>
                  <a:pt x="543639" y="355759"/>
                  <a:pt x="577215" y="360283"/>
                </a:cubicBezTo>
                <a:cubicBezTo>
                  <a:pt x="592812" y="362426"/>
                  <a:pt x="607219" y="351353"/>
                  <a:pt x="609362" y="335756"/>
                </a:cubicBezTo>
                <a:cubicBezTo>
                  <a:pt x="611505" y="320159"/>
                  <a:pt x="600432" y="305753"/>
                  <a:pt x="584835" y="303609"/>
                </a:cubicBezTo>
                <a:cubicBezTo>
                  <a:pt x="565904" y="301109"/>
                  <a:pt x="545306" y="290155"/>
                  <a:pt x="523280" y="273606"/>
                </a:cubicBezTo>
                <a:cubicBezTo>
                  <a:pt x="477560" y="239078"/>
                  <a:pt x="415528" y="239078"/>
                  <a:pt x="369689" y="273606"/>
                </a:cubicBezTo>
                <a:cubicBezTo>
                  <a:pt x="341114" y="295156"/>
                  <a:pt x="321231" y="304919"/>
                  <a:pt x="304800" y="304919"/>
                </a:cubicBezTo>
                <a:cubicBezTo>
                  <a:pt x="288369" y="304919"/>
                  <a:pt x="268486" y="295156"/>
                  <a:pt x="239911" y="273606"/>
                </a:cubicBezTo>
                <a:cubicBezTo>
                  <a:pt x="194191" y="239078"/>
                  <a:pt x="132159" y="239078"/>
                  <a:pt x="86320" y="273606"/>
                </a:cubicBezTo>
                <a:cubicBezTo>
                  <a:pt x="64294" y="290155"/>
                  <a:pt x="43696" y="301109"/>
                  <a:pt x="24765" y="303609"/>
                </a:cubicBezTo>
                <a:cubicBezTo>
                  <a:pt x="9168" y="305633"/>
                  <a:pt x="-1905" y="320040"/>
                  <a:pt x="238" y="335756"/>
                </a:cubicBezTo>
                <a:cubicBezTo>
                  <a:pt x="2381" y="351472"/>
                  <a:pt x="16669" y="362426"/>
                  <a:pt x="32385" y="360283"/>
                </a:cubicBezTo>
                <a:cubicBezTo>
                  <a:pt x="65961" y="355759"/>
                  <a:pt x="96203" y="337780"/>
                  <a:pt x="120729" y="319207"/>
                </a:cubicBezTo>
                <a:cubicBezTo>
                  <a:pt x="146090" y="300038"/>
                  <a:pt x="180142" y="300038"/>
                  <a:pt x="205502" y="319207"/>
                </a:cubicBezTo>
                <a:cubicBezTo>
                  <a:pt x="234315" y="340995"/>
                  <a:pt x="267772" y="361950"/>
                  <a:pt x="304800" y="361950"/>
                </a:cubicBezTo>
                <a:cubicBezTo>
                  <a:pt x="341828" y="361950"/>
                  <a:pt x="375166" y="340876"/>
                  <a:pt x="404098" y="319207"/>
                </a:cubicBezTo>
                <a:cubicBezTo>
                  <a:pt x="429458" y="300038"/>
                  <a:pt x="463510" y="300038"/>
                  <a:pt x="488871" y="319207"/>
                </a:cubicBezTo>
                <a:close/>
                <a:moveTo>
                  <a:pt x="404098" y="490657"/>
                </a:moveTo>
                <a:cubicBezTo>
                  <a:pt x="429458" y="471488"/>
                  <a:pt x="463510" y="471488"/>
                  <a:pt x="488871" y="490657"/>
                </a:cubicBezTo>
                <a:cubicBezTo>
                  <a:pt x="513517" y="509230"/>
                  <a:pt x="543639" y="527209"/>
                  <a:pt x="577215" y="531733"/>
                </a:cubicBezTo>
                <a:cubicBezTo>
                  <a:pt x="592812" y="533876"/>
                  <a:pt x="607219" y="522803"/>
                  <a:pt x="609362" y="507206"/>
                </a:cubicBezTo>
                <a:cubicBezTo>
                  <a:pt x="611505" y="491609"/>
                  <a:pt x="600432" y="477203"/>
                  <a:pt x="584835" y="475059"/>
                </a:cubicBezTo>
                <a:cubicBezTo>
                  <a:pt x="565904" y="472559"/>
                  <a:pt x="545306" y="461605"/>
                  <a:pt x="523280" y="445056"/>
                </a:cubicBezTo>
                <a:cubicBezTo>
                  <a:pt x="477560" y="410528"/>
                  <a:pt x="415528" y="410528"/>
                  <a:pt x="369689" y="445056"/>
                </a:cubicBezTo>
                <a:cubicBezTo>
                  <a:pt x="341114" y="466606"/>
                  <a:pt x="321231" y="476369"/>
                  <a:pt x="304800" y="476369"/>
                </a:cubicBezTo>
                <a:cubicBezTo>
                  <a:pt x="288369" y="476369"/>
                  <a:pt x="268486" y="466606"/>
                  <a:pt x="239911" y="445056"/>
                </a:cubicBezTo>
                <a:cubicBezTo>
                  <a:pt x="194191" y="410528"/>
                  <a:pt x="132159" y="410528"/>
                  <a:pt x="86320" y="445056"/>
                </a:cubicBezTo>
                <a:cubicBezTo>
                  <a:pt x="64294" y="461605"/>
                  <a:pt x="43696" y="472559"/>
                  <a:pt x="24765" y="475059"/>
                </a:cubicBezTo>
                <a:cubicBezTo>
                  <a:pt x="9168" y="477203"/>
                  <a:pt x="-1905" y="491490"/>
                  <a:pt x="238" y="507206"/>
                </a:cubicBezTo>
                <a:cubicBezTo>
                  <a:pt x="2381" y="522922"/>
                  <a:pt x="16669" y="533876"/>
                  <a:pt x="32385" y="531733"/>
                </a:cubicBezTo>
                <a:cubicBezTo>
                  <a:pt x="65961" y="527209"/>
                  <a:pt x="96203" y="509230"/>
                  <a:pt x="120729" y="490657"/>
                </a:cubicBezTo>
                <a:cubicBezTo>
                  <a:pt x="146090" y="471488"/>
                  <a:pt x="180142" y="471488"/>
                  <a:pt x="205502" y="490657"/>
                </a:cubicBezTo>
                <a:cubicBezTo>
                  <a:pt x="234315" y="512445"/>
                  <a:pt x="267772" y="533400"/>
                  <a:pt x="304800" y="533400"/>
                </a:cubicBezTo>
                <a:cubicBezTo>
                  <a:pt x="341828" y="533400"/>
                  <a:pt x="375166" y="512326"/>
                  <a:pt x="404098" y="4906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20300" y="4089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筒车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67900" y="4394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水能自转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00" y="50546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工役俱省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”始终是评价核心，体现了实用主义的造物价值观。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hikeimg.it168.com/0798919628c88b34a3de10f81d1f814491d48e23.jpg"/>
          <p:cNvPicPr>
            <a:picLocks noChangeAspect="1"/>
          </p:cNvPicPr>
          <p:nvPr/>
        </p:nvPicPr>
        <p:blipFill>
          <a:blip r:embed="rId3"/>
          <a:srcRect l="9570" r="9570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35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文化思想：崇实黜虚与致用厚生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8956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明末实学批判空谈心学，主张“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百姓日用即道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”。升水器成为经世济民的典范，技术美学让位于社会伦理。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608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崇实黜虚：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鄙弃空谈，重视实践。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2400" y="4318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致用厚生：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为民造福，改善民生。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人本观：人为物本，物因人用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304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荀子“人能群故能胜物”被转化为设计准则，升水器始终围绕农人省力需求演化。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884964" y="2971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381744" y="11906"/>
                </a:moveTo>
                <a:cubicBezTo>
                  <a:pt x="480313" y="11906"/>
                  <a:pt x="560338" y="91931"/>
                  <a:pt x="560338" y="190500"/>
                </a:cubicBezTo>
                <a:cubicBezTo>
                  <a:pt x="560338" y="289069"/>
                  <a:pt x="480313" y="369094"/>
                  <a:pt x="381744" y="369094"/>
                </a:cubicBezTo>
                <a:cubicBezTo>
                  <a:pt x="283176" y="369094"/>
                  <a:pt x="203150" y="289069"/>
                  <a:pt x="203150" y="190500"/>
                </a:cubicBezTo>
                <a:cubicBezTo>
                  <a:pt x="203150" y="91931"/>
                  <a:pt x="283176" y="11906"/>
                  <a:pt x="381744" y="11906"/>
                </a:cubicBezTo>
                <a:close/>
                <a:moveTo>
                  <a:pt x="337393" y="452438"/>
                </a:moveTo>
                <a:lnTo>
                  <a:pt x="425797" y="452438"/>
                </a:lnTo>
                <a:lnTo>
                  <a:pt x="428030" y="452438"/>
                </a:lnTo>
                <a:cubicBezTo>
                  <a:pt x="408831" y="492323"/>
                  <a:pt x="416421" y="539055"/>
                  <a:pt x="445145" y="570756"/>
                </a:cubicBezTo>
                <a:cubicBezTo>
                  <a:pt x="415082" y="603945"/>
                  <a:pt x="408236" y="653802"/>
                  <a:pt x="431155" y="694879"/>
                </a:cubicBezTo>
                <a:lnTo>
                  <a:pt x="464641" y="755005"/>
                </a:lnTo>
                <a:cubicBezTo>
                  <a:pt x="465981" y="757386"/>
                  <a:pt x="467469" y="759768"/>
                  <a:pt x="468957" y="762000"/>
                </a:cubicBezTo>
                <a:lnTo>
                  <a:pt x="116235" y="762000"/>
                </a:lnTo>
                <a:cubicBezTo>
                  <a:pt x="91827" y="762000"/>
                  <a:pt x="72033" y="742206"/>
                  <a:pt x="72033" y="717798"/>
                </a:cubicBezTo>
                <a:cubicBezTo>
                  <a:pt x="72033" y="571202"/>
                  <a:pt x="190798" y="452437"/>
                  <a:pt x="337393" y="452437"/>
                </a:cubicBezTo>
                <a:close/>
                <a:moveTo>
                  <a:pt x="643830" y="368498"/>
                </a:moveTo>
                <a:cubicBezTo>
                  <a:pt x="643830" y="348704"/>
                  <a:pt x="659755" y="332780"/>
                  <a:pt x="679549" y="332780"/>
                </a:cubicBezTo>
                <a:lnTo>
                  <a:pt x="750987" y="332780"/>
                </a:lnTo>
                <a:cubicBezTo>
                  <a:pt x="770781" y="332780"/>
                  <a:pt x="786705" y="348704"/>
                  <a:pt x="786705" y="368498"/>
                </a:cubicBezTo>
                <a:lnTo>
                  <a:pt x="786705" y="377577"/>
                </a:lnTo>
                <a:cubicBezTo>
                  <a:pt x="786705" y="405705"/>
                  <a:pt x="822573" y="426393"/>
                  <a:pt x="846981" y="412403"/>
                </a:cubicBezTo>
                <a:lnTo>
                  <a:pt x="854422" y="408087"/>
                </a:lnTo>
                <a:cubicBezTo>
                  <a:pt x="871686" y="398115"/>
                  <a:pt x="893862" y="404217"/>
                  <a:pt x="903536" y="421630"/>
                </a:cubicBezTo>
                <a:lnTo>
                  <a:pt x="936873" y="481459"/>
                </a:lnTo>
                <a:cubicBezTo>
                  <a:pt x="946100" y="498128"/>
                  <a:pt x="940743" y="518964"/>
                  <a:pt x="924669" y="529084"/>
                </a:cubicBezTo>
                <a:lnTo>
                  <a:pt x="917674" y="533400"/>
                </a:lnTo>
                <a:cubicBezTo>
                  <a:pt x="893564" y="548432"/>
                  <a:pt x="893564" y="592782"/>
                  <a:pt x="917674" y="607963"/>
                </a:cubicBezTo>
                <a:lnTo>
                  <a:pt x="924520" y="612279"/>
                </a:lnTo>
                <a:cubicBezTo>
                  <a:pt x="940594" y="622399"/>
                  <a:pt x="946100" y="643235"/>
                  <a:pt x="936873" y="659904"/>
                </a:cubicBezTo>
                <a:lnTo>
                  <a:pt x="903387" y="720030"/>
                </a:lnTo>
                <a:cubicBezTo>
                  <a:pt x="893713" y="737443"/>
                  <a:pt x="871538" y="743694"/>
                  <a:pt x="854273" y="733574"/>
                </a:cubicBezTo>
                <a:lnTo>
                  <a:pt x="846981" y="729258"/>
                </a:lnTo>
                <a:cubicBezTo>
                  <a:pt x="822573" y="715119"/>
                  <a:pt x="786705" y="735955"/>
                  <a:pt x="786705" y="764084"/>
                </a:cubicBezTo>
                <a:lnTo>
                  <a:pt x="786705" y="773162"/>
                </a:lnTo>
                <a:cubicBezTo>
                  <a:pt x="786705" y="792956"/>
                  <a:pt x="770781" y="808881"/>
                  <a:pt x="750987" y="808881"/>
                </a:cubicBezTo>
                <a:lnTo>
                  <a:pt x="679549" y="808881"/>
                </a:lnTo>
                <a:cubicBezTo>
                  <a:pt x="659755" y="808881"/>
                  <a:pt x="643830" y="792956"/>
                  <a:pt x="643830" y="773162"/>
                </a:cubicBezTo>
                <a:lnTo>
                  <a:pt x="643830" y="764381"/>
                </a:lnTo>
                <a:cubicBezTo>
                  <a:pt x="643830" y="736104"/>
                  <a:pt x="607814" y="715268"/>
                  <a:pt x="583257" y="729407"/>
                </a:cubicBezTo>
                <a:lnTo>
                  <a:pt x="576114" y="733574"/>
                </a:lnTo>
                <a:cubicBezTo>
                  <a:pt x="558850" y="743545"/>
                  <a:pt x="536823" y="737443"/>
                  <a:pt x="527000" y="720030"/>
                </a:cubicBezTo>
                <a:lnTo>
                  <a:pt x="493365" y="659904"/>
                </a:lnTo>
                <a:cubicBezTo>
                  <a:pt x="484138" y="643235"/>
                  <a:pt x="489496" y="622250"/>
                  <a:pt x="505718" y="612130"/>
                </a:cubicBezTo>
                <a:lnTo>
                  <a:pt x="512266" y="608112"/>
                </a:lnTo>
                <a:cubicBezTo>
                  <a:pt x="536525" y="593080"/>
                  <a:pt x="536525" y="548432"/>
                  <a:pt x="512266" y="533400"/>
                </a:cubicBezTo>
                <a:lnTo>
                  <a:pt x="505569" y="529233"/>
                </a:lnTo>
                <a:cubicBezTo>
                  <a:pt x="489347" y="519113"/>
                  <a:pt x="483989" y="498128"/>
                  <a:pt x="493216" y="481459"/>
                </a:cubicBezTo>
                <a:lnTo>
                  <a:pt x="526703" y="421481"/>
                </a:lnTo>
                <a:cubicBezTo>
                  <a:pt x="536377" y="404068"/>
                  <a:pt x="558552" y="397966"/>
                  <a:pt x="575667" y="407938"/>
                </a:cubicBezTo>
                <a:lnTo>
                  <a:pt x="582811" y="412105"/>
                </a:lnTo>
                <a:cubicBezTo>
                  <a:pt x="607368" y="426244"/>
                  <a:pt x="643384" y="405408"/>
                  <a:pt x="643384" y="377130"/>
                </a:cubicBezTo>
                <a:lnTo>
                  <a:pt x="643384" y="368350"/>
                </a:lnTo>
                <a:close/>
                <a:moveTo>
                  <a:pt x="792510" y="571202"/>
                </a:moveTo>
                <a:cubicBezTo>
                  <a:pt x="792510" y="528489"/>
                  <a:pt x="757832" y="493812"/>
                  <a:pt x="715119" y="493812"/>
                </a:cubicBezTo>
                <a:cubicBezTo>
                  <a:pt x="672406" y="493812"/>
                  <a:pt x="637729" y="528489"/>
                  <a:pt x="637729" y="571202"/>
                </a:cubicBezTo>
                <a:cubicBezTo>
                  <a:pt x="637729" y="613915"/>
                  <a:pt x="672406" y="648593"/>
                  <a:pt x="715119" y="648593"/>
                </a:cubicBezTo>
                <a:cubicBezTo>
                  <a:pt x="757832" y="648593"/>
                  <a:pt x="792510" y="613915"/>
                  <a:pt x="792510" y="57120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650014" y="41656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人为物本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84914" y="45212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人是设计的目的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53100" y="3403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8354378" y="29718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618976" y="313283"/>
                </a:moveTo>
                <a:cubicBezTo>
                  <a:pt x="637133" y="308372"/>
                  <a:pt x="656183" y="317004"/>
                  <a:pt x="664369" y="333821"/>
                </a:cubicBezTo>
                <a:lnTo>
                  <a:pt x="692051" y="389781"/>
                </a:lnTo>
                <a:cubicBezTo>
                  <a:pt x="707380" y="391864"/>
                  <a:pt x="722412" y="396032"/>
                  <a:pt x="736550" y="401836"/>
                </a:cubicBezTo>
                <a:lnTo>
                  <a:pt x="788640" y="367159"/>
                </a:lnTo>
                <a:cubicBezTo>
                  <a:pt x="804267" y="356741"/>
                  <a:pt x="824954" y="358825"/>
                  <a:pt x="838200" y="372070"/>
                </a:cubicBezTo>
                <a:lnTo>
                  <a:pt x="866775" y="400645"/>
                </a:lnTo>
                <a:cubicBezTo>
                  <a:pt x="880021" y="413891"/>
                  <a:pt x="882104" y="434727"/>
                  <a:pt x="871686" y="450205"/>
                </a:cubicBezTo>
                <a:lnTo>
                  <a:pt x="837009" y="502146"/>
                </a:lnTo>
                <a:cubicBezTo>
                  <a:pt x="839837" y="509141"/>
                  <a:pt x="842367" y="516434"/>
                  <a:pt x="844451" y="524024"/>
                </a:cubicBezTo>
                <a:cubicBezTo>
                  <a:pt x="846534" y="531614"/>
                  <a:pt x="847874" y="539055"/>
                  <a:pt x="848916" y="546646"/>
                </a:cubicBezTo>
                <a:lnTo>
                  <a:pt x="905024" y="574328"/>
                </a:lnTo>
                <a:cubicBezTo>
                  <a:pt x="921841" y="582662"/>
                  <a:pt x="930473" y="601712"/>
                  <a:pt x="925562" y="619720"/>
                </a:cubicBezTo>
                <a:lnTo>
                  <a:pt x="915144" y="658713"/>
                </a:lnTo>
                <a:cubicBezTo>
                  <a:pt x="910233" y="676721"/>
                  <a:pt x="893415" y="688925"/>
                  <a:pt x="874663" y="687735"/>
                </a:cubicBezTo>
                <a:lnTo>
                  <a:pt x="812155" y="683716"/>
                </a:lnTo>
                <a:cubicBezTo>
                  <a:pt x="802779" y="695771"/>
                  <a:pt x="791914" y="706934"/>
                  <a:pt x="779562" y="716459"/>
                </a:cubicBezTo>
                <a:lnTo>
                  <a:pt x="783580" y="778818"/>
                </a:lnTo>
                <a:cubicBezTo>
                  <a:pt x="784771" y="797570"/>
                  <a:pt x="772567" y="814536"/>
                  <a:pt x="754559" y="819299"/>
                </a:cubicBezTo>
                <a:lnTo>
                  <a:pt x="715566" y="829717"/>
                </a:lnTo>
                <a:cubicBezTo>
                  <a:pt x="697409" y="834628"/>
                  <a:pt x="678507" y="825996"/>
                  <a:pt x="670173" y="809179"/>
                </a:cubicBezTo>
                <a:lnTo>
                  <a:pt x="642491" y="753219"/>
                </a:lnTo>
                <a:cubicBezTo>
                  <a:pt x="627162" y="751136"/>
                  <a:pt x="612130" y="746968"/>
                  <a:pt x="597991" y="741164"/>
                </a:cubicBezTo>
                <a:lnTo>
                  <a:pt x="545902" y="775841"/>
                </a:lnTo>
                <a:cubicBezTo>
                  <a:pt x="530275" y="786259"/>
                  <a:pt x="509588" y="784175"/>
                  <a:pt x="496342" y="770930"/>
                </a:cubicBezTo>
                <a:lnTo>
                  <a:pt x="467767" y="742355"/>
                </a:lnTo>
                <a:cubicBezTo>
                  <a:pt x="454521" y="729109"/>
                  <a:pt x="452438" y="708422"/>
                  <a:pt x="462855" y="692795"/>
                </a:cubicBezTo>
                <a:lnTo>
                  <a:pt x="497532" y="640705"/>
                </a:lnTo>
                <a:cubicBezTo>
                  <a:pt x="494705" y="633710"/>
                  <a:pt x="492175" y="626418"/>
                  <a:pt x="490091" y="618827"/>
                </a:cubicBezTo>
                <a:cubicBezTo>
                  <a:pt x="488007" y="611237"/>
                  <a:pt x="486668" y="603647"/>
                  <a:pt x="485626" y="596205"/>
                </a:cubicBezTo>
                <a:lnTo>
                  <a:pt x="429518" y="568523"/>
                </a:lnTo>
                <a:cubicBezTo>
                  <a:pt x="412700" y="560189"/>
                  <a:pt x="404217" y="541139"/>
                  <a:pt x="408980" y="523131"/>
                </a:cubicBezTo>
                <a:lnTo>
                  <a:pt x="419398" y="484138"/>
                </a:lnTo>
                <a:cubicBezTo>
                  <a:pt x="424309" y="466130"/>
                  <a:pt x="441127" y="453926"/>
                  <a:pt x="459879" y="455116"/>
                </a:cubicBezTo>
                <a:lnTo>
                  <a:pt x="522238" y="459135"/>
                </a:lnTo>
                <a:cubicBezTo>
                  <a:pt x="531614" y="447080"/>
                  <a:pt x="542479" y="435918"/>
                  <a:pt x="554831" y="426393"/>
                </a:cubicBezTo>
                <a:lnTo>
                  <a:pt x="550813" y="364182"/>
                </a:lnTo>
                <a:cubicBezTo>
                  <a:pt x="549622" y="345430"/>
                  <a:pt x="561826" y="328464"/>
                  <a:pt x="579834" y="323701"/>
                </a:cubicBezTo>
                <a:lnTo>
                  <a:pt x="618827" y="313283"/>
                </a:lnTo>
                <a:close/>
                <a:moveTo>
                  <a:pt x="667345" y="506016"/>
                </a:moveTo>
                <a:cubicBezTo>
                  <a:pt x="631204" y="506057"/>
                  <a:pt x="601894" y="535433"/>
                  <a:pt x="601935" y="571574"/>
                </a:cubicBezTo>
                <a:cubicBezTo>
                  <a:pt x="601976" y="607716"/>
                  <a:pt x="631352" y="637025"/>
                  <a:pt x="667494" y="636984"/>
                </a:cubicBezTo>
                <a:cubicBezTo>
                  <a:pt x="703636" y="636943"/>
                  <a:pt x="732945" y="607567"/>
                  <a:pt x="732904" y="571426"/>
                </a:cubicBezTo>
                <a:cubicBezTo>
                  <a:pt x="732863" y="535284"/>
                  <a:pt x="703487" y="505975"/>
                  <a:pt x="667345" y="506016"/>
                </a:cubicBezTo>
                <a:close/>
                <a:moveTo>
                  <a:pt x="334714" y="-67717"/>
                </a:moveTo>
                <a:lnTo>
                  <a:pt x="373707" y="-57299"/>
                </a:lnTo>
                <a:cubicBezTo>
                  <a:pt x="391716" y="-52388"/>
                  <a:pt x="403920" y="-35421"/>
                  <a:pt x="402729" y="-16818"/>
                </a:cubicBezTo>
                <a:lnTo>
                  <a:pt x="398711" y="45393"/>
                </a:lnTo>
                <a:cubicBezTo>
                  <a:pt x="411063" y="54918"/>
                  <a:pt x="421928" y="65931"/>
                  <a:pt x="431304" y="78135"/>
                </a:cubicBezTo>
                <a:lnTo>
                  <a:pt x="493812" y="74116"/>
                </a:lnTo>
                <a:cubicBezTo>
                  <a:pt x="512415" y="72926"/>
                  <a:pt x="529382" y="85130"/>
                  <a:pt x="534293" y="103138"/>
                </a:cubicBezTo>
                <a:lnTo>
                  <a:pt x="544711" y="142131"/>
                </a:lnTo>
                <a:cubicBezTo>
                  <a:pt x="549473" y="160139"/>
                  <a:pt x="540990" y="179189"/>
                  <a:pt x="524173" y="187523"/>
                </a:cubicBezTo>
                <a:lnTo>
                  <a:pt x="468064" y="215205"/>
                </a:lnTo>
                <a:cubicBezTo>
                  <a:pt x="467023" y="222796"/>
                  <a:pt x="465534" y="230386"/>
                  <a:pt x="463600" y="237827"/>
                </a:cubicBezTo>
                <a:cubicBezTo>
                  <a:pt x="461665" y="245269"/>
                  <a:pt x="458986" y="252710"/>
                  <a:pt x="456158" y="259705"/>
                </a:cubicBezTo>
                <a:lnTo>
                  <a:pt x="490835" y="311795"/>
                </a:lnTo>
                <a:cubicBezTo>
                  <a:pt x="501253" y="327422"/>
                  <a:pt x="499170" y="348109"/>
                  <a:pt x="485924" y="361355"/>
                </a:cubicBezTo>
                <a:lnTo>
                  <a:pt x="457349" y="389930"/>
                </a:lnTo>
                <a:cubicBezTo>
                  <a:pt x="444103" y="403175"/>
                  <a:pt x="423416" y="405259"/>
                  <a:pt x="407789" y="394841"/>
                </a:cubicBezTo>
                <a:lnTo>
                  <a:pt x="355699" y="360164"/>
                </a:lnTo>
                <a:cubicBezTo>
                  <a:pt x="341561" y="365968"/>
                  <a:pt x="326529" y="370136"/>
                  <a:pt x="311200" y="372219"/>
                </a:cubicBezTo>
                <a:lnTo>
                  <a:pt x="283518" y="428179"/>
                </a:lnTo>
                <a:cubicBezTo>
                  <a:pt x="275183" y="444996"/>
                  <a:pt x="256133" y="453479"/>
                  <a:pt x="238125" y="448717"/>
                </a:cubicBezTo>
                <a:lnTo>
                  <a:pt x="199132" y="438299"/>
                </a:lnTo>
                <a:cubicBezTo>
                  <a:pt x="180975" y="433388"/>
                  <a:pt x="168920" y="416421"/>
                  <a:pt x="170111" y="397818"/>
                </a:cubicBezTo>
                <a:lnTo>
                  <a:pt x="174129" y="335459"/>
                </a:lnTo>
                <a:cubicBezTo>
                  <a:pt x="161776" y="325934"/>
                  <a:pt x="150912" y="314920"/>
                  <a:pt x="141536" y="302716"/>
                </a:cubicBezTo>
                <a:lnTo>
                  <a:pt x="79028" y="306735"/>
                </a:lnTo>
                <a:cubicBezTo>
                  <a:pt x="60424" y="307925"/>
                  <a:pt x="43458" y="295721"/>
                  <a:pt x="38546" y="277713"/>
                </a:cubicBezTo>
                <a:lnTo>
                  <a:pt x="28129" y="238720"/>
                </a:lnTo>
                <a:cubicBezTo>
                  <a:pt x="23366" y="220712"/>
                  <a:pt x="31849" y="201662"/>
                  <a:pt x="48667" y="193328"/>
                </a:cubicBezTo>
                <a:lnTo>
                  <a:pt x="104775" y="165646"/>
                </a:lnTo>
                <a:cubicBezTo>
                  <a:pt x="105817" y="158055"/>
                  <a:pt x="107305" y="150614"/>
                  <a:pt x="109240" y="143024"/>
                </a:cubicBezTo>
                <a:cubicBezTo>
                  <a:pt x="111323" y="135434"/>
                  <a:pt x="113705" y="128141"/>
                  <a:pt x="116681" y="121146"/>
                </a:cubicBezTo>
                <a:lnTo>
                  <a:pt x="82004" y="69205"/>
                </a:lnTo>
                <a:cubicBezTo>
                  <a:pt x="71586" y="53578"/>
                  <a:pt x="73670" y="32891"/>
                  <a:pt x="86916" y="19645"/>
                </a:cubicBezTo>
                <a:lnTo>
                  <a:pt x="115491" y="-8930"/>
                </a:lnTo>
                <a:cubicBezTo>
                  <a:pt x="128736" y="-22175"/>
                  <a:pt x="149423" y="-24259"/>
                  <a:pt x="165050" y="-13841"/>
                </a:cubicBezTo>
                <a:lnTo>
                  <a:pt x="217140" y="20836"/>
                </a:lnTo>
                <a:cubicBezTo>
                  <a:pt x="231279" y="15032"/>
                  <a:pt x="246311" y="10864"/>
                  <a:pt x="261640" y="8781"/>
                </a:cubicBezTo>
                <a:lnTo>
                  <a:pt x="289322" y="-47179"/>
                </a:lnTo>
                <a:cubicBezTo>
                  <a:pt x="297656" y="-63996"/>
                  <a:pt x="316557" y="-72479"/>
                  <a:pt x="334714" y="-67717"/>
                </a:cubicBezTo>
                <a:close/>
                <a:moveTo>
                  <a:pt x="286345" y="125016"/>
                </a:moveTo>
                <a:cubicBezTo>
                  <a:pt x="250204" y="125016"/>
                  <a:pt x="220861" y="154358"/>
                  <a:pt x="220861" y="190500"/>
                </a:cubicBezTo>
                <a:cubicBezTo>
                  <a:pt x="220861" y="226642"/>
                  <a:pt x="250204" y="255984"/>
                  <a:pt x="286345" y="255984"/>
                </a:cubicBezTo>
                <a:cubicBezTo>
                  <a:pt x="322487" y="255984"/>
                  <a:pt x="351830" y="226642"/>
                  <a:pt x="351830" y="190500"/>
                </a:cubicBezTo>
                <a:cubicBezTo>
                  <a:pt x="351830" y="154358"/>
                  <a:pt x="322487" y="125016"/>
                  <a:pt x="286345" y="125016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8119428" y="41656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物因人用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32128" y="45212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器物是手段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" y="51816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假物役机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”是让水力替人出汗，设计尺度在于人的可持续劳作。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05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在地策略：随地所宜与观物取辨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654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桔槔适浅井，翻车临深河，筒车倚急溪。地域差异决定技术选择，体现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顺应自然、因势利导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的思维。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530600"/>
            <a:ext cx="5435600" cy="1422400"/>
          </a:xfrm>
          <a:custGeom>
            <a:avLst/>
            <a:gdLst/>
            <a:ahLst/>
            <a:cxnLst/>
            <a:rect l="l" t="t" r="r" b="b"/>
            <a:pathLst>
              <a:path w="5435600" h="14224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1320798"/>
                </a:lnTo>
                <a:cubicBezTo>
                  <a:pt x="5435600" y="1376911"/>
                  <a:pt x="5390111" y="1422400"/>
                  <a:pt x="53339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733800"/>
            <a:ext cx="553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方法论意义：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40200"/>
            <a:ext cx="502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设计非强加方案，而是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发现环境允许的最佳解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，为当代地域适配设计提供方法。</a:t>
            </a:r>
            <a:endParaRPr lang="en-US" sz="1600" dirty="0"/>
          </a:p>
        </p:txBody>
      </p:sp>
      <p:pic>
        <p:nvPicPr>
          <p:cNvPr id="7" name="Image 0" descr="https://kimi-web-img.moonshot.cn/img/www.gov.cn/fcfe6f0b1d2fc1ac83c81f388eb259731c8adec7.jpg"/>
          <p:cNvPicPr>
            <a:picLocks noChangeAspect="1"/>
          </p:cNvPicPr>
          <p:nvPr/>
        </p:nvPicPr>
        <p:blipFill>
          <a:blip r:embed="rId3"/>
          <a:srcRect t="21487" b="21487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8353778" y="8164958"/>
            <a:ext cx="5375661" cy="264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22679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技术美学：器完不饰与素朴质真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681479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水车无纹样却受诗人赞颂，美在于“能移霖雨功”的实用之美。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164" y="2392679"/>
            <a:ext cx="4635500" cy="2590800"/>
          </a:xfrm>
          <a:custGeom>
            <a:avLst/>
            <a:gdLst/>
            <a:ahLst/>
            <a:cxnLst/>
            <a:rect l="l" t="t" r="r" b="b"/>
            <a:pathLst>
              <a:path w="4635500" h="2590800">
                <a:moveTo>
                  <a:pt x="101611" y="0"/>
                </a:moveTo>
                <a:lnTo>
                  <a:pt x="4533889" y="0"/>
                </a:lnTo>
                <a:cubicBezTo>
                  <a:pt x="4590007" y="0"/>
                  <a:pt x="4635500" y="45493"/>
                  <a:pt x="4635500" y="101611"/>
                </a:cubicBezTo>
                <a:lnTo>
                  <a:pt x="4635500" y="2489189"/>
                </a:lnTo>
                <a:cubicBezTo>
                  <a:pt x="4635500" y="2545307"/>
                  <a:pt x="4590007" y="2590800"/>
                  <a:pt x="45338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17684" y="2616200"/>
            <a:ext cx="473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装饰之美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7684" y="3073400"/>
            <a:ext cx="473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工艺美术的“肌肤”装饰</a:t>
            </a:r>
            <a:endParaRPr lang="en-US" sz="1600" dirty="0"/>
          </a:p>
        </p:txBody>
      </p:sp>
      <p:pic>
        <p:nvPicPr>
          <p:cNvPr id="7" name="Image 0" descr="https://kimi-web-img.moonshot.cn/img/upload.wikimedia.org/bfaba2173af8f3aadcdb94f8632df6d8a619ec11.JPG"/>
          <p:cNvPicPr>
            <a:picLocks noChangeAspect="1"/>
          </p:cNvPicPr>
          <p:nvPr/>
        </p:nvPicPr>
        <p:blipFill>
          <a:blip r:embed="rId3"/>
          <a:srcRect t="35787" b="35787"/>
          <a:stretch/>
        </p:blipFill>
        <p:spPr>
          <a:xfrm>
            <a:off x="771684" y="3581400"/>
            <a:ext cx="42291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895816" y="3474721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38078" y="73045"/>
                </a:moveTo>
                <a:cubicBezTo>
                  <a:pt x="346829" y="59918"/>
                  <a:pt x="343257" y="42148"/>
                  <a:pt x="330131" y="33397"/>
                </a:cubicBezTo>
                <a:cubicBezTo>
                  <a:pt x="317004" y="24646"/>
                  <a:pt x="299234" y="28218"/>
                  <a:pt x="290483" y="41344"/>
                </a:cubicBezTo>
                <a:lnTo>
                  <a:pt x="241905" y="114300"/>
                </a:lnTo>
                <a:lnTo>
                  <a:pt x="28575" y="114300"/>
                </a:lnTo>
                <a:cubicBezTo>
                  <a:pt x="12769" y="114300"/>
                  <a:pt x="0" y="127069"/>
                  <a:pt x="0" y="142875"/>
                </a:cubicBezTo>
                <a:cubicBezTo>
                  <a:pt x="0" y="158681"/>
                  <a:pt x="12769" y="171450"/>
                  <a:pt x="28575" y="171450"/>
                </a:cubicBezTo>
                <a:lnTo>
                  <a:pt x="203775" y="171450"/>
                </a:lnTo>
                <a:lnTo>
                  <a:pt x="127605" y="285750"/>
                </a:lnTo>
                <a:lnTo>
                  <a:pt x="28575" y="285750"/>
                </a:lnTo>
                <a:cubicBezTo>
                  <a:pt x="12769" y="285750"/>
                  <a:pt x="0" y="298519"/>
                  <a:pt x="0" y="314325"/>
                </a:cubicBezTo>
                <a:cubicBezTo>
                  <a:pt x="0" y="330131"/>
                  <a:pt x="12769" y="342900"/>
                  <a:pt x="28575" y="342900"/>
                </a:cubicBezTo>
                <a:lnTo>
                  <a:pt x="89475" y="342900"/>
                </a:lnTo>
                <a:lnTo>
                  <a:pt x="61972" y="384155"/>
                </a:lnTo>
                <a:cubicBezTo>
                  <a:pt x="53221" y="397282"/>
                  <a:pt x="56793" y="415052"/>
                  <a:pt x="69919" y="423803"/>
                </a:cubicBezTo>
                <a:cubicBezTo>
                  <a:pt x="83046" y="432554"/>
                  <a:pt x="100816" y="428982"/>
                  <a:pt x="109567" y="415856"/>
                </a:cubicBezTo>
                <a:lnTo>
                  <a:pt x="158145" y="342900"/>
                </a:lnTo>
                <a:lnTo>
                  <a:pt x="371475" y="342900"/>
                </a:lnTo>
                <a:cubicBezTo>
                  <a:pt x="387281" y="342900"/>
                  <a:pt x="400050" y="330131"/>
                  <a:pt x="400050" y="314325"/>
                </a:cubicBezTo>
                <a:cubicBezTo>
                  <a:pt x="400050" y="298519"/>
                  <a:pt x="387281" y="285750"/>
                  <a:pt x="371475" y="285750"/>
                </a:cubicBezTo>
                <a:lnTo>
                  <a:pt x="196275" y="285750"/>
                </a:lnTo>
                <a:lnTo>
                  <a:pt x="272445" y="171450"/>
                </a:lnTo>
                <a:lnTo>
                  <a:pt x="371475" y="171450"/>
                </a:lnTo>
                <a:cubicBezTo>
                  <a:pt x="387281" y="171450"/>
                  <a:pt x="400050" y="158681"/>
                  <a:pt x="400050" y="142875"/>
                </a:cubicBezTo>
                <a:cubicBezTo>
                  <a:pt x="400050" y="127069"/>
                  <a:pt x="387281" y="114300"/>
                  <a:pt x="371475" y="114300"/>
                </a:cubicBezTo>
                <a:lnTo>
                  <a:pt x="310575" y="114300"/>
                </a:lnTo>
                <a:lnTo>
                  <a:pt x="338078" y="7304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Shape 6"/>
          <p:cNvSpPr/>
          <p:nvPr/>
        </p:nvSpPr>
        <p:spPr>
          <a:xfrm>
            <a:off x="6969919" y="2392679"/>
            <a:ext cx="4635500" cy="2590800"/>
          </a:xfrm>
          <a:custGeom>
            <a:avLst/>
            <a:gdLst/>
            <a:ahLst/>
            <a:cxnLst/>
            <a:rect l="l" t="t" r="r" b="b"/>
            <a:pathLst>
              <a:path w="4635500" h="2590800">
                <a:moveTo>
                  <a:pt x="101611" y="0"/>
                </a:moveTo>
                <a:lnTo>
                  <a:pt x="4533889" y="0"/>
                </a:lnTo>
                <a:cubicBezTo>
                  <a:pt x="4590007" y="0"/>
                  <a:pt x="4635500" y="45493"/>
                  <a:pt x="4635500" y="101611"/>
                </a:cubicBezTo>
                <a:lnTo>
                  <a:pt x="4635500" y="2489189"/>
                </a:lnTo>
                <a:cubicBezTo>
                  <a:pt x="4635500" y="2545307"/>
                  <a:pt x="4590007" y="2590800"/>
                  <a:pt x="45338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62626">
              <a:alpha val="5098"/>
            </a:srgbClr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9439" y="2616200"/>
            <a:ext cx="473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功能之美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39439" y="3073400"/>
            <a:ext cx="473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“器完不饰”的素朴质真</a:t>
            </a:r>
            <a:endParaRPr lang="en-US" sz="1600" dirty="0"/>
          </a:p>
        </p:txBody>
      </p:sp>
      <p:pic>
        <p:nvPicPr>
          <p:cNvPr id="12" name="Image 1" descr="https://kimi-web-img.moonshot.cn/img/www.gov.cn/fcfe6f0b1d2fc1ac83c81f388eb259731c8adec7.jpg"/>
          <p:cNvPicPr>
            <a:picLocks noChangeAspect="1"/>
          </p:cNvPicPr>
          <p:nvPr/>
        </p:nvPicPr>
        <p:blipFill>
          <a:blip r:embed="rId4"/>
          <a:srcRect t="38184" b="38184"/>
          <a:stretch/>
        </p:blipFill>
        <p:spPr>
          <a:xfrm>
            <a:off x="7193439" y="3581400"/>
            <a:ext cx="42291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13" name="Text 9"/>
          <p:cNvSpPr/>
          <p:nvPr/>
        </p:nvSpPr>
        <p:spPr>
          <a:xfrm>
            <a:off x="254000" y="5430521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质真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”指向耐用与真实，材料与结构本身即审美对象。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金属礼器：权力符号的生成逻辑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金属礼器：权力符号的生成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60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钟与钺的演进，是技术复杂度服务于政治需求的典型过程。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8200" y="2971800"/>
            <a:ext cx="4673600" cy="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41400" y="32258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钟：礼乐制度的声音物化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3733645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一钟双音，数量与悬挂严格对应身份，技术服务于“</a:t>
            </a: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辨等明威</a:t>
            </a: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80200" y="2971800"/>
            <a:ext cx="4673600" cy="0"/>
          </a:xfrm>
          <a:prstGeom prst="line">
            <a:avLst/>
          </a:prstGeom>
          <a:noFill/>
          <a:ln w="50800">
            <a:solidFill>
              <a:srgbClr val="8C8C8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883400" y="32258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钺：从工具到王权符号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83400" y="3733645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形态轻量化与功能象征化同步，材质由石到玉，价值指向从劳动转向神圣。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000" y="4851245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设计可主动制造社会分层，为理解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符号消费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提供历史原型。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o1.360tres.com/cd72c27338c4ef920b61c9745022ebaac8169ed3.jpg"/>
          <p:cNvPicPr>
            <a:picLocks noChangeAspect="1"/>
          </p:cNvPicPr>
          <p:nvPr/>
        </p:nvPicPr>
        <p:blipFill>
          <a:blip r:embed="rId3"/>
          <a:srcRect t="25938" b="25938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108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共存现象：多元功能的并行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7686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商周中原用青铜钺示王权，云南边地仍以铜钺为生产工具。同一技术形态在不同社会语境中承担相异功能。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02400" y="3733800"/>
            <a:ext cx="0" cy="10160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6756400" y="3733800"/>
            <a:ext cx="568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启示：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56400" y="414020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设计史需警惕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单线进化叙事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，重视空间差异与功能分层，为当代多元市场提供参照。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3924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五维框架：传统造物的系统语言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98042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古人将造物视为天、地、人、物、工五要素耦合的结果，对应时、利、和、宜、巧五原则。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3945" y="31394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05051" y="-13216"/>
                </a:moveTo>
                <a:cubicBezTo>
                  <a:pt x="409426" y="-11430"/>
                  <a:pt x="412641" y="-7501"/>
                  <a:pt x="413534" y="-2858"/>
                </a:cubicBezTo>
                <a:lnTo>
                  <a:pt x="428625" y="71438"/>
                </a:lnTo>
                <a:lnTo>
                  <a:pt x="502920" y="86439"/>
                </a:lnTo>
                <a:cubicBezTo>
                  <a:pt x="507563" y="87422"/>
                  <a:pt x="511403" y="90547"/>
                  <a:pt x="513278" y="94923"/>
                </a:cubicBezTo>
                <a:cubicBezTo>
                  <a:pt x="515154" y="99298"/>
                  <a:pt x="514618" y="104299"/>
                  <a:pt x="512028" y="108228"/>
                </a:cubicBezTo>
                <a:lnTo>
                  <a:pt x="470148" y="171361"/>
                </a:lnTo>
                <a:lnTo>
                  <a:pt x="512028" y="234494"/>
                </a:lnTo>
                <a:cubicBezTo>
                  <a:pt x="514618" y="238423"/>
                  <a:pt x="515154" y="243423"/>
                  <a:pt x="513278" y="247799"/>
                </a:cubicBezTo>
                <a:cubicBezTo>
                  <a:pt x="511403" y="252174"/>
                  <a:pt x="507563" y="255389"/>
                  <a:pt x="502920" y="256282"/>
                </a:cubicBezTo>
                <a:lnTo>
                  <a:pt x="447377" y="267623"/>
                </a:lnTo>
                <a:cubicBezTo>
                  <a:pt x="436751" y="259854"/>
                  <a:pt x="424964" y="253692"/>
                  <a:pt x="412194" y="249406"/>
                </a:cubicBezTo>
                <a:cubicBezTo>
                  <a:pt x="409962" y="238065"/>
                  <a:pt x="406122" y="227350"/>
                  <a:pt x="400854" y="217527"/>
                </a:cubicBezTo>
                <a:cubicBezTo>
                  <a:pt x="409337" y="204222"/>
                  <a:pt x="414338" y="188416"/>
                  <a:pt x="414338" y="171361"/>
                </a:cubicBezTo>
                <a:cubicBezTo>
                  <a:pt x="414338" y="124033"/>
                  <a:pt x="375940" y="85636"/>
                  <a:pt x="328613" y="85636"/>
                </a:cubicBezTo>
                <a:cubicBezTo>
                  <a:pt x="285839" y="85636"/>
                  <a:pt x="250388" y="116979"/>
                  <a:pt x="243959" y="157877"/>
                </a:cubicBezTo>
                <a:cubicBezTo>
                  <a:pt x="220295" y="139750"/>
                  <a:pt x="190827" y="128855"/>
                  <a:pt x="158770" y="128498"/>
                </a:cubicBezTo>
                <a:lnTo>
                  <a:pt x="145286" y="108228"/>
                </a:lnTo>
                <a:cubicBezTo>
                  <a:pt x="142696" y="104299"/>
                  <a:pt x="142161" y="99298"/>
                  <a:pt x="144036" y="94923"/>
                </a:cubicBezTo>
                <a:cubicBezTo>
                  <a:pt x="145911" y="90547"/>
                  <a:pt x="149751" y="87332"/>
                  <a:pt x="154394" y="86439"/>
                </a:cubicBezTo>
                <a:lnTo>
                  <a:pt x="228600" y="71438"/>
                </a:lnTo>
                <a:lnTo>
                  <a:pt x="243602" y="-2857"/>
                </a:lnTo>
                <a:cubicBezTo>
                  <a:pt x="244584" y="-7501"/>
                  <a:pt x="247710" y="-11341"/>
                  <a:pt x="252085" y="-13216"/>
                </a:cubicBezTo>
                <a:cubicBezTo>
                  <a:pt x="256461" y="-15091"/>
                  <a:pt x="261461" y="-14555"/>
                  <a:pt x="265390" y="-11966"/>
                </a:cubicBezTo>
                <a:lnTo>
                  <a:pt x="328613" y="30004"/>
                </a:lnTo>
                <a:lnTo>
                  <a:pt x="391745" y="-11876"/>
                </a:lnTo>
                <a:cubicBezTo>
                  <a:pt x="395674" y="-14466"/>
                  <a:pt x="400675" y="-15002"/>
                  <a:pt x="405051" y="-13127"/>
                </a:cubicBezTo>
                <a:close/>
                <a:moveTo>
                  <a:pt x="371475" y="171450"/>
                </a:moveTo>
                <a:cubicBezTo>
                  <a:pt x="371475" y="174843"/>
                  <a:pt x="371118" y="178147"/>
                  <a:pt x="370314" y="181362"/>
                </a:cubicBezTo>
                <a:cubicBezTo>
                  <a:pt x="350937" y="166181"/>
                  <a:pt x="326559" y="157163"/>
                  <a:pt x="300038" y="157163"/>
                </a:cubicBezTo>
                <a:cubicBezTo>
                  <a:pt x="295930" y="157163"/>
                  <a:pt x="291911" y="157341"/>
                  <a:pt x="287982" y="157788"/>
                </a:cubicBezTo>
                <a:cubicBezTo>
                  <a:pt x="293697" y="140821"/>
                  <a:pt x="309771" y="128588"/>
                  <a:pt x="328613" y="128588"/>
                </a:cubicBezTo>
                <a:cubicBezTo>
                  <a:pt x="352276" y="128588"/>
                  <a:pt x="371475" y="147786"/>
                  <a:pt x="371475" y="171450"/>
                </a:cubicBezTo>
                <a:close/>
                <a:moveTo>
                  <a:pt x="85725" y="457200"/>
                </a:moveTo>
                <a:cubicBezTo>
                  <a:pt x="38398" y="457200"/>
                  <a:pt x="0" y="418802"/>
                  <a:pt x="0" y="371475"/>
                </a:cubicBezTo>
                <a:cubicBezTo>
                  <a:pt x="0" y="333524"/>
                  <a:pt x="24646" y="301288"/>
                  <a:pt x="58847" y="290036"/>
                </a:cubicBezTo>
                <a:cubicBezTo>
                  <a:pt x="57686" y="284053"/>
                  <a:pt x="57150" y="277803"/>
                  <a:pt x="57150" y="271463"/>
                </a:cubicBezTo>
                <a:cubicBezTo>
                  <a:pt x="57150" y="216188"/>
                  <a:pt x="101888" y="171450"/>
                  <a:pt x="157163" y="171450"/>
                </a:cubicBezTo>
                <a:cubicBezTo>
                  <a:pt x="195649" y="171450"/>
                  <a:pt x="229046" y="193149"/>
                  <a:pt x="245745" y="225028"/>
                </a:cubicBezTo>
                <a:cubicBezTo>
                  <a:pt x="258872" y="209758"/>
                  <a:pt x="278338" y="200025"/>
                  <a:pt x="300038" y="200025"/>
                </a:cubicBezTo>
                <a:cubicBezTo>
                  <a:pt x="339507" y="200025"/>
                  <a:pt x="371475" y="231993"/>
                  <a:pt x="371475" y="271463"/>
                </a:cubicBezTo>
                <a:cubicBezTo>
                  <a:pt x="371475" y="276374"/>
                  <a:pt x="370939" y="281107"/>
                  <a:pt x="370046" y="285750"/>
                </a:cubicBezTo>
                <a:cubicBezTo>
                  <a:pt x="370493" y="285750"/>
                  <a:pt x="371029" y="285750"/>
                  <a:pt x="371475" y="285750"/>
                </a:cubicBez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85725" y="45720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8552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822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3144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489960" y="31394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046" y="0"/>
                </a:moveTo>
                <a:cubicBezTo>
                  <a:pt x="242173" y="0"/>
                  <a:pt x="254228" y="7233"/>
                  <a:pt x="260479" y="18752"/>
                </a:cubicBezTo>
                <a:lnTo>
                  <a:pt x="453360" y="375940"/>
                </a:lnTo>
                <a:cubicBezTo>
                  <a:pt x="459343" y="387013"/>
                  <a:pt x="459075" y="400407"/>
                  <a:pt x="452646" y="411212"/>
                </a:cubicBezTo>
                <a:cubicBezTo>
                  <a:pt x="446216" y="422017"/>
                  <a:pt x="434519" y="428625"/>
                  <a:pt x="422017" y="428625"/>
                </a:cubicBezTo>
                <a:lnTo>
                  <a:pt x="36255" y="428625"/>
                </a:lnTo>
                <a:cubicBezTo>
                  <a:pt x="23664" y="428625"/>
                  <a:pt x="12055" y="422017"/>
                  <a:pt x="5626" y="411212"/>
                </a:cubicBezTo>
                <a:cubicBezTo>
                  <a:pt x="-804" y="400407"/>
                  <a:pt x="-1072" y="387013"/>
                  <a:pt x="4911" y="375940"/>
                </a:cubicBezTo>
                <a:lnTo>
                  <a:pt x="197793" y="18752"/>
                </a:lnTo>
                <a:lnTo>
                  <a:pt x="200382" y="14645"/>
                </a:lnTo>
                <a:cubicBezTo>
                  <a:pt x="206901" y="5536"/>
                  <a:pt x="217527" y="0"/>
                  <a:pt x="229046" y="0"/>
                </a:cubicBezTo>
                <a:close/>
                <a:moveTo>
                  <a:pt x="152162" y="223153"/>
                </a:moveTo>
                <a:lnTo>
                  <a:pt x="176093" y="247084"/>
                </a:lnTo>
                <a:cubicBezTo>
                  <a:pt x="181630" y="252621"/>
                  <a:pt x="190738" y="252621"/>
                  <a:pt x="196275" y="247084"/>
                </a:cubicBezTo>
                <a:lnTo>
                  <a:pt x="234940" y="208419"/>
                </a:lnTo>
                <a:cubicBezTo>
                  <a:pt x="240298" y="203061"/>
                  <a:pt x="247531" y="200025"/>
                  <a:pt x="255121" y="200025"/>
                </a:cubicBezTo>
                <a:lnTo>
                  <a:pt x="293340" y="200025"/>
                </a:lnTo>
                <a:lnTo>
                  <a:pt x="228957" y="80814"/>
                </a:lnTo>
                <a:lnTo>
                  <a:pt x="152073" y="223153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336296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7566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08880" y="2809242"/>
            <a:ext cx="2159000" cy="1778000"/>
          </a:xfrm>
          <a:custGeom>
            <a:avLst/>
            <a:gdLst/>
            <a:ahLst/>
            <a:cxnLst/>
            <a:rect l="l" t="t" r="r" b="b"/>
            <a:pathLst>
              <a:path w="2159000" h="1778000">
                <a:moveTo>
                  <a:pt x="101595" y="0"/>
                </a:moveTo>
                <a:lnTo>
                  <a:pt x="2057405" y="0"/>
                </a:lnTo>
                <a:cubicBezTo>
                  <a:pt x="2113514" y="0"/>
                  <a:pt x="2159000" y="45486"/>
                  <a:pt x="2159000" y="101595"/>
                </a:cubicBezTo>
                <a:lnTo>
                  <a:pt x="2159000" y="1676405"/>
                </a:lnTo>
                <a:cubicBezTo>
                  <a:pt x="2159000" y="1732514"/>
                  <a:pt x="2113514" y="1778000"/>
                  <a:pt x="20574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 w="10160">
            <a:solidFill>
              <a:srgbClr val="8C8C8C">
                <a:alpha val="5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8825" y="3149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740400" y="38862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53100" y="41910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8632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44840" y="31394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11784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054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63760" y="2809242"/>
            <a:ext cx="2171700" cy="1803400"/>
          </a:xfrm>
          <a:custGeom>
            <a:avLst/>
            <a:gdLst/>
            <a:ahLst/>
            <a:cxnLst/>
            <a:rect l="l" t="t" r="r" b="b"/>
            <a:pathLst>
              <a:path w="2171700" h="1803400">
                <a:moveTo>
                  <a:pt x="101604" y="0"/>
                </a:moveTo>
                <a:lnTo>
                  <a:pt x="2070096" y="0"/>
                </a:lnTo>
                <a:cubicBezTo>
                  <a:pt x="2126211" y="0"/>
                  <a:pt x="2171700" y="45489"/>
                  <a:pt x="2171700" y="101604"/>
                </a:cubicBezTo>
                <a:lnTo>
                  <a:pt x="2171700" y="1701796"/>
                </a:lnTo>
                <a:cubicBezTo>
                  <a:pt x="2171700" y="1757911"/>
                  <a:pt x="2126211" y="1803400"/>
                  <a:pt x="2070096" y="1803400"/>
                </a:cubicBezTo>
                <a:lnTo>
                  <a:pt x="101604" y="1803400"/>
                </a:lnTo>
                <a:cubicBezTo>
                  <a:pt x="45489" y="1803400"/>
                  <a:pt x="0" y="1757911"/>
                  <a:pt x="0" y="17017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93705" y="31394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114" y="86707"/>
                </a:moveTo>
                <a:lnTo>
                  <a:pt x="200114" y="130999"/>
                </a:lnTo>
                <a:lnTo>
                  <a:pt x="200561" y="131445"/>
                </a:lnTo>
                <a:cubicBezTo>
                  <a:pt x="206365" y="57864"/>
                  <a:pt x="267891" y="0"/>
                  <a:pt x="342989" y="0"/>
                </a:cubicBezTo>
                <a:cubicBezTo>
                  <a:pt x="360938" y="0"/>
                  <a:pt x="378172" y="3304"/>
                  <a:pt x="393978" y="9376"/>
                </a:cubicBezTo>
                <a:cubicBezTo>
                  <a:pt x="402908" y="12769"/>
                  <a:pt x="404515" y="24110"/>
                  <a:pt x="397818" y="30897"/>
                </a:cubicBezTo>
                <a:lnTo>
                  <a:pt x="318611" y="110103"/>
                </a:lnTo>
                <a:cubicBezTo>
                  <a:pt x="315932" y="112782"/>
                  <a:pt x="314414" y="116443"/>
                  <a:pt x="314414" y="120194"/>
                </a:cubicBezTo>
                <a:lnTo>
                  <a:pt x="314414" y="157163"/>
                </a:lnTo>
                <a:cubicBezTo>
                  <a:pt x="314414" y="165021"/>
                  <a:pt x="320844" y="171450"/>
                  <a:pt x="328702" y="171450"/>
                </a:cubicBezTo>
                <a:lnTo>
                  <a:pt x="365671" y="171450"/>
                </a:lnTo>
                <a:cubicBezTo>
                  <a:pt x="369421" y="171450"/>
                  <a:pt x="373082" y="169932"/>
                  <a:pt x="375761" y="167253"/>
                </a:cubicBezTo>
                <a:lnTo>
                  <a:pt x="454968" y="88047"/>
                </a:lnTo>
                <a:cubicBezTo>
                  <a:pt x="461754" y="81260"/>
                  <a:pt x="473095" y="82957"/>
                  <a:pt x="476488" y="91886"/>
                </a:cubicBezTo>
                <a:cubicBezTo>
                  <a:pt x="482560" y="107692"/>
                  <a:pt x="485864" y="124926"/>
                  <a:pt x="485864" y="142875"/>
                </a:cubicBezTo>
                <a:cubicBezTo>
                  <a:pt x="485864" y="196989"/>
                  <a:pt x="455771" y="244138"/>
                  <a:pt x="411301" y="268337"/>
                </a:cubicBezTo>
                <a:lnTo>
                  <a:pt x="484078" y="341114"/>
                </a:lnTo>
                <a:cubicBezTo>
                  <a:pt x="500777" y="357813"/>
                  <a:pt x="500777" y="384959"/>
                  <a:pt x="484078" y="401747"/>
                </a:cubicBezTo>
                <a:lnTo>
                  <a:pt x="430411" y="455414"/>
                </a:lnTo>
                <a:cubicBezTo>
                  <a:pt x="413712" y="472113"/>
                  <a:pt x="386566" y="472113"/>
                  <a:pt x="369778" y="455414"/>
                </a:cubicBezTo>
                <a:lnTo>
                  <a:pt x="257264" y="342900"/>
                </a:lnTo>
                <a:cubicBezTo>
                  <a:pt x="232797" y="318433"/>
                  <a:pt x="227261" y="282267"/>
                  <a:pt x="240744" y="252442"/>
                </a:cubicBezTo>
                <a:lnTo>
                  <a:pt x="159752" y="171450"/>
                </a:lnTo>
                <a:lnTo>
                  <a:pt x="115461" y="171450"/>
                </a:lnTo>
                <a:cubicBezTo>
                  <a:pt x="105906" y="171450"/>
                  <a:pt x="96976" y="166717"/>
                  <a:pt x="91708" y="158770"/>
                </a:cubicBezTo>
                <a:lnTo>
                  <a:pt x="20895" y="52596"/>
                </a:lnTo>
                <a:cubicBezTo>
                  <a:pt x="17145" y="46970"/>
                  <a:pt x="17859" y="39380"/>
                  <a:pt x="22681" y="34558"/>
                </a:cubicBezTo>
                <a:lnTo>
                  <a:pt x="63222" y="-5983"/>
                </a:lnTo>
                <a:cubicBezTo>
                  <a:pt x="68044" y="-10805"/>
                  <a:pt x="75545" y="-11519"/>
                  <a:pt x="81260" y="-7769"/>
                </a:cubicBezTo>
                <a:lnTo>
                  <a:pt x="187434" y="62954"/>
                </a:lnTo>
                <a:cubicBezTo>
                  <a:pt x="195382" y="68223"/>
                  <a:pt x="200114" y="77153"/>
                  <a:pt x="200114" y="86707"/>
                </a:cubicBezTo>
                <a:close/>
                <a:moveTo>
                  <a:pt x="192524" y="264855"/>
                </a:moveTo>
                <a:cubicBezTo>
                  <a:pt x="186898" y="297894"/>
                  <a:pt x="194667" y="332809"/>
                  <a:pt x="216098" y="360759"/>
                </a:cubicBezTo>
                <a:lnTo>
                  <a:pt x="131266" y="445502"/>
                </a:lnTo>
                <a:cubicBezTo>
                  <a:pt x="106174" y="470595"/>
                  <a:pt x="65455" y="470595"/>
                  <a:pt x="40362" y="445502"/>
                </a:cubicBezTo>
                <a:cubicBezTo>
                  <a:pt x="15270" y="420410"/>
                  <a:pt x="15270" y="379690"/>
                  <a:pt x="40362" y="354598"/>
                </a:cubicBezTo>
                <a:lnTo>
                  <a:pt x="161270" y="233690"/>
                </a:lnTo>
                <a:lnTo>
                  <a:pt x="192524" y="264944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5280" y="3876042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07980" y="4180842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4000" y="5013958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此框架为现代系统创新提供了可复用的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文化语法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思维模型：天时地利人和物宜工巧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923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整体认知：天地万物一体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552700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古人必先问“何时用、何地造、何人使”，再问“何材何构”。整体观确保功能与伦理一致，避免技术割裂与环境失控。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48100"/>
            <a:ext cx="5435600" cy="1117600"/>
          </a:xfrm>
          <a:custGeom>
            <a:avLst/>
            <a:gdLst/>
            <a:ahLst/>
            <a:cxnLst/>
            <a:rect l="l" t="t" r="r" b="b"/>
            <a:pathLst>
              <a:path w="5435600" h="1117600">
                <a:moveTo>
                  <a:pt x="101601" y="0"/>
                </a:moveTo>
                <a:lnTo>
                  <a:pt x="5333999" y="0"/>
                </a:lnTo>
                <a:cubicBezTo>
                  <a:pt x="5390112" y="0"/>
                  <a:pt x="5435600" y="45488"/>
                  <a:pt x="5435600" y="101601"/>
                </a:cubicBezTo>
                <a:lnTo>
                  <a:pt x="5435600" y="1015999"/>
                </a:lnTo>
                <a:cubicBezTo>
                  <a:pt x="5435600" y="1072112"/>
                  <a:pt x="5390112" y="1117600"/>
                  <a:pt x="5333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051300"/>
            <a:ext cx="553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现代启示：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57700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可持续设计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提供哲学底座，是系统思维的古典根源。</a:t>
            </a:r>
            <a:endParaRPr lang="en-US" sz="1600" dirty="0"/>
          </a:p>
        </p:txBody>
      </p:sp>
      <p:pic>
        <p:nvPicPr>
          <p:cNvPr id="7" name="Image 0" descr="https://kimi-web-img.moonshot.cn/img/www.gov.cn/fcfe6f0b1d2fc1ac83c81f388eb259731c8adec7.jpg"/>
          <p:cNvPicPr>
            <a:picLocks noChangeAspect="1"/>
          </p:cNvPicPr>
          <p:nvPr/>
        </p:nvPicPr>
        <p:blipFill>
          <a:blip r:embed="rId3"/>
          <a:srcRect t="21487" b="21487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联系思维：网络式启发与类比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81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观飞鸟创车轮，察水波造波纹刃，古人用“取象比类”跨越领域，激发创造。</a:t>
            </a:r>
            <a:endParaRPr lang="en-US" sz="1600" dirty="0"/>
          </a:p>
        </p:txBody>
      </p:sp>
      <p:pic>
        <p:nvPicPr>
          <p:cNvPr id="4" name="Image 0" descr="https://kimi-web-img.moonshot.cn/img/freepngimg.com/da161f0012279278c2330b168d1abd5deed2630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83000" y="2692400"/>
            <a:ext cx="1625600" cy="16256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3429000" y="44196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自然之象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53100" y="3403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262626"/>
          </a:solidFill>
          <a:ln/>
        </p:spPr>
      </p:sp>
      <p:pic>
        <p:nvPicPr>
          <p:cNvPr id="7" name="Image 1" descr="https://kimi-web-img.moonshot.cn/img/www.gov.cn/fcfe6f0b1d2fc1ac83c81f388eb259731c8adec7.jpg"/>
          <p:cNvPicPr>
            <a:picLocks noChangeAspect="1"/>
          </p:cNvPicPr>
          <p:nvPr/>
        </p:nvPicPr>
        <p:blipFill>
          <a:blip r:embed="rId4"/>
          <a:srcRect t="9012" b="9012"/>
          <a:stretch/>
        </p:blipFill>
        <p:spPr>
          <a:xfrm>
            <a:off x="6883400" y="2692400"/>
            <a:ext cx="1625600" cy="16256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6629400" y="44196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造物之形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54000" y="51308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此思维可补现代研究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过度量化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之弊，形成“发散—收敛”双轨创新。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97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和谐价值：真善美交织的秩序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558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传统和谐是功能、礼制、情感三轴平衡，追求“文质彬彬”的统一。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52600" y="3175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1422400" y="419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功能之真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15000" y="3175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Text 5"/>
          <p:cNvSpPr/>
          <p:nvPr/>
        </p:nvSpPr>
        <p:spPr>
          <a:xfrm>
            <a:off x="5384800" y="419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礼制之善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75360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86941" y="103703"/>
                </a:moveTo>
                <a:lnTo>
                  <a:pt x="304800" y="128349"/>
                </a:lnTo>
                <a:lnTo>
                  <a:pt x="322659" y="103703"/>
                </a:lnTo>
                <a:cubicBezTo>
                  <a:pt x="352425" y="62508"/>
                  <a:pt x="400288" y="38100"/>
                  <a:pt x="451128" y="38100"/>
                </a:cubicBezTo>
                <a:cubicBezTo>
                  <a:pt x="538639" y="38100"/>
                  <a:pt x="609600" y="109061"/>
                  <a:pt x="609600" y="196572"/>
                </a:cubicBezTo>
                <a:lnTo>
                  <a:pt x="609600" y="199668"/>
                </a:lnTo>
                <a:cubicBezTo>
                  <a:pt x="609600" y="333256"/>
                  <a:pt x="443032" y="488394"/>
                  <a:pt x="356116" y="554712"/>
                </a:cubicBezTo>
                <a:cubicBezTo>
                  <a:pt x="341352" y="565904"/>
                  <a:pt x="323255" y="571500"/>
                  <a:pt x="304800" y="571500"/>
                </a:cubicBezTo>
                <a:cubicBezTo>
                  <a:pt x="286345" y="571500"/>
                  <a:pt x="268129" y="566023"/>
                  <a:pt x="253484" y="554712"/>
                </a:cubicBezTo>
                <a:cubicBezTo>
                  <a:pt x="166568" y="488394"/>
                  <a:pt x="0" y="333256"/>
                  <a:pt x="0" y="199668"/>
                </a:cubicBezTo>
                <a:lnTo>
                  <a:pt x="0" y="196572"/>
                </a:lnTo>
                <a:cubicBezTo>
                  <a:pt x="0" y="109061"/>
                  <a:pt x="70961" y="38100"/>
                  <a:pt x="158472" y="38100"/>
                </a:cubicBezTo>
                <a:cubicBezTo>
                  <a:pt x="209312" y="38100"/>
                  <a:pt x="257175" y="62508"/>
                  <a:pt x="286941" y="1037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347200" y="4191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情感之美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000" y="51562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可为体验经济提供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系统共生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的深度评价标准。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.sinaimg.cn/a575ffa6ed6ac0f1d13cf8e33518cbd5397c803c.png"/>
          <p:cNvPicPr>
            <a:picLocks noChangeAspect="1"/>
          </p:cNvPicPr>
          <p:nvPr/>
        </p:nvPicPr>
        <p:blipFill>
          <a:blip r:embed="rId3"/>
          <a:srcRect l="4252" r="4252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082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克服短板：从模糊到精确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7432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传统思维重直觉轻抽象，导致技术难以迭代。现代转译需引入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实验与数据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，把“观物取辨”升级为“参数化取辨”。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48400" y="37084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48400" y="4013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模糊经验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6800" y="3962400"/>
            <a:ext cx="3429000" cy="50800"/>
          </a:xfrm>
          <a:custGeom>
            <a:avLst/>
            <a:gdLst/>
            <a:ahLst/>
            <a:cxnLst/>
            <a:rect l="l" t="t" r="r" b="b"/>
            <a:pathLst>
              <a:path w="3429000" h="50800">
                <a:moveTo>
                  <a:pt x="0" y="0"/>
                </a:moveTo>
                <a:lnTo>
                  <a:pt x="3429000" y="0"/>
                </a:lnTo>
                <a:lnTo>
                  <a:pt x="3429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8C8C"/>
              </a:gs>
              <a:gs pos="100000">
                <a:srgbClr val="262626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0795000" y="3708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0" y="40132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参数化模型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02400" y="44704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在保留整体观的同时，实现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可验证、可积累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的知识进步。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现代启示：传统智慧的转译路径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9804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转译策略：从符号拼贴到系统重构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656842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以“五维检查表”重构产品系统，将文化情怀转化为市场竞争力。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可持续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1112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45872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5872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本土供应链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68240" y="3368042"/>
            <a:ext cx="2235200" cy="660400"/>
          </a:xfrm>
          <a:custGeom>
            <a:avLst/>
            <a:gdLst/>
            <a:ahLst/>
            <a:cxnLst/>
            <a:rect l="l" t="t" r="r" b="b"/>
            <a:pathLst>
              <a:path w="2235200" h="660400">
                <a:moveTo>
                  <a:pt x="50798" y="0"/>
                </a:moveTo>
                <a:lnTo>
                  <a:pt x="2184402" y="0"/>
                </a:lnTo>
                <a:cubicBezTo>
                  <a:pt x="2212457" y="0"/>
                  <a:pt x="2235200" y="22743"/>
                  <a:pt x="2235200" y="50798"/>
                </a:cubicBezTo>
                <a:lnTo>
                  <a:pt x="2235200" y="609602"/>
                </a:lnTo>
                <a:cubicBezTo>
                  <a:pt x="2235200" y="637657"/>
                  <a:pt x="2212457" y="660400"/>
                  <a:pt x="21844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 w="10160">
            <a:solidFill>
              <a:srgbClr val="8C8C8C">
                <a:alpha val="5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6000" y="34798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6000" y="3733800"/>
            <a:ext cx="254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多元用户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536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17296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296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材料循环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82480" y="3368042"/>
            <a:ext cx="2260600" cy="685800"/>
          </a:xfrm>
          <a:custGeom>
            <a:avLst/>
            <a:gdLst/>
            <a:ahLst/>
            <a:cxnLst/>
            <a:rect l="l" t="t" r="r" b="b"/>
            <a:pathLst>
              <a:path w="2260600" h="685800">
                <a:moveTo>
                  <a:pt x="50797" y="0"/>
                </a:moveTo>
                <a:lnTo>
                  <a:pt x="2209803" y="0"/>
                </a:lnTo>
                <a:cubicBezTo>
                  <a:pt x="2237857" y="0"/>
                  <a:pt x="2260600" y="22743"/>
                  <a:pt x="2260600" y="50797"/>
                </a:cubicBezTo>
                <a:lnTo>
                  <a:pt x="2260600" y="635003"/>
                </a:lnTo>
                <a:cubicBezTo>
                  <a:pt x="2260600" y="663057"/>
                  <a:pt x="2237857" y="685800"/>
                  <a:pt x="2209803" y="685800"/>
                </a:cubicBezTo>
                <a:lnTo>
                  <a:pt x="50797" y="685800"/>
                </a:lnTo>
                <a:cubicBezTo>
                  <a:pt x="22743" y="685800"/>
                  <a:pt x="0" y="663057"/>
                  <a:pt x="0" y="635003"/>
                </a:cubicBezTo>
                <a:lnTo>
                  <a:pt x="0" y="50797"/>
                </a:lnTo>
                <a:cubicBezTo>
                  <a:pt x="0" y="22761"/>
                  <a:pt x="22761" y="0"/>
                  <a:pt x="507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30080" y="3469642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30080" y="3723642"/>
            <a:ext cx="2565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智能制造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000" y="4455009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避免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符号化消费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的短命，构建有文化深度的产品系统。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431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案例展望：水车精神的再生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03500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太阳能微泵+物联网传感器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重构筒车系统，实现无人值守、按需提水。新系统保留“水势—机构”适配逻辑，仅替换能量层。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98900"/>
            <a:ext cx="0" cy="1016000"/>
          </a:xfrm>
          <a:prstGeom prst="line">
            <a:avLst/>
          </a:prstGeom>
          <a:noFill/>
          <a:ln w="50800">
            <a:solidFill>
              <a:srgbClr val="262626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8000" y="3898900"/>
            <a:ext cx="568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4305300"/>
            <a:ext cx="5181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形成“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低技—高智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”混合解决方案，为乡村振兴提供可落地原型。</a:t>
            </a:r>
            <a:endParaRPr lang="en-US" sz="1600" dirty="0"/>
          </a:p>
        </p:txBody>
      </p:sp>
      <p:pic>
        <p:nvPicPr>
          <p:cNvPr id="7" name="Image 0" descr="https://kimi-web-img.moonshot.cn/img/n.sinaimg.cn/a575ffa6ed6ac0f1d13cf8e33518cbd5397c803c.png"/>
          <p:cNvPicPr>
            <a:picLocks noChangeAspect="1"/>
          </p:cNvPicPr>
          <p:nvPr/>
        </p:nvPicPr>
        <p:blipFill>
          <a:blip r:embed="rId3"/>
          <a:srcRect l="4252" r="4252"/>
          <a:stretch/>
        </p:blipFill>
        <p:spPr>
          <a:xfrm>
            <a:off x="6096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9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结论：事理不息，设计常新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108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轮子、水车、钟钺共同证明：事在物先，物随事变，理寓其中。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33900" y="3022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76200"/>
                </a:moveTo>
                <a:cubicBezTo>
                  <a:pt x="469106" y="76200"/>
                  <a:pt x="571500" y="178594"/>
                  <a:pt x="571500" y="304800"/>
                </a:cubicBezTo>
                <a:cubicBezTo>
                  <a:pt x="571500" y="431006"/>
                  <a:pt x="469106" y="533400"/>
                  <a:pt x="342900" y="533400"/>
                </a:cubicBezTo>
                <a:cubicBezTo>
                  <a:pt x="265271" y="533400"/>
                  <a:pt x="196572" y="494705"/>
                  <a:pt x="155258" y="435412"/>
                </a:cubicBezTo>
                <a:cubicBezTo>
                  <a:pt x="143232" y="418148"/>
                  <a:pt x="119420" y="413980"/>
                  <a:pt x="102156" y="426006"/>
                </a:cubicBezTo>
                <a:cubicBezTo>
                  <a:pt x="84892" y="438031"/>
                  <a:pt x="80724" y="461843"/>
                  <a:pt x="92750" y="479108"/>
                </a:cubicBezTo>
                <a:cubicBezTo>
                  <a:pt x="147757" y="557927"/>
                  <a:pt x="239316" y="609600"/>
                  <a:pt x="342900" y="609600"/>
                </a:cubicBezTo>
                <a:cubicBezTo>
                  <a:pt x="511254" y="609600"/>
                  <a:pt x="647700" y="473154"/>
                  <a:pt x="647700" y="304800"/>
                </a:cubicBezTo>
                <a:cubicBezTo>
                  <a:pt x="647700" y="136446"/>
                  <a:pt x="511254" y="0"/>
                  <a:pt x="342900" y="0"/>
                </a:cubicBezTo>
                <a:cubicBezTo>
                  <a:pt x="240863" y="0"/>
                  <a:pt x="150614" y="50125"/>
                  <a:pt x="95250" y="127040"/>
                </a:cubicBezTo>
                <a:lnTo>
                  <a:pt x="95250" y="95250"/>
                </a:lnTo>
                <a:cubicBezTo>
                  <a:pt x="95250" y="74176"/>
                  <a:pt x="78224" y="57150"/>
                  <a:pt x="57150" y="57150"/>
                </a:cubicBezTo>
                <a:cubicBezTo>
                  <a:pt x="36076" y="57150"/>
                  <a:pt x="19050" y="74176"/>
                  <a:pt x="19050" y="95250"/>
                </a:cubicBezTo>
                <a:lnTo>
                  <a:pt x="19050" y="228600"/>
                </a:lnTo>
                <a:cubicBezTo>
                  <a:pt x="19050" y="249674"/>
                  <a:pt x="36076" y="266700"/>
                  <a:pt x="57150" y="266700"/>
                </a:cubicBezTo>
                <a:lnTo>
                  <a:pt x="86439" y="266700"/>
                </a:lnTo>
                <a:cubicBezTo>
                  <a:pt x="87035" y="266700"/>
                  <a:pt x="87630" y="266700"/>
                  <a:pt x="88225" y="266700"/>
                </a:cubicBezTo>
                <a:lnTo>
                  <a:pt x="190619" y="266700"/>
                </a:lnTo>
                <a:cubicBezTo>
                  <a:pt x="211693" y="266700"/>
                  <a:pt x="228719" y="249674"/>
                  <a:pt x="228719" y="228600"/>
                </a:cubicBezTo>
                <a:cubicBezTo>
                  <a:pt x="228719" y="207526"/>
                  <a:pt x="211693" y="190500"/>
                  <a:pt x="190619" y="190500"/>
                </a:cubicBezTo>
                <a:lnTo>
                  <a:pt x="145018" y="190500"/>
                </a:lnTo>
                <a:cubicBezTo>
                  <a:pt x="184428" y="122158"/>
                  <a:pt x="258366" y="76200"/>
                  <a:pt x="342900" y="76200"/>
                </a:cubicBezTo>
                <a:close/>
                <a:moveTo>
                  <a:pt x="371475" y="180975"/>
                </a:moveTo>
                <a:cubicBezTo>
                  <a:pt x="371475" y="165140"/>
                  <a:pt x="358735" y="152400"/>
                  <a:pt x="342900" y="152400"/>
                </a:cubicBezTo>
                <a:cubicBezTo>
                  <a:pt x="327065" y="152400"/>
                  <a:pt x="314325" y="165140"/>
                  <a:pt x="314325" y="180975"/>
                </a:cubicBezTo>
                <a:lnTo>
                  <a:pt x="314325" y="304800"/>
                </a:lnTo>
                <a:cubicBezTo>
                  <a:pt x="314325" y="312420"/>
                  <a:pt x="317302" y="319683"/>
                  <a:pt x="322659" y="325041"/>
                </a:cubicBezTo>
                <a:lnTo>
                  <a:pt x="408384" y="410766"/>
                </a:lnTo>
                <a:cubicBezTo>
                  <a:pt x="419576" y="421958"/>
                  <a:pt x="437674" y="421958"/>
                  <a:pt x="448747" y="410766"/>
                </a:cubicBezTo>
                <a:cubicBezTo>
                  <a:pt x="459819" y="399574"/>
                  <a:pt x="459938" y="381476"/>
                  <a:pt x="448747" y="370403"/>
                </a:cubicBezTo>
                <a:lnTo>
                  <a:pt x="371356" y="293013"/>
                </a:lnTo>
                <a:lnTo>
                  <a:pt x="371356" y="18097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39370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429260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事与物的循环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16600" y="3378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619" y="228600"/>
                </a:moveTo>
                <a:lnTo>
                  <a:pt x="581025" y="228600"/>
                </a:lnTo>
                <a:cubicBezTo>
                  <a:pt x="596860" y="228600"/>
                  <a:pt x="609600" y="215860"/>
                  <a:pt x="609600" y="200025"/>
                </a:cubicBezTo>
                <a:lnTo>
                  <a:pt x="609600" y="28575"/>
                </a:lnTo>
                <a:cubicBezTo>
                  <a:pt x="609600" y="17026"/>
                  <a:pt x="602694" y="6548"/>
                  <a:pt x="591979" y="2143"/>
                </a:cubicBezTo>
                <a:cubicBezTo>
                  <a:pt x="581263" y="-2262"/>
                  <a:pt x="569000" y="238"/>
                  <a:pt x="560784" y="8334"/>
                </a:cubicBezTo>
                <a:lnTo>
                  <a:pt x="499229" y="70009"/>
                </a:lnTo>
                <a:cubicBezTo>
                  <a:pt x="446484" y="26313"/>
                  <a:pt x="378619" y="0"/>
                  <a:pt x="304800" y="0"/>
                </a:cubicBezTo>
                <a:cubicBezTo>
                  <a:pt x="151209" y="0"/>
                  <a:pt x="24170" y="113586"/>
                  <a:pt x="3096" y="261342"/>
                </a:cubicBezTo>
                <a:cubicBezTo>
                  <a:pt x="119" y="282178"/>
                  <a:pt x="14526" y="301466"/>
                  <a:pt x="35362" y="304443"/>
                </a:cubicBezTo>
                <a:cubicBezTo>
                  <a:pt x="56198" y="307419"/>
                  <a:pt x="75486" y="292894"/>
                  <a:pt x="78462" y="272177"/>
                </a:cubicBezTo>
                <a:cubicBezTo>
                  <a:pt x="94298" y="161330"/>
                  <a:pt x="189667" y="76200"/>
                  <a:pt x="304800" y="76200"/>
                </a:cubicBezTo>
                <a:cubicBezTo>
                  <a:pt x="357664" y="76200"/>
                  <a:pt x="406241" y="94059"/>
                  <a:pt x="444937" y="124182"/>
                </a:cubicBezTo>
                <a:lnTo>
                  <a:pt x="389334" y="179784"/>
                </a:lnTo>
                <a:cubicBezTo>
                  <a:pt x="381119" y="188000"/>
                  <a:pt x="378738" y="200263"/>
                  <a:pt x="383143" y="210979"/>
                </a:cubicBezTo>
                <a:cubicBezTo>
                  <a:pt x="387548" y="221694"/>
                  <a:pt x="398026" y="228600"/>
                  <a:pt x="409575" y="228600"/>
                </a:cubicBezTo>
                <a:lnTo>
                  <a:pt x="571619" y="228600"/>
                </a:lnTo>
                <a:close/>
                <a:moveTo>
                  <a:pt x="606623" y="348258"/>
                </a:moveTo>
                <a:cubicBezTo>
                  <a:pt x="609600" y="327422"/>
                  <a:pt x="595074" y="308134"/>
                  <a:pt x="574357" y="305157"/>
                </a:cubicBezTo>
                <a:cubicBezTo>
                  <a:pt x="553641" y="302181"/>
                  <a:pt x="534233" y="316706"/>
                  <a:pt x="531257" y="337423"/>
                </a:cubicBezTo>
                <a:cubicBezTo>
                  <a:pt x="515422" y="448151"/>
                  <a:pt x="420053" y="533281"/>
                  <a:pt x="304919" y="533281"/>
                </a:cubicBezTo>
                <a:cubicBezTo>
                  <a:pt x="252055" y="533281"/>
                  <a:pt x="203478" y="515422"/>
                  <a:pt x="164783" y="485299"/>
                </a:cubicBezTo>
                <a:lnTo>
                  <a:pt x="220266" y="429816"/>
                </a:lnTo>
                <a:cubicBezTo>
                  <a:pt x="228481" y="421600"/>
                  <a:pt x="230862" y="409337"/>
                  <a:pt x="226457" y="398621"/>
                </a:cubicBezTo>
                <a:cubicBezTo>
                  <a:pt x="222052" y="387906"/>
                  <a:pt x="211574" y="381000"/>
                  <a:pt x="200025" y="381000"/>
                </a:cubicBezTo>
                <a:lnTo>
                  <a:pt x="28575" y="381000"/>
                </a:lnTo>
                <a:cubicBezTo>
                  <a:pt x="12740" y="381000"/>
                  <a:pt x="0" y="393740"/>
                  <a:pt x="0" y="409575"/>
                </a:cubicBezTo>
                <a:lnTo>
                  <a:pt x="0" y="581025"/>
                </a:lnTo>
                <a:cubicBezTo>
                  <a:pt x="0" y="592574"/>
                  <a:pt x="6906" y="603052"/>
                  <a:pt x="17621" y="607457"/>
                </a:cubicBezTo>
                <a:cubicBezTo>
                  <a:pt x="28337" y="611862"/>
                  <a:pt x="40600" y="609362"/>
                  <a:pt x="48816" y="601266"/>
                </a:cubicBezTo>
                <a:lnTo>
                  <a:pt x="110490" y="539591"/>
                </a:lnTo>
                <a:cubicBezTo>
                  <a:pt x="163116" y="583287"/>
                  <a:pt x="230981" y="609600"/>
                  <a:pt x="304800" y="609600"/>
                </a:cubicBezTo>
                <a:cubicBezTo>
                  <a:pt x="458391" y="609600"/>
                  <a:pt x="585430" y="496014"/>
                  <a:pt x="606504" y="348258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0" y="30226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348734" y="457200"/>
                </a:moveTo>
                <a:cubicBezTo>
                  <a:pt x="357426" y="430649"/>
                  <a:pt x="374809" y="406598"/>
                  <a:pt x="394454" y="385882"/>
                </a:cubicBezTo>
                <a:cubicBezTo>
                  <a:pt x="433387" y="344924"/>
                  <a:pt x="457200" y="289560"/>
                  <a:pt x="457200" y="228600"/>
                </a:cubicBezTo>
                <a:cubicBezTo>
                  <a:pt x="457200" y="102394"/>
                  <a:pt x="354806" y="0"/>
                  <a:pt x="228600" y="0"/>
                </a:cubicBezTo>
                <a:cubicBezTo>
                  <a:pt x="102394" y="0"/>
                  <a:pt x="0" y="102394"/>
                  <a:pt x="0" y="228600"/>
                </a:cubicBezTo>
                <a:cubicBezTo>
                  <a:pt x="0" y="289560"/>
                  <a:pt x="23813" y="344924"/>
                  <a:pt x="62746" y="385882"/>
                </a:cubicBezTo>
                <a:cubicBezTo>
                  <a:pt x="82391" y="406598"/>
                  <a:pt x="99893" y="430649"/>
                  <a:pt x="108466" y="457200"/>
                </a:cubicBezTo>
                <a:lnTo>
                  <a:pt x="348615" y="457200"/>
                </a:lnTo>
                <a:close/>
                <a:moveTo>
                  <a:pt x="342900" y="514350"/>
                </a:moveTo>
                <a:lnTo>
                  <a:pt x="114300" y="514350"/>
                </a:lnTo>
                <a:lnTo>
                  <a:pt x="114300" y="533400"/>
                </a:lnTo>
                <a:cubicBezTo>
                  <a:pt x="114300" y="586026"/>
                  <a:pt x="156924" y="628650"/>
                  <a:pt x="209550" y="628650"/>
                </a:cubicBezTo>
                <a:lnTo>
                  <a:pt x="247650" y="628650"/>
                </a:lnTo>
                <a:cubicBezTo>
                  <a:pt x="300276" y="628650"/>
                  <a:pt x="342900" y="586026"/>
                  <a:pt x="342900" y="533400"/>
                </a:cubicBezTo>
                <a:lnTo>
                  <a:pt x="342900" y="514350"/>
                </a:lnTo>
                <a:close/>
                <a:moveTo>
                  <a:pt x="219075" y="133350"/>
                </a:moveTo>
                <a:cubicBezTo>
                  <a:pt x="171688" y="133350"/>
                  <a:pt x="133350" y="171688"/>
                  <a:pt x="133350" y="219075"/>
                </a:cubicBezTo>
                <a:cubicBezTo>
                  <a:pt x="133350" y="234910"/>
                  <a:pt x="120610" y="247650"/>
                  <a:pt x="104775" y="247650"/>
                </a:cubicBezTo>
                <a:cubicBezTo>
                  <a:pt x="88940" y="247650"/>
                  <a:pt x="76200" y="234910"/>
                  <a:pt x="76200" y="219075"/>
                </a:cubicBezTo>
                <a:cubicBezTo>
                  <a:pt x="76200" y="140137"/>
                  <a:pt x="140137" y="76200"/>
                  <a:pt x="219075" y="76200"/>
                </a:cubicBezTo>
                <a:cubicBezTo>
                  <a:pt x="234910" y="76200"/>
                  <a:pt x="247650" y="88940"/>
                  <a:pt x="247650" y="104775"/>
                </a:cubicBezTo>
                <a:cubicBezTo>
                  <a:pt x="247650" y="120610"/>
                  <a:pt x="234910" y="133350"/>
                  <a:pt x="219075" y="13335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6553200" y="39370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3200" y="4292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智慧的转译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" y="49530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传统智慧可抽象为“</a:t>
            </a:r>
            <a:r>
              <a:rPr lang="en-US" sz="18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限制—适配—优化 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”的通用模型，具有永恒生命力。</a:t>
            </a:r>
            <a:endParaRPr lang="en-US" sz="1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结论：事理不息，设计常新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x0.ifengimg.com/59a86a1d3601c1a4389ffcffd726d64056669460.jpg"/>
          <p:cNvPicPr>
            <a:picLocks noChangeAspect="1"/>
          </p:cNvPicPr>
          <p:nvPr/>
        </p:nvPicPr>
        <p:blipFill>
          <a:blip r:embed="rId3"/>
          <a:srcRect l="9566" r="9566"/>
          <a:stretch/>
        </p:blipFill>
        <p:spPr>
          <a:xfrm>
            <a:off x="254000" y="254000"/>
            <a:ext cx="5842000" cy="4064000"/>
          </a:xfrm>
          <a:prstGeom prst="roundRect">
            <a:avLst>
              <a:gd name="adj" fmla="val 250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35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前瞻：构建当代东方设计科学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895600"/>
            <a:ext cx="5435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将“五维框架”转译为现代指标，可形成兼容文化深度与工程精度的新范式。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608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路径：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打通文献、实验、产业三界。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2400" y="4318000"/>
            <a:ext cx="543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目标：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为全球设计话语贡献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东方系统观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设计事理学方法论</a:t>
            </a:r>
            <a:endParaRPr lang="en-US" sz="1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2:04:52-d2t62p61bb2p4onbqpl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事的结构：时间空间行为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事物情理：关系场与合情合理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从造物到造事：体验经济转向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设计事理学：方法论框架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生活方式形态模型：需求洞察工具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事理学价值：知识经济与可持续</a:t>
            </a:r>
            <a:endParaRPr lang="en-US" sz="1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事的结构：时间空间行为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0" y="2362200"/>
            <a:ext cx="1178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0400" y="3073400"/>
            <a:ext cx="1178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过去与未来的统一体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0400" y="3835400"/>
            <a:ext cx="731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时间并非孤立节点，而是包含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记忆与期望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的统一体。过去通过经验投射于未来，深刻影响当下行为。设计需理解用户时间流中的习惯迁移，才能避免功能错位。 </a:t>
            </a:r>
            <a:endParaRPr lang="en-US" sz="1600" dirty="0"/>
          </a:p>
        </p:txBody>
      </p:sp>
      <p:pic>
        <p:nvPicPr>
          <p:cNvPr id="5" name="Image 0" descr="https://kimi-web-img.moonshot.cn/img/thumbs.dreamstime.com/c00573521397da0120fd868388e2d915fcf4310e.jpg"/>
          <p:cNvPicPr>
            <a:picLocks noChangeAspect="1"/>
          </p:cNvPicPr>
          <p:nvPr/>
        </p:nvPicPr>
        <p:blipFill>
          <a:blip r:embed="rId3"/>
          <a:srcRect l="23889" r="23889"/>
          <a:stretch/>
        </p:blipFill>
        <p:spPr>
          <a:xfrm>
            <a:off x="7315200" y="0"/>
            <a:ext cx="4876800" cy="6858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物理与心理的双重塑造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1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空间不仅是物理场所，更是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心理与社会场域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。功能、形式与意义共同定义空间，并先验地规范人的行为角色。设计必须让物与空间磁场同频。 </a:t>
            </a:r>
            <a:endParaRPr lang="en-US" sz="1600" dirty="0"/>
          </a:p>
        </p:txBody>
      </p:sp>
      <p:pic>
        <p:nvPicPr>
          <p:cNvPr id="5" name="Image 0" descr="https://kimi-web-img.moonshot.cn/img/gcdn.daz3d.com/ce52239687ad378f06653acac25cb5b3ad989156.jpg"/>
          <p:cNvPicPr>
            <a:picLocks noChangeAspect="1"/>
          </p:cNvPicPr>
          <p:nvPr/>
        </p:nvPicPr>
        <p:blipFill>
          <a:blip r:embed="rId3"/>
          <a:srcRect l="24180" r="24180"/>
          <a:stretch/>
        </p:blipFill>
        <p:spPr>
          <a:xfrm>
            <a:off x="60960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197600" y="299720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教室</a:t>
            </a:r>
            <a:endParaRPr lang="en-US" sz="1600" dirty="0"/>
          </a:p>
        </p:txBody>
      </p:sp>
      <p:pic>
        <p:nvPicPr>
          <p:cNvPr id="7" name="Image 1" descr="https://kimi-web-img.moonshot.cn/img/theprisondirect.com/2b6e58258c7ec64998a1aba567ce5378d195aa82.jpg"/>
          <p:cNvPicPr>
            <a:picLocks noChangeAspect="1"/>
          </p:cNvPicPr>
          <p:nvPr/>
        </p:nvPicPr>
        <p:blipFill>
          <a:blip r:embed="rId4"/>
          <a:srcRect l="19518" r="19518"/>
          <a:stretch/>
        </p:blipFill>
        <p:spPr>
          <a:xfrm>
            <a:off x="90932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8" name="Text 4"/>
          <p:cNvSpPr/>
          <p:nvPr/>
        </p:nvSpPr>
        <p:spPr>
          <a:xfrm>
            <a:off x="9194800" y="2997200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监狱</a:t>
            </a:r>
            <a:endParaRPr lang="en-US" sz="1600" dirty="0"/>
          </a:p>
        </p:txBody>
      </p:sp>
      <p:pic>
        <p:nvPicPr>
          <p:cNvPr id="9" name="Image 2" descr="https://kimi-web-img.moonshot.cn/img/c8.alamy.com/08f215020a2d947dffb0c746364ba4f49ee4bf88.jpg"/>
          <p:cNvPicPr>
            <a:picLocks noChangeAspect="1"/>
          </p:cNvPicPr>
          <p:nvPr/>
        </p:nvPicPr>
        <p:blipFill>
          <a:blip r:embed="rId5"/>
          <a:srcRect t="33476" b="33476"/>
          <a:stretch/>
        </p:blipFill>
        <p:spPr>
          <a:xfrm>
            <a:off x="6096000" y="3505200"/>
            <a:ext cx="5842000" cy="3098800"/>
          </a:xfrm>
          <a:prstGeom prst="roundRect">
            <a:avLst>
              <a:gd name="adj" fmla="val 3279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197600" y="624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电梯朝向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256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人与物：综合人的整体需求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3368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人包含生理、认知、社会、文化多重维度。仅满足人体尺寸不等于以人为本，还需提供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“精神把手”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——象征、情感、文化脉络。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22516" y="3352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032091" y="3733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93" y="394424"/>
                </a:moveTo>
                <a:cubicBezTo>
                  <a:pt x="4911" y="413891"/>
                  <a:pt x="22146" y="428625"/>
                  <a:pt x="42863" y="428625"/>
                </a:cubicBezTo>
                <a:lnTo>
                  <a:pt x="357188" y="428625"/>
                </a:lnTo>
                <a:cubicBezTo>
                  <a:pt x="380851" y="428625"/>
                  <a:pt x="400050" y="409426"/>
                  <a:pt x="400050" y="385763"/>
                </a:cubicBezTo>
                <a:lnTo>
                  <a:pt x="400050" y="300038"/>
                </a:lnTo>
                <a:cubicBezTo>
                  <a:pt x="400050" y="276374"/>
                  <a:pt x="380851" y="257175"/>
                  <a:pt x="357188" y="257175"/>
                </a:cubicBezTo>
                <a:lnTo>
                  <a:pt x="314325" y="257175"/>
                </a:lnTo>
                <a:lnTo>
                  <a:pt x="314325" y="321469"/>
                </a:lnTo>
                <a:cubicBezTo>
                  <a:pt x="314325" y="333345"/>
                  <a:pt x="304770" y="342900"/>
                  <a:pt x="292894" y="342900"/>
                </a:cubicBezTo>
                <a:cubicBezTo>
                  <a:pt x="281017" y="342900"/>
                  <a:pt x="271463" y="333345"/>
                  <a:pt x="271463" y="321469"/>
                </a:cubicBezTo>
                <a:lnTo>
                  <a:pt x="271463" y="257175"/>
                </a:lnTo>
                <a:lnTo>
                  <a:pt x="214313" y="257175"/>
                </a:lnTo>
                <a:lnTo>
                  <a:pt x="214313" y="321469"/>
                </a:lnTo>
                <a:cubicBezTo>
                  <a:pt x="214313" y="333345"/>
                  <a:pt x="204758" y="342900"/>
                  <a:pt x="192881" y="342900"/>
                </a:cubicBezTo>
                <a:cubicBezTo>
                  <a:pt x="181005" y="342900"/>
                  <a:pt x="171450" y="333345"/>
                  <a:pt x="171450" y="321469"/>
                </a:cubicBezTo>
                <a:lnTo>
                  <a:pt x="171450" y="257175"/>
                </a:lnTo>
                <a:lnTo>
                  <a:pt x="107156" y="257175"/>
                </a:lnTo>
                <a:cubicBezTo>
                  <a:pt x="95280" y="257175"/>
                  <a:pt x="85725" y="247620"/>
                  <a:pt x="85725" y="235744"/>
                </a:cubicBezTo>
                <a:cubicBezTo>
                  <a:pt x="85725" y="223867"/>
                  <a:pt x="95280" y="214313"/>
                  <a:pt x="107156" y="214313"/>
                </a:cubicBezTo>
                <a:lnTo>
                  <a:pt x="171450" y="214313"/>
                </a:lnTo>
                <a:lnTo>
                  <a:pt x="171450" y="157163"/>
                </a:lnTo>
                <a:lnTo>
                  <a:pt x="107156" y="157163"/>
                </a:lnTo>
                <a:cubicBezTo>
                  <a:pt x="95280" y="157163"/>
                  <a:pt x="85725" y="147608"/>
                  <a:pt x="85725" y="135731"/>
                </a:cubicBezTo>
                <a:cubicBezTo>
                  <a:pt x="85725" y="123855"/>
                  <a:pt x="95280" y="114300"/>
                  <a:pt x="107156" y="114300"/>
                </a:cubicBezTo>
                <a:lnTo>
                  <a:pt x="171450" y="114300"/>
                </a:lnTo>
                <a:lnTo>
                  <a:pt x="171450" y="71438"/>
                </a:lnTo>
                <a:cubicBezTo>
                  <a:pt x="171450" y="47774"/>
                  <a:pt x="152251" y="28575"/>
                  <a:pt x="128588" y="28575"/>
                </a:cubicBezTo>
                <a:lnTo>
                  <a:pt x="42863" y="28575"/>
                </a:lnTo>
                <a:cubicBezTo>
                  <a:pt x="19199" y="28575"/>
                  <a:pt x="0" y="47774"/>
                  <a:pt x="0" y="71438"/>
                </a:cubicBezTo>
                <a:lnTo>
                  <a:pt x="0" y="385763"/>
                </a:lnTo>
                <a:cubicBezTo>
                  <a:pt x="0" y="388709"/>
                  <a:pt x="268" y="391656"/>
                  <a:pt x="893" y="3944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774916" y="4673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33616" y="4978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人体工程学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44916" y="4038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3352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5867400" y="3733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638800" y="4673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497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信息加工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8800" y="4038600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50284" y="3352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74134" y="3733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502684" y="4673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0284" y="497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文化脉络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3068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行为与信息：S-O-R与符号加工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81680" y="2768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3649980" y="3086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027680" y="3886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 (刺激)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27680" y="4191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天色渐暗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4080" y="33528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64480" y="2545080"/>
            <a:ext cx="1422400" cy="2082800"/>
          </a:xfrm>
          <a:custGeom>
            <a:avLst/>
            <a:gdLst/>
            <a:ahLst/>
            <a:cxnLst/>
            <a:rect l="l" t="t" r="r" b="b"/>
            <a:pathLst>
              <a:path w="1422400" h="20828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1981198"/>
                </a:lnTo>
                <a:cubicBezTo>
                  <a:pt x="1422400" y="2037311"/>
                  <a:pt x="1376911" y="2082800"/>
                  <a:pt x="1320798" y="2082800"/>
                </a:cubicBezTo>
                <a:lnTo>
                  <a:pt x="101602" y="2082800"/>
                </a:lnTo>
                <a:cubicBezTo>
                  <a:pt x="45489" y="2082800"/>
                  <a:pt x="0" y="2037311"/>
                  <a:pt x="0" y="1981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588000" y="2768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5861050" y="30861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0" y="3886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 (有机体)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0" y="4191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内部操作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3920" y="33528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94320" y="2768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38808" y="3086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29766"/>
                </a:moveTo>
                <a:cubicBezTo>
                  <a:pt x="95250" y="13320"/>
                  <a:pt x="108570" y="0"/>
                  <a:pt x="125016" y="0"/>
                </a:cubicBezTo>
                <a:cubicBezTo>
                  <a:pt x="141461" y="0"/>
                  <a:pt x="154781" y="13320"/>
                  <a:pt x="154781" y="29766"/>
                </a:cubicBezTo>
                <a:lnTo>
                  <a:pt x="154781" y="140047"/>
                </a:lnTo>
                <a:cubicBezTo>
                  <a:pt x="161106" y="134392"/>
                  <a:pt x="169441" y="130969"/>
                  <a:pt x="178594" y="130969"/>
                </a:cubicBezTo>
                <a:cubicBezTo>
                  <a:pt x="193923" y="130969"/>
                  <a:pt x="207020" y="140643"/>
                  <a:pt x="212080" y="154186"/>
                </a:cubicBezTo>
                <a:cubicBezTo>
                  <a:pt x="218629" y="147265"/>
                  <a:pt x="227856" y="142875"/>
                  <a:pt x="238125" y="142875"/>
                </a:cubicBezTo>
                <a:cubicBezTo>
                  <a:pt x="256952" y="142875"/>
                  <a:pt x="272355" y="157386"/>
                  <a:pt x="273769" y="175840"/>
                </a:cubicBezTo>
                <a:cubicBezTo>
                  <a:pt x="280095" y="170111"/>
                  <a:pt x="288503" y="166688"/>
                  <a:pt x="297656" y="166688"/>
                </a:cubicBezTo>
                <a:cubicBezTo>
                  <a:pt x="317376" y="166688"/>
                  <a:pt x="333375" y="182687"/>
                  <a:pt x="333375" y="202406"/>
                </a:cubicBezTo>
                <a:lnTo>
                  <a:pt x="333375" y="285750"/>
                </a:lnTo>
                <a:cubicBezTo>
                  <a:pt x="333375" y="338361"/>
                  <a:pt x="290736" y="381000"/>
                  <a:pt x="238125" y="381000"/>
                </a:cubicBezTo>
                <a:lnTo>
                  <a:pt x="174650" y="381000"/>
                </a:lnTo>
                <a:cubicBezTo>
                  <a:pt x="170929" y="381000"/>
                  <a:pt x="167283" y="380777"/>
                  <a:pt x="163711" y="380256"/>
                </a:cubicBezTo>
                <a:cubicBezTo>
                  <a:pt x="122560" y="376089"/>
                  <a:pt x="84683" y="354955"/>
                  <a:pt x="59531" y="321469"/>
                </a:cubicBezTo>
                <a:lnTo>
                  <a:pt x="5953" y="250031"/>
                </a:lnTo>
                <a:cubicBezTo>
                  <a:pt x="-3944" y="236860"/>
                  <a:pt x="-1265" y="218256"/>
                  <a:pt x="11906" y="208359"/>
                </a:cubicBezTo>
                <a:cubicBezTo>
                  <a:pt x="25078" y="198462"/>
                  <a:pt x="43681" y="201141"/>
                  <a:pt x="53578" y="214313"/>
                </a:cubicBezTo>
                <a:lnTo>
                  <a:pt x="95250" y="269900"/>
                </a:lnTo>
                <a:lnTo>
                  <a:pt x="95250" y="29766"/>
                </a:lnTo>
                <a:close/>
                <a:moveTo>
                  <a:pt x="178594" y="226219"/>
                </a:moveTo>
                <a:cubicBezTo>
                  <a:pt x="178594" y="219670"/>
                  <a:pt x="173236" y="214313"/>
                  <a:pt x="166688" y="214313"/>
                </a:cubicBezTo>
                <a:cubicBezTo>
                  <a:pt x="160139" y="214313"/>
                  <a:pt x="154781" y="219670"/>
                  <a:pt x="154781" y="226219"/>
                </a:cubicBezTo>
                <a:lnTo>
                  <a:pt x="154781" y="297656"/>
                </a:lnTo>
                <a:cubicBezTo>
                  <a:pt x="154781" y="304205"/>
                  <a:pt x="160139" y="309563"/>
                  <a:pt x="166688" y="309563"/>
                </a:cubicBezTo>
                <a:cubicBezTo>
                  <a:pt x="173236" y="309563"/>
                  <a:pt x="178594" y="304205"/>
                  <a:pt x="178594" y="297656"/>
                </a:cubicBezTo>
                <a:lnTo>
                  <a:pt x="178594" y="226219"/>
                </a:lnTo>
                <a:close/>
                <a:moveTo>
                  <a:pt x="214313" y="214313"/>
                </a:moveTo>
                <a:cubicBezTo>
                  <a:pt x="207764" y="214313"/>
                  <a:pt x="202406" y="219670"/>
                  <a:pt x="202406" y="226219"/>
                </a:cubicBezTo>
                <a:lnTo>
                  <a:pt x="202406" y="297656"/>
                </a:lnTo>
                <a:cubicBezTo>
                  <a:pt x="202406" y="304205"/>
                  <a:pt x="207764" y="309563"/>
                  <a:pt x="214313" y="309563"/>
                </a:cubicBezTo>
                <a:cubicBezTo>
                  <a:pt x="220861" y="309563"/>
                  <a:pt x="226219" y="304205"/>
                  <a:pt x="226219" y="297656"/>
                </a:cubicBezTo>
                <a:lnTo>
                  <a:pt x="226219" y="226219"/>
                </a:lnTo>
                <a:cubicBezTo>
                  <a:pt x="226219" y="219670"/>
                  <a:pt x="220861" y="214313"/>
                  <a:pt x="214313" y="214313"/>
                </a:cubicBezTo>
                <a:close/>
                <a:moveTo>
                  <a:pt x="273844" y="226219"/>
                </a:moveTo>
                <a:cubicBezTo>
                  <a:pt x="273844" y="219670"/>
                  <a:pt x="268486" y="214313"/>
                  <a:pt x="261938" y="214313"/>
                </a:cubicBezTo>
                <a:cubicBezTo>
                  <a:pt x="255389" y="214313"/>
                  <a:pt x="250031" y="219670"/>
                  <a:pt x="250031" y="226219"/>
                </a:cubicBezTo>
                <a:lnTo>
                  <a:pt x="250031" y="297656"/>
                </a:lnTo>
                <a:cubicBezTo>
                  <a:pt x="250031" y="304205"/>
                  <a:pt x="255389" y="309563"/>
                  <a:pt x="261938" y="309563"/>
                </a:cubicBezTo>
                <a:cubicBezTo>
                  <a:pt x="268486" y="309563"/>
                  <a:pt x="273844" y="304205"/>
                  <a:pt x="273844" y="297656"/>
                </a:cubicBezTo>
                <a:lnTo>
                  <a:pt x="273844" y="2262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640320" y="3886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 (反应)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40320" y="41910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按下开关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62100" y="4973321"/>
            <a:ext cx="906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设计需建立清晰的</a:t>
            </a: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“条件—行为” </a:t>
            </a: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对应关系，理解人脑如何通过符号、符号结构及符号操作来表征、解释外部世界。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事之情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情感体验与价值判断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2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情是主体完成事件后的内在感受。同一物因事不同而意义迥异。设计需关注体验经济下的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情感溢价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，让物在过程中触发愉悦、回忆或仪式感。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21082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pic>
        <p:nvPicPr>
          <p:cNvPr id="6" name="Image 0" descr="https://kimi-web-img.moonshot.cn/img/amritaharbajan.com/d6144397646a25b68bd01133d55dcc3163dc6de7.pn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6299200" y="23114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315200" y="2413000"/>
            <a:ext cx="210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茶楼饮茶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27686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优雅从容的心理体验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0" y="35306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pic>
        <p:nvPicPr>
          <p:cNvPr id="10" name="Image 1" descr="https://kimi-web-img.moonshot.cn/img/thumbs.dreamstime.com/044fe3d6363114cdcc4c861db6e656f1970f9662.jpg"/>
          <p:cNvPicPr>
            <a:picLocks noChangeAspect="1"/>
          </p:cNvPicPr>
          <p:nvPr/>
        </p:nvPicPr>
        <p:blipFill>
          <a:blip r:embed="rId4"/>
          <a:srcRect l="16625" r="16625"/>
          <a:stretch/>
        </p:blipFill>
        <p:spPr>
          <a:xfrm>
            <a:off x="6299200" y="37338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7315200" y="3835400"/>
            <a:ext cx="22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登山豪饮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0" y="4191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运动后畅快的生理满足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事物情理：关系场与合情合理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422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事之理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032000"/>
            <a:ext cx="1219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元素间关系的规律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85695" y="2844642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2738120" y="3225642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114300"/>
                </a:moveTo>
                <a:cubicBezTo>
                  <a:pt x="57150" y="59102"/>
                  <a:pt x="101964" y="14288"/>
                  <a:pt x="157162" y="14288"/>
                </a:cubicBezTo>
                <a:cubicBezTo>
                  <a:pt x="212361" y="14288"/>
                  <a:pt x="257175" y="59102"/>
                  <a:pt x="257175" y="114300"/>
                </a:cubicBezTo>
                <a:cubicBezTo>
                  <a:pt x="257175" y="169498"/>
                  <a:pt x="212361" y="214313"/>
                  <a:pt x="157163" y="214313"/>
                </a:cubicBezTo>
                <a:cubicBezTo>
                  <a:pt x="101964" y="214313"/>
                  <a:pt x="57150" y="169498"/>
                  <a:pt x="57150" y="114300"/>
                </a:cubicBezTo>
                <a:close/>
                <a:moveTo>
                  <a:pt x="0" y="414338"/>
                </a:moveTo>
                <a:cubicBezTo>
                  <a:pt x="0" y="327541"/>
                  <a:pt x="70366" y="257175"/>
                  <a:pt x="157163" y="257175"/>
                </a:cubicBezTo>
                <a:cubicBezTo>
                  <a:pt x="243959" y="257175"/>
                  <a:pt x="314325" y="327541"/>
                  <a:pt x="314325" y="414338"/>
                </a:cubicBezTo>
                <a:lnTo>
                  <a:pt x="314325" y="419695"/>
                </a:lnTo>
                <a:cubicBezTo>
                  <a:pt x="314325" y="440412"/>
                  <a:pt x="297537" y="457200"/>
                  <a:pt x="276820" y="457200"/>
                </a:cubicBezTo>
                <a:lnTo>
                  <a:pt x="37505" y="457200"/>
                </a:lnTo>
                <a:cubicBezTo>
                  <a:pt x="16788" y="457200"/>
                  <a:pt x="0" y="440412"/>
                  <a:pt x="0" y="419695"/>
                </a:cubicBezTo>
                <a:lnTo>
                  <a:pt x="0" y="414338"/>
                </a:lnTo>
                <a:close/>
                <a:moveTo>
                  <a:pt x="385763" y="57150"/>
                </a:moveTo>
                <a:cubicBezTo>
                  <a:pt x="433075" y="57150"/>
                  <a:pt x="471488" y="95562"/>
                  <a:pt x="471488" y="142875"/>
                </a:cubicBezTo>
                <a:cubicBezTo>
                  <a:pt x="471488" y="190188"/>
                  <a:pt x="433075" y="228600"/>
                  <a:pt x="385763" y="228600"/>
                </a:cubicBezTo>
                <a:cubicBezTo>
                  <a:pt x="338450" y="228600"/>
                  <a:pt x="300038" y="190188"/>
                  <a:pt x="300038" y="142875"/>
                </a:cubicBezTo>
                <a:cubicBezTo>
                  <a:pt x="300038" y="95562"/>
                  <a:pt x="338450" y="57150"/>
                  <a:pt x="385763" y="57150"/>
                </a:cubicBezTo>
                <a:close/>
                <a:moveTo>
                  <a:pt x="385763" y="271463"/>
                </a:moveTo>
                <a:cubicBezTo>
                  <a:pt x="456754" y="271463"/>
                  <a:pt x="514350" y="329059"/>
                  <a:pt x="514350" y="400050"/>
                </a:cubicBezTo>
                <a:lnTo>
                  <a:pt x="514350" y="420053"/>
                </a:lnTo>
                <a:cubicBezTo>
                  <a:pt x="514350" y="440591"/>
                  <a:pt x="497741" y="457200"/>
                  <a:pt x="477203" y="457200"/>
                </a:cubicBezTo>
                <a:lnTo>
                  <a:pt x="347901" y="457200"/>
                </a:lnTo>
                <a:cubicBezTo>
                  <a:pt x="353794" y="446038"/>
                  <a:pt x="357187" y="433268"/>
                  <a:pt x="357187" y="419695"/>
                </a:cubicBezTo>
                <a:lnTo>
                  <a:pt x="357187" y="414338"/>
                </a:lnTo>
                <a:cubicBezTo>
                  <a:pt x="357187" y="368350"/>
                  <a:pt x="341650" y="326023"/>
                  <a:pt x="315664" y="292269"/>
                </a:cubicBezTo>
                <a:cubicBezTo>
                  <a:pt x="335846" y="279142"/>
                  <a:pt x="359956" y="271463"/>
                  <a:pt x="385762" y="2714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131695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31695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行为主体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09695" y="3530442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52779" y="2844642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4833779" y="32256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198779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98779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行为客体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76779" y="3530442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9863" y="2844642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958013" y="3225642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168414"/>
                </a:moveTo>
                <a:cubicBezTo>
                  <a:pt x="0" y="75367"/>
                  <a:pt x="76795" y="0"/>
                  <a:pt x="171450" y="0"/>
                </a:cubicBezTo>
                <a:cubicBezTo>
                  <a:pt x="266105" y="0"/>
                  <a:pt x="342900" y="75367"/>
                  <a:pt x="342900" y="168414"/>
                </a:cubicBezTo>
                <a:cubicBezTo>
                  <a:pt x="342900" y="274945"/>
                  <a:pt x="235565" y="402640"/>
                  <a:pt x="190738" y="451306"/>
                </a:cubicBezTo>
                <a:cubicBezTo>
                  <a:pt x="180201" y="462736"/>
                  <a:pt x="162610" y="462736"/>
                  <a:pt x="152073" y="451306"/>
                </a:cubicBezTo>
                <a:cubicBezTo>
                  <a:pt x="107246" y="402640"/>
                  <a:pt x="-89" y="274945"/>
                  <a:pt x="-89" y="168414"/>
                </a:cubicBezTo>
                <a:close/>
                <a:moveTo>
                  <a:pt x="171450" y="228600"/>
                </a:moveTo>
                <a:cubicBezTo>
                  <a:pt x="202992" y="228600"/>
                  <a:pt x="228600" y="202992"/>
                  <a:pt x="228600" y="171450"/>
                </a:cubicBezTo>
                <a:cubicBezTo>
                  <a:pt x="228600" y="139908"/>
                  <a:pt x="202992" y="114300"/>
                  <a:pt x="171450" y="114300"/>
                </a:cubicBezTo>
                <a:cubicBezTo>
                  <a:pt x="139908" y="114300"/>
                  <a:pt x="114300" y="139908"/>
                  <a:pt x="114300" y="171450"/>
                </a:cubicBezTo>
                <a:cubicBezTo>
                  <a:pt x="114300" y="202992"/>
                  <a:pt x="139908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5863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5863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时空背景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3863" y="3530442"/>
            <a:ext cx="74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86946" y="2844642"/>
            <a:ext cx="1181100" cy="1181100"/>
          </a:xfrm>
          <a:custGeom>
            <a:avLst/>
            <a:gdLst/>
            <a:ahLst/>
            <a:cxnLst/>
            <a:rect l="l" t="t" r="r" b="b"/>
            <a:pathLst>
              <a:path w="1181100" h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6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5096" y="3225642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332946" y="4165442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2946" y="4470242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关系规律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0" y="5130642"/>
            <a:ext cx="1026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理是事各元素间的关系规律，具有客观性，可通过观察与归纳被发现，为“实事求是”方法提供认识论支撑。</a:t>
            </a:r>
            <a:endParaRPr lang="en-US" sz="16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24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合情合理：设计检验的双重标准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438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946400" y="271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5205" y="77778"/>
                </a:moveTo>
                <a:lnTo>
                  <a:pt x="228600" y="96262"/>
                </a:lnTo>
                <a:lnTo>
                  <a:pt x="241995" y="77778"/>
                </a:lnTo>
                <a:cubicBezTo>
                  <a:pt x="264319" y="46881"/>
                  <a:pt x="300216" y="28575"/>
                  <a:pt x="338346" y="28575"/>
                </a:cubicBezTo>
                <a:cubicBezTo>
                  <a:pt x="403979" y="28575"/>
                  <a:pt x="457200" y="81796"/>
                  <a:pt x="457200" y="147429"/>
                </a:cubicBezTo>
                <a:lnTo>
                  <a:pt x="457200" y="149751"/>
                </a:lnTo>
                <a:cubicBezTo>
                  <a:pt x="457200" y="249942"/>
                  <a:pt x="332274" y="366296"/>
                  <a:pt x="267087" y="416034"/>
                </a:cubicBezTo>
                <a:cubicBezTo>
                  <a:pt x="256014" y="424428"/>
                  <a:pt x="242441" y="428625"/>
                  <a:pt x="228600" y="428625"/>
                </a:cubicBezTo>
                <a:cubicBezTo>
                  <a:pt x="214759" y="428625"/>
                  <a:pt x="201097" y="424517"/>
                  <a:pt x="190113" y="416034"/>
                </a:cubicBezTo>
                <a:cubicBezTo>
                  <a:pt x="124926" y="366296"/>
                  <a:pt x="0" y="249942"/>
                  <a:pt x="0" y="149751"/>
                </a:cubicBezTo>
                <a:lnTo>
                  <a:pt x="0" y="147429"/>
                </a:lnTo>
                <a:cubicBezTo>
                  <a:pt x="0" y="81796"/>
                  <a:pt x="53221" y="28575"/>
                  <a:pt x="118854" y="28575"/>
                </a:cubicBezTo>
                <a:cubicBezTo>
                  <a:pt x="156984" y="28575"/>
                  <a:pt x="192881" y="46881"/>
                  <a:pt x="215205" y="777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84200" y="36576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" y="41654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</a:t>
            </a: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情感价值 </a:t>
            </a: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。关注体验经济下的情感溢价，让物在过程中触发愉悦、回忆或仪式感。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9000" y="2438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8788400" y="271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36576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80200" y="41654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合乎</a:t>
            </a: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认知逻辑 </a:t>
            </a: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。让行为顺畅、意义正向，符合人的目的性、认知与思维的逻辑。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5079842"/>
            <a:ext cx="1219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设计需回到具体的事中去检验，看是否“合情合理”，避免负面情感与价值判断。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108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惯习与路径依赖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7178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隐藏之理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428845"/>
            <a:ext cx="5435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QWERTY键盘、VHS制式等“劣胜优”案例揭示了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惯习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的力量。惯习是外在条件内在化的生成结构，具有强大惯性。设计创新需评估路径依赖成本，或通过故事化体验重塑用户期待。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21082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pic>
        <p:nvPicPr>
          <p:cNvPr id="6" name="Image 0" descr="https://kimi-web-img.moonshot.cn/img/thumbs.dreamstime.com/14b87ec648584d87bce12ed52cceabcfb72c2ae0.jpg"/>
          <p:cNvPicPr>
            <a:picLocks noChangeAspect="1"/>
          </p:cNvPicPr>
          <p:nvPr/>
        </p:nvPicPr>
        <p:blipFill>
          <a:blip r:embed="rId3"/>
          <a:srcRect l="16625" r="16625"/>
          <a:stretch/>
        </p:blipFill>
        <p:spPr>
          <a:xfrm>
            <a:off x="6299200" y="23114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315200" y="2413000"/>
            <a:ext cx="353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QWERTY键盘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0" y="2768600"/>
            <a:ext cx="3530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为放慢速度而设计，却因惯习成为标准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0" y="3530600"/>
            <a:ext cx="5842000" cy="1219200"/>
          </a:xfrm>
          <a:custGeom>
            <a:avLst/>
            <a:gdLst/>
            <a:ahLst/>
            <a:cxnLst/>
            <a:rect l="l" t="t" r="r" b="b"/>
            <a:pathLst>
              <a:path w="5842000" h="1219200">
                <a:moveTo>
                  <a:pt x="101596" y="0"/>
                </a:moveTo>
                <a:lnTo>
                  <a:pt x="5740404" y="0"/>
                </a:lnTo>
                <a:cubicBezTo>
                  <a:pt x="5796514" y="0"/>
                  <a:pt x="5842000" y="45486"/>
                  <a:pt x="5842000" y="101596"/>
                </a:cubicBezTo>
                <a:lnTo>
                  <a:pt x="5842000" y="1117604"/>
                </a:lnTo>
                <a:cubicBezTo>
                  <a:pt x="5842000" y="1173714"/>
                  <a:pt x="5796514" y="1219200"/>
                  <a:pt x="5740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pic>
        <p:nvPicPr>
          <p:cNvPr id="10" name="Image 1" descr="https://kimi-web-img.moonshot.cn/img/static.mercdn.net/a804388e91abc385f2bb42b80f0a1ca732afd569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9200" y="3733800"/>
            <a:ext cx="812800" cy="812800"/>
          </a:xfrm>
          <a:prstGeom prst="roundRect">
            <a:avLst>
              <a:gd name="adj" fmla="val 9375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7315200" y="38354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VHS录像系统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0" y="41910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技术略逊，却因市场先占成为主流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hiedesign.in/46a42b50c7de66bb66d233ff3345b1df95411cae.jpg"/>
          <p:cNvPicPr>
            <a:picLocks noChangeAspect="1"/>
          </p:cNvPicPr>
          <p:nvPr/>
        </p:nvPicPr>
        <p:blipFill>
          <a:blip r:embed="rId3"/>
          <a:srcRect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574800" y="660400"/>
            <a:ext cx="904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设计即叙事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574800" y="1473200"/>
            <a:ext cx="904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物是道具，事是核心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0" y="2133600"/>
            <a:ext cx="8534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当功能趋同，</a:t>
            </a:r>
            <a:r>
              <a:rPr lang="en-US" sz="1400" dirty="0">
                <a:solidFill>
                  <a:srgbClr val="FFFFFF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体验 </a:t>
            </a: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成为差异竞争点。设计师应如编剧，预设五幕情节，让物成为推动故事的道具，创造有意义的经历。 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公共洗衣房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把等待变社交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5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Electrolux在社区洗衣房嵌入儿童区、咖啡吧，使无聊等待转化为邻里互动。设计对象从单一机器扩展至整个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服务流程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，创造情感附加值，提升品牌黏性。 </a:t>
            </a:r>
            <a:endParaRPr lang="en-US" sz="1600" dirty="0"/>
          </a:p>
        </p:txBody>
      </p:sp>
      <p:pic>
        <p:nvPicPr>
          <p:cNvPr id="5" name="Image 0" descr="https://kimi-web-img.moonshot.cn/img/static2.bigstockphoto.com/fcf66ee58a79e21e6cb842f3fc47bc451f3caaa7.jpg"/>
          <p:cNvPicPr>
            <a:picLocks noChangeAspect="1"/>
          </p:cNvPicPr>
          <p:nvPr/>
        </p:nvPicPr>
        <p:blipFill>
          <a:blip r:embed="rId3"/>
          <a:srcRect l="15653" r="15653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从造物到造事：体验经济转向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" y="254000"/>
            <a:ext cx="6972300" cy="2044700"/>
          </a:xfrm>
          <a:custGeom>
            <a:avLst/>
            <a:gdLst/>
            <a:ahLst/>
            <a:cxnLst/>
            <a:rect l="l" t="t" r="r" b="b"/>
            <a:pathLst>
              <a:path w="6972300" h="2044700">
                <a:moveTo>
                  <a:pt x="101601" y="0"/>
                </a:moveTo>
                <a:lnTo>
                  <a:pt x="6870699" y="0"/>
                </a:lnTo>
                <a:cubicBezTo>
                  <a:pt x="6926812" y="0"/>
                  <a:pt x="6972300" y="45488"/>
                  <a:pt x="6972300" y="101601"/>
                </a:cubicBezTo>
                <a:lnTo>
                  <a:pt x="6972300" y="1943099"/>
                </a:lnTo>
                <a:cubicBezTo>
                  <a:pt x="6972300" y="1999212"/>
                  <a:pt x="6926812" y="2044700"/>
                  <a:pt x="68706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00615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谁 (Who)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8151" y="1151415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忙碌的主妇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25360" y="254000"/>
            <a:ext cx="4610100" cy="4203700"/>
          </a:xfrm>
          <a:custGeom>
            <a:avLst/>
            <a:gdLst/>
            <a:ahLst/>
            <a:cxnLst/>
            <a:rect l="l" t="t" r="r" b="b"/>
            <a:pathLst>
              <a:path w="4610100" h="4203700">
                <a:moveTo>
                  <a:pt x="101603" y="0"/>
                </a:moveTo>
                <a:lnTo>
                  <a:pt x="4508497" y="0"/>
                </a:lnTo>
                <a:cubicBezTo>
                  <a:pt x="4564573" y="0"/>
                  <a:pt x="4610100" y="45527"/>
                  <a:pt x="4610100" y="101603"/>
                </a:cubicBezTo>
                <a:lnTo>
                  <a:pt x="4610100" y="4102097"/>
                </a:lnTo>
                <a:cubicBezTo>
                  <a:pt x="4610100" y="4158173"/>
                  <a:pt x="4564573" y="4203700"/>
                  <a:pt x="4508497" y="4203700"/>
                </a:cubicBezTo>
                <a:lnTo>
                  <a:pt x="101603" y="4203700"/>
                </a:lnTo>
                <a:cubicBezTo>
                  <a:pt x="45527" y="4203700"/>
                  <a:pt x="0" y="4158173"/>
                  <a:pt x="0" y="41020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8198485" y="1998030"/>
            <a:ext cx="337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何时何地 (When/Where)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66480" y="245523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中国厨房狭窄空间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" y="2404430"/>
            <a:ext cx="6972300" cy="2044700"/>
          </a:xfrm>
          <a:custGeom>
            <a:avLst/>
            <a:gdLst/>
            <a:ahLst/>
            <a:cxnLst/>
            <a:rect l="l" t="t" r="r" b="b"/>
            <a:pathLst>
              <a:path w="6972300" h="2044700">
                <a:moveTo>
                  <a:pt x="101601" y="0"/>
                </a:moveTo>
                <a:lnTo>
                  <a:pt x="6870699" y="0"/>
                </a:lnTo>
                <a:cubicBezTo>
                  <a:pt x="6926812" y="0"/>
                  <a:pt x="6972300" y="45488"/>
                  <a:pt x="6972300" y="101601"/>
                </a:cubicBezTo>
                <a:lnTo>
                  <a:pt x="6972300" y="1943099"/>
                </a:lnTo>
                <a:cubicBezTo>
                  <a:pt x="6972300" y="1999212"/>
                  <a:pt x="6926812" y="2044700"/>
                  <a:pt x="68706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51045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为何 (Why)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58975" y="3301845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快速准备家庭餐食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555015"/>
            <a:ext cx="6972300" cy="2044700"/>
          </a:xfrm>
          <a:custGeom>
            <a:avLst/>
            <a:gdLst/>
            <a:ahLst/>
            <a:cxnLst/>
            <a:rect l="l" t="t" r="r" b="b"/>
            <a:pathLst>
              <a:path w="6972300" h="2044700">
                <a:moveTo>
                  <a:pt x="101601" y="0"/>
                </a:moveTo>
                <a:lnTo>
                  <a:pt x="6870699" y="0"/>
                </a:lnTo>
                <a:cubicBezTo>
                  <a:pt x="6926812" y="0"/>
                  <a:pt x="6972300" y="45488"/>
                  <a:pt x="6972300" y="101601"/>
                </a:cubicBezTo>
                <a:lnTo>
                  <a:pt x="6972300" y="1943099"/>
                </a:lnTo>
                <a:cubicBezTo>
                  <a:pt x="6972300" y="1999212"/>
                  <a:pt x="6926812" y="2044700"/>
                  <a:pt x="68706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401630"/>
            <a:ext cx="182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 (How)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85010" y="545243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用油腻手指调节火力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25360" y="4555015"/>
            <a:ext cx="4610100" cy="2044700"/>
          </a:xfrm>
          <a:custGeom>
            <a:avLst/>
            <a:gdLst/>
            <a:ahLst/>
            <a:cxnLst/>
            <a:rect l="l" t="t" r="r" b="b"/>
            <a:pathLst>
              <a:path w="4610100" h="2044700">
                <a:moveTo>
                  <a:pt x="101601" y="0"/>
                </a:moveTo>
                <a:lnTo>
                  <a:pt x="4508499" y="0"/>
                </a:lnTo>
                <a:cubicBezTo>
                  <a:pt x="4564612" y="0"/>
                  <a:pt x="4610100" y="45488"/>
                  <a:pt x="4610100" y="101601"/>
                </a:cubicBezTo>
                <a:lnTo>
                  <a:pt x="4610100" y="1943099"/>
                </a:lnTo>
                <a:cubicBezTo>
                  <a:pt x="4610100" y="1999212"/>
                  <a:pt x="4564612" y="2044700"/>
                  <a:pt x="45084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994140" y="522383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感受 (Feel)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22080" y="568103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手忙脚乱</a:t>
            </a:r>
            <a:endParaRPr lang="en-US" sz="1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87879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设计事理学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97479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协调内外因的目标系统论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650331" y="3459479"/>
            <a:ext cx="1828800" cy="1270000"/>
          </a:xfrm>
          <a:custGeom>
            <a:avLst/>
            <a:gdLst/>
            <a:ahLst/>
            <a:cxnLst/>
            <a:rect l="l" t="t" r="r" b="b"/>
            <a:pathLst>
              <a:path w="1828800" h="1270000">
                <a:moveTo>
                  <a:pt x="101600" y="0"/>
                </a:moveTo>
                <a:lnTo>
                  <a:pt x="1727200" y="0"/>
                </a:lnTo>
                <a:cubicBezTo>
                  <a:pt x="1783275" y="0"/>
                  <a:pt x="1828800" y="45525"/>
                  <a:pt x="1828800" y="101600"/>
                </a:cubicBezTo>
                <a:lnTo>
                  <a:pt x="1828800" y="1168400"/>
                </a:lnTo>
                <a:cubicBezTo>
                  <a:pt x="1828800" y="1224475"/>
                  <a:pt x="1783275" y="1270000"/>
                  <a:pt x="17272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19851" y="3683000"/>
            <a:ext cx="193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外在因素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19851" y="4038600"/>
            <a:ext cx="193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人、时、空、环境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19851" y="4343400"/>
            <a:ext cx="193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(限制与资源)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24571" y="3860645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6571" y="3479800"/>
            <a:ext cx="1422400" cy="1270000"/>
          </a:xfrm>
          <a:custGeom>
            <a:avLst/>
            <a:gdLst/>
            <a:ahLst/>
            <a:cxnLst/>
            <a:rect l="l" t="t" r="r" b="b"/>
            <a:pathLst>
              <a:path w="1422400" h="12700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1168400"/>
                </a:lnTo>
                <a:cubicBezTo>
                  <a:pt x="1422400" y="1224475"/>
                  <a:pt x="1376875" y="1270000"/>
                  <a:pt x="1320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535771" y="36830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事理学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5771" y="4038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协调与重组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5771" y="43434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(核心关系能力)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3860645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7200" y="3459479"/>
            <a:ext cx="1422400" cy="1270000"/>
          </a:xfrm>
          <a:custGeom>
            <a:avLst/>
            <a:gdLst/>
            <a:ahLst/>
            <a:cxnLst/>
            <a:rect l="l" t="t" r="r" b="b"/>
            <a:pathLst>
              <a:path w="1422400" h="12700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1168400"/>
                </a:lnTo>
                <a:cubicBezTo>
                  <a:pt x="1422400" y="1224475"/>
                  <a:pt x="1376875" y="1270000"/>
                  <a:pt x="1320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6830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内在目标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40386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需求与意义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43434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(出发点与终点)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实事求是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先确诊，再下药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45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现代设计分“实事”与“求是”两阶段：前者研究外部因素发现问题，后者组织内部因素解决问题。复杂问题需系统方法，事理学负责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“实事”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阶段的方法论。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1803716"/>
            <a:ext cx="5842000" cy="1524000"/>
          </a:xfrm>
          <a:custGeom>
            <a:avLst/>
            <a:gdLst/>
            <a:ahLst/>
            <a:cxnLst/>
            <a:rect l="l" t="t" r="r" b="b"/>
            <a:pathLst>
              <a:path w="5842000" h="1524000">
                <a:moveTo>
                  <a:pt x="101605" y="0"/>
                </a:moveTo>
                <a:lnTo>
                  <a:pt x="5740395" y="0"/>
                </a:lnTo>
                <a:cubicBezTo>
                  <a:pt x="5796510" y="0"/>
                  <a:pt x="5842000" y="45490"/>
                  <a:pt x="5842000" y="101605"/>
                </a:cubicBezTo>
                <a:lnTo>
                  <a:pt x="5842000" y="1422395"/>
                </a:lnTo>
                <a:cubicBezTo>
                  <a:pt x="5842000" y="1478510"/>
                  <a:pt x="5796510" y="1524000"/>
                  <a:pt x="5740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6146800" y="2108516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46800" y="2514761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研究外部因素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46800" y="2819561"/>
            <a:ext cx="574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发现问题，定义问题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530600"/>
            <a:ext cx="5842000" cy="1524000"/>
          </a:xfrm>
          <a:custGeom>
            <a:avLst/>
            <a:gdLst/>
            <a:ahLst/>
            <a:cxnLst/>
            <a:rect l="l" t="t" r="r" b="b"/>
            <a:pathLst>
              <a:path w="5842000" h="1524000">
                <a:moveTo>
                  <a:pt x="101605" y="0"/>
                </a:moveTo>
                <a:lnTo>
                  <a:pt x="5740395" y="0"/>
                </a:lnTo>
                <a:cubicBezTo>
                  <a:pt x="5796510" y="0"/>
                  <a:pt x="5842000" y="45490"/>
                  <a:pt x="5842000" y="101605"/>
                </a:cubicBezTo>
                <a:lnTo>
                  <a:pt x="5842000" y="1422395"/>
                </a:lnTo>
                <a:cubicBezTo>
                  <a:pt x="5842000" y="1478510"/>
                  <a:pt x="5796510" y="1524000"/>
                  <a:pt x="5740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6146800" y="3835400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求是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6800" y="4241645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组织内部因素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6800" y="4546445"/>
            <a:ext cx="574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解决问题，创造方案</a:t>
            </a:r>
            <a:endParaRPr lang="en-US" sz="1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设计事理学：方法论框架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46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理论特点：超以象外，得其圜中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39014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3920014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150586" y="37846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考察“象外”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50586" y="41402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关系总和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33628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7871778" y="2844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045200" y="37846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理解“圜中”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45200" y="4140200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核心规律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4902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要理解物，先绕到物后看其外部关系总和。设计研究需跳出物本体，考察人、时、空、行为、目的、情感六维关系场。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05161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理论特点：关系 · 过程 · 理解 · 主体间性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819561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309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3022761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关系主义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3327561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关注元素间关系，而非孤立元素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400" y="2819561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6604000" y="309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12097" y="87570"/>
                </a:moveTo>
                <a:cubicBezTo>
                  <a:pt x="107573" y="90071"/>
                  <a:pt x="104775" y="94893"/>
                  <a:pt x="104775" y="100013"/>
                </a:cubicBezTo>
                <a:lnTo>
                  <a:pt x="104775" y="204787"/>
                </a:lnTo>
                <a:cubicBezTo>
                  <a:pt x="104775" y="209967"/>
                  <a:pt x="107573" y="214729"/>
                  <a:pt x="112097" y="217230"/>
                </a:cubicBezTo>
                <a:cubicBezTo>
                  <a:pt x="116622" y="219730"/>
                  <a:pt x="122099" y="219670"/>
                  <a:pt x="126563" y="216932"/>
                </a:cubicBezTo>
                <a:lnTo>
                  <a:pt x="212288" y="164544"/>
                </a:lnTo>
                <a:cubicBezTo>
                  <a:pt x="216515" y="161925"/>
                  <a:pt x="219135" y="157341"/>
                  <a:pt x="219135" y="152340"/>
                </a:cubicBezTo>
                <a:cubicBezTo>
                  <a:pt x="219135" y="147340"/>
                  <a:pt x="216515" y="142756"/>
                  <a:pt x="212288" y="140137"/>
                </a:cubicBezTo>
                <a:lnTo>
                  <a:pt x="126563" y="87749"/>
                </a:lnTo>
                <a:cubicBezTo>
                  <a:pt x="122158" y="85070"/>
                  <a:pt x="116622" y="84951"/>
                  <a:pt x="112097" y="874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061200" y="3022761"/>
            <a:ext cx="248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过程导向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61200" y="3327561"/>
            <a:ext cx="248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关注动态过程，而非静态状态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0386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" y="4317839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241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理解原则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" y="4546600"/>
            <a:ext cx="218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追求理解，而非因果解释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400" y="40386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65900" y="4317839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61200" y="424180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主体间性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1200" y="4546600"/>
            <a:ext cx="2641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价值判断权在用户，而非设计师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319cd64e668a551592b4e3d4dd4fe915c32b047.jpg"/>
          <p:cNvPicPr>
            <a:picLocks noChangeAspect="1"/>
          </p:cNvPicPr>
          <p:nvPr/>
        </p:nvPicPr>
        <p:blipFill>
          <a:blip r:embed="rId3"/>
          <a:srcRect l="16708" r="16708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1082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资源重组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7178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创新的本质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428839"/>
            <a:ext cx="54356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创新不是发明全新元素，而是对硬件与软件资源进行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再组合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。木拱桥在有限技术下通过结构协调实现长寿命与灾害适应，降低了对高新技术的依赖，为可持续设计提供实践路径。 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微观事理学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观察琐碎细节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39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聚焦具体情境中行为与感知细节，如握持方式、视线移动、情绪起伏。好设计师首先是生活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仔细观察者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，通过微小切口发现未被言明的需求。 </a:t>
            </a:r>
            <a:endParaRPr lang="en-US" sz="1600" dirty="0"/>
          </a:p>
        </p:txBody>
      </p:sp>
      <p:pic>
        <p:nvPicPr>
          <p:cNvPr id="5" name="Image 0" descr="https://kimi-web-img.moonshot.cn/img/thumbs.dreamstime.com/68d89129cff452c78bfea76aafd1010c8e188a0a.jpg"/>
          <p:cNvPicPr>
            <a:picLocks noChangeAspect="1"/>
          </p:cNvPicPr>
          <p:nvPr/>
        </p:nvPicPr>
        <p:blipFill>
          <a:blip r:embed="rId3"/>
          <a:srcRect l="16807" r="16807"/>
          <a:stretch/>
        </p:blipFill>
        <p:spPr>
          <a:xfrm>
            <a:off x="60960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197600" y="2997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握持方式</a:t>
            </a:r>
            <a:endParaRPr lang="en-US" sz="1600" dirty="0"/>
          </a:p>
        </p:txBody>
      </p:sp>
      <p:pic>
        <p:nvPicPr>
          <p:cNvPr id="7" name="Image 1" descr="https://kimi-web-img.moonshot.cn/img/file.xdf.cn/97f3d881ecef0f572da7845b79910fcd290cc15a.jpg"/>
          <p:cNvPicPr>
            <a:picLocks noChangeAspect="1"/>
          </p:cNvPicPr>
          <p:nvPr/>
        </p:nvPicPr>
        <p:blipFill>
          <a:blip r:embed="rId4"/>
          <a:srcRect l="24180" r="24180"/>
          <a:stretch/>
        </p:blipFill>
        <p:spPr>
          <a:xfrm>
            <a:off x="9093200" y="254000"/>
            <a:ext cx="2844800" cy="3098800"/>
          </a:xfrm>
          <a:prstGeom prst="roundRect">
            <a:avLst>
              <a:gd name="adj" fmla="val 3571"/>
            </a:avLst>
          </a:prstGeom>
        </p:spPr>
      </p:pic>
      <p:sp>
        <p:nvSpPr>
          <p:cNvPr id="8" name="Text 4"/>
          <p:cNvSpPr/>
          <p:nvPr/>
        </p:nvSpPr>
        <p:spPr>
          <a:xfrm>
            <a:off x="9194800" y="29972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视线移动</a:t>
            </a:r>
            <a:endParaRPr lang="en-US" sz="1600" dirty="0"/>
          </a:p>
        </p:txBody>
      </p:sp>
      <p:pic>
        <p:nvPicPr>
          <p:cNvPr id="9" name="Image 2" descr="https://kimi-web-img.moonshot.cn/img/thumbs.dreamstime.com/729fd01e7ba00603dd02d6888a076c8a871f2807.jpg"/>
          <p:cNvPicPr>
            <a:picLocks noChangeAspect="1"/>
          </p:cNvPicPr>
          <p:nvPr/>
        </p:nvPicPr>
        <p:blipFill>
          <a:blip r:embed="rId5"/>
          <a:srcRect t="13323" b="13323"/>
          <a:stretch/>
        </p:blipFill>
        <p:spPr>
          <a:xfrm>
            <a:off x="6096000" y="3505200"/>
            <a:ext cx="5842000" cy="3098800"/>
          </a:xfrm>
          <a:prstGeom prst="roundRect">
            <a:avLst>
              <a:gd name="adj" fmla="val 3279"/>
            </a:avLst>
          </a:prstGeom>
        </p:spPr>
      </p:pic>
      <p:sp>
        <p:nvSpPr>
          <p:cNvPr id="10" name="Text 5"/>
          <p:cNvSpPr/>
          <p:nvPr/>
        </p:nvSpPr>
        <p:spPr>
          <a:xfrm>
            <a:off x="6197600" y="6248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情绪起伏</a:t>
            </a:r>
            <a:endParaRPr lang="en-US" sz="1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862e8f41e18889540f3bb2b90df642f599d63dc1"/>
          <p:cNvPicPr>
            <a:picLocks noChangeAspect="1"/>
          </p:cNvPicPr>
          <p:nvPr/>
        </p:nvPicPr>
        <p:blipFill>
          <a:blip r:embed="rId3"/>
          <a:srcRect l="5748" r="5748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宏观事理学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整合人文社科知识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593939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将人类学、社会学等知识注入设计视角，理解类型化人群的目的与情理。每一次研究都增加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“关于设计的知识”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总量，为构建设计科学大树提供养分。 </a:t>
            </a:r>
            <a:endParaRPr lang="en-US" sz="16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生活方式形态模型：需求洞察工具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54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生活方式：事系统的类型化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19200" y="25654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生活方式是人群惯常经历的“事系统”与“意义丛”的结构化总和。通过观察其物与事可反推社会文化位置，模型可用于市场细分与产品定位。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6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1527175" y="3898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都市白领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27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4424363" y="3898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61938" y="196453"/>
                </a:moveTo>
                <a:lnTo>
                  <a:pt x="261938" y="47625"/>
                </a:lnTo>
                <a:cubicBezTo>
                  <a:pt x="261938" y="34454"/>
                  <a:pt x="251296" y="23812"/>
                  <a:pt x="238125" y="23812"/>
                </a:cubicBezTo>
                <a:lnTo>
                  <a:pt x="190500" y="23812"/>
                </a:lnTo>
                <a:cubicBezTo>
                  <a:pt x="177329" y="23812"/>
                  <a:pt x="166688" y="34454"/>
                  <a:pt x="166688" y="47625"/>
                </a:cubicBezTo>
                <a:lnTo>
                  <a:pt x="166688" y="196453"/>
                </a:lnTo>
                <a:cubicBezTo>
                  <a:pt x="166688" y="206350"/>
                  <a:pt x="158725" y="214313"/>
                  <a:pt x="148828" y="214313"/>
                </a:cubicBezTo>
                <a:cubicBezTo>
                  <a:pt x="138931" y="214313"/>
                  <a:pt x="130969" y="206350"/>
                  <a:pt x="130969" y="196453"/>
                </a:cubicBezTo>
                <a:lnTo>
                  <a:pt x="130969" y="58117"/>
                </a:lnTo>
                <a:cubicBezTo>
                  <a:pt x="66973" y="81707"/>
                  <a:pt x="23812" y="142726"/>
                  <a:pt x="23812" y="214313"/>
                </a:cubicBezTo>
                <a:lnTo>
                  <a:pt x="23812" y="261938"/>
                </a:lnTo>
                <a:lnTo>
                  <a:pt x="404813" y="261938"/>
                </a:lnTo>
                <a:lnTo>
                  <a:pt x="404813" y="214313"/>
                </a:lnTo>
                <a:cubicBezTo>
                  <a:pt x="404068" y="143470"/>
                  <a:pt x="361355" y="82079"/>
                  <a:pt x="297656" y="58192"/>
                </a:cubicBezTo>
                <a:lnTo>
                  <a:pt x="297656" y="196453"/>
                </a:lnTo>
                <a:cubicBezTo>
                  <a:pt x="297656" y="206350"/>
                  <a:pt x="289694" y="214313"/>
                  <a:pt x="279797" y="214313"/>
                </a:cubicBezTo>
                <a:cubicBezTo>
                  <a:pt x="269900" y="214313"/>
                  <a:pt x="261938" y="206350"/>
                  <a:pt x="261938" y="196453"/>
                </a:cubicBezTo>
                <a:close/>
                <a:moveTo>
                  <a:pt x="29766" y="297656"/>
                </a:moveTo>
                <a:cubicBezTo>
                  <a:pt x="13320" y="297656"/>
                  <a:pt x="0" y="310976"/>
                  <a:pt x="0" y="327422"/>
                </a:cubicBezTo>
                <a:cubicBezTo>
                  <a:pt x="0" y="343867"/>
                  <a:pt x="13320" y="357188"/>
                  <a:pt x="29766" y="357188"/>
                </a:cubicBezTo>
                <a:lnTo>
                  <a:pt x="398859" y="357188"/>
                </a:lnTo>
                <a:cubicBezTo>
                  <a:pt x="415305" y="357188"/>
                  <a:pt x="428625" y="343867"/>
                  <a:pt x="428625" y="327422"/>
                </a:cubicBezTo>
                <a:cubicBezTo>
                  <a:pt x="428625" y="310976"/>
                  <a:pt x="415305" y="297656"/>
                  <a:pt x="398859" y="297656"/>
                </a:cubicBezTo>
                <a:lnTo>
                  <a:pt x="29766" y="2976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873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进城民工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8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7345363" y="3898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06635" y="71438"/>
                </a:moveTo>
                <a:cubicBezTo>
                  <a:pt x="96217" y="71438"/>
                  <a:pt x="86916" y="78284"/>
                  <a:pt x="83865" y="88255"/>
                </a:cubicBezTo>
                <a:lnTo>
                  <a:pt x="52388" y="190500"/>
                </a:lnTo>
                <a:lnTo>
                  <a:pt x="166688" y="190500"/>
                </a:lnTo>
                <a:cubicBezTo>
                  <a:pt x="179859" y="190500"/>
                  <a:pt x="190500" y="201141"/>
                  <a:pt x="190500" y="214313"/>
                </a:cubicBezTo>
                <a:lnTo>
                  <a:pt x="238125" y="214313"/>
                </a:lnTo>
                <a:cubicBezTo>
                  <a:pt x="238125" y="201141"/>
                  <a:pt x="248766" y="190500"/>
                  <a:pt x="261938" y="190500"/>
                </a:cubicBezTo>
                <a:lnTo>
                  <a:pt x="376238" y="190500"/>
                </a:lnTo>
                <a:lnTo>
                  <a:pt x="344760" y="88255"/>
                </a:lnTo>
                <a:cubicBezTo>
                  <a:pt x="341709" y="78284"/>
                  <a:pt x="332482" y="71438"/>
                  <a:pt x="321990" y="71438"/>
                </a:cubicBezTo>
                <a:lnTo>
                  <a:pt x="297656" y="71438"/>
                </a:lnTo>
                <a:cubicBezTo>
                  <a:pt x="284485" y="71438"/>
                  <a:pt x="273844" y="60796"/>
                  <a:pt x="273844" y="47625"/>
                </a:cubicBezTo>
                <a:cubicBezTo>
                  <a:pt x="273844" y="34454"/>
                  <a:pt x="284485" y="23812"/>
                  <a:pt x="297656" y="23812"/>
                </a:cubicBezTo>
                <a:lnTo>
                  <a:pt x="321990" y="23812"/>
                </a:lnTo>
                <a:cubicBezTo>
                  <a:pt x="353318" y="23812"/>
                  <a:pt x="381074" y="44276"/>
                  <a:pt x="390302" y="74265"/>
                </a:cubicBezTo>
                <a:lnTo>
                  <a:pt x="424086" y="184026"/>
                </a:lnTo>
                <a:cubicBezTo>
                  <a:pt x="427137" y="193849"/>
                  <a:pt x="428625" y="204043"/>
                  <a:pt x="428625" y="214313"/>
                </a:cubicBezTo>
                <a:lnTo>
                  <a:pt x="428625" y="285750"/>
                </a:lnTo>
                <a:cubicBezTo>
                  <a:pt x="428625" y="325189"/>
                  <a:pt x="396627" y="357188"/>
                  <a:pt x="357188" y="357188"/>
                </a:cubicBezTo>
                <a:lnTo>
                  <a:pt x="309563" y="357188"/>
                </a:lnTo>
                <a:cubicBezTo>
                  <a:pt x="270123" y="357188"/>
                  <a:pt x="238125" y="325189"/>
                  <a:pt x="238125" y="285750"/>
                </a:cubicBezTo>
                <a:lnTo>
                  <a:pt x="238125" y="261938"/>
                </a:lnTo>
                <a:lnTo>
                  <a:pt x="190500" y="261938"/>
                </a:lnTo>
                <a:lnTo>
                  <a:pt x="190500" y="285750"/>
                </a:lnTo>
                <a:cubicBezTo>
                  <a:pt x="190500" y="325189"/>
                  <a:pt x="158502" y="357188"/>
                  <a:pt x="119063" y="357188"/>
                </a:cubicBezTo>
                <a:lnTo>
                  <a:pt x="71438" y="357188"/>
                </a:lnTo>
                <a:cubicBezTo>
                  <a:pt x="31998" y="357188"/>
                  <a:pt x="0" y="325189"/>
                  <a:pt x="0" y="285750"/>
                </a:cubicBezTo>
                <a:lnTo>
                  <a:pt x="0" y="214313"/>
                </a:lnTo>
                <a:cubicBezTo>
                  <a:pt x="0" y="204043"/>
                  <a:pt x="1563" y="193849"/>
                  <a:pt x="4539" y="184026"/>
                </a:cubicBezTo>
                <a:lnTo>
                  <a:pt x="38323" y="74265"/>
                </a:lnTo>
                <a:cubicBezTo>
                  <a:pt x="47551" y="44276"/>
                  <a:pt x="75233" y="23812"/>
                  <a:pt x="106635" y="23812"/>
                </a:cubicBezTo>
                <a:lnTo>
                  <a:pt x="130969" y="23812"/>
                </a:lnTo>
                <a:cubicBezTo>
                  <a:pt x="144140" y="23812"/>
                  <a:pt x="154781" y="34454"/>
                  <a:pt x="154781" y="47625"/>
                </a:cubicBezTo>
                <a:cubicBezTo>
                  <a:pt x="154781" y="60796"/>
                  <a:pt x="144140" y="71438"/>
                  <a:pt x="130969" y="71438"/>
                </a:cubicBezTo>
                <a:lnTo>
                  <a:pt x="106635" y="71438"/>
                </a:lnTo>
                <a:close/>
                <a:moveTo>
                  <a:pt x="47625" y="238125"/>
                </a:moveTo>
                <a:lnTo>
                  <a:pt x="47625" y="285750"/>
                </a:lnTo>
                <a:cubicBezTo>
                  <a:pt x="47625" y="298921"/>
                  <a:pt x="58266" y="309563"/>
                  <a:pt x="71438" y="309563"/>
                </a:cubicBezTo>
                <a:lnTo>
                  <a:pt x="119063" y="309563"/>
                </a:lnTo>
                <a:cubicBezTo>
                  <a:pt x="132234" y="309563"/>
                  <a:pt x="142875" y="298921"/>
                  <a:pt x="142875" y="285750"/>
                </a:cubicBezTo>
                <a:lnTo>
                  <a:pt x="142875" y="238125"/>
                </a:lnTo>
                <a:lnTo>
                  <a:pt x="47625" y="238125"/>
                </a:lnTo>
                <a:close/>
                <a:moveTo>
                  <a:pt x="357188" y="309563"/>
                </a:moveTo>
                <a:cubicBezTo>
                  <a:pt x="370359" y="309563"/>
                  <a:pt x="381000" y="298921"/>
                  <a:pt x="381000" y="285750"/>
                </a:cubicBezTo>
                <a:lnTo>
                  <a:pt x="381000" y="238125"/>
                </a:lnTo>
                <a:lnTo>
                  <a:pt x="285750" y="238125"/>
                </a:lnTo>
                <a:lnTo>
                  <a:pt x="285750" y="285750"/>
                </a:lnTo>
                <a:cubicBezTo>
                  <a:pt x="285750" y="298921"/>
                  <a:pt x="296391" y="309563"/>
                  <a:pt x="309563" y="309563"/>
                </a:cubicBezTo>
                <a:lnTo>
                  <a:pt x="357188" y="3095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94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知识分子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9500" y="3581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7800" y="38989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42875" y="59531"/>
                </a:moveTo>
                <a:cubicBezTo>
                  <a:pt x="165874" y="59531"/>
                  <a:pt x="184547" y="40859"/>
                  <a:pt x="184547" y="17859"/>
                </a:cubicBezTo>
                <a:cubicBezTo>
                  <a:pt x="184547" y="-5140"/>
                  <a:pt x="165874" y="-23812"/>
                  <a:pt x="142875" y="-23812"/>
                </a:cubicBezTo>
                <a:cubicBezTo>
                  <a:pt x="119876" y="-23812"/>
                  <a:pt x="101203" y="-5140"/>
                  <a:pt x="101203" y="17859"/>
                </a:cubicBezTo>
                <a:cubicBezTo>
                  <a:pt x="101203" y="40859"/>
                  <a:pt x="119876" y="59531"/>
                  <a:pt x="142875" y="59531"/>
                </a:cubicBezTo>
                <a:close/>
                <a:moveTo>
                  <a:pt x="78432" y="169590"/>
                </a:moveTo>
                <a:lnTo>
                  <a:pt x="95250" y="152772"/>
                </a:lnTo>
                <a:lnTo>
                  <a:pt x="95250" y="204341"/>
                </a:lnTo>
                <a:cubicBezTo>
                  <a:pt x="95250" y="225177"/>
                  <a:pt x="104329" y="245046"/>
                  <a:pt x="120179" y="258589"/>
                </a:cubicBezTo>
                <a:lnTo>
                  <a:pt x="173310" y="304130"/>
                </a:lnTo>
                <a:cubicBezTo>
                  <a:pt x="177701" y="307925"/>
                  <a:pt x="180603" y="313134"/>
                  <a:pt x="181421" y="318864"/>
                </a:cubicBezTo>
                <a:lnTo>
                  <a:pt x="190798" y="384423"/>
                </a:lnTo>
                <a:cubicBezTo>
                  <a:pt x="192658" y="397446"/>
                  <a:pt x="204713" y="406524"/>
                  <a:pt x="217736" y="404664"/>
                </a:cubicBezTo>
                <a:cubicBezTo>
                  <a:pt x="230758" y="402803"/>
                  <a:pt x="239837" y="390748"/>
                  <a:pt x="237976" y="377726"/>
                </a:cubicBezTo>
                <a:lnTo>
                  <a:pt x="228600" y="312167"/>
                </a:lnTo>
                <a:cubicBezTo>
                  <a:pt x="226144" y="294977"/>
                  <a:pt x="217512" y="279350"/>
                  <a:pt x="204341" y="268039"/>
                </a:cubicBezTo>
                <a:lnTo>
                  <a:pt x="178668" y="246013"/>
                </a:lnTo>
                <a:lnTo>
                  <a:pt x="178668" y="160288"/>
                </a:lnTo>
                <a:lnTo>
                  <a:pt x="181496" y="163785"/>
                </a:lnTo>
                <a:cubicBezTo>
                  <a:pt x="195039" y="180752"/>
                  <a:pt x="215578" y="190574"/>
                  <a:pt x="237306" y="190574"/>
                </a:cubicBezTo>
                <a:lnTo>
                  <a:pt x="262012" y="190574"/>
                </a:lnTo>
                <a:cubicBezTo>
                  <a:pt x="275183" y="190574"/>
                  <a:pt x="285824" y="179933"/>
                  <a:pt x="285824" y="166762"/>
                </a:cubicBezTo>
                <a:cubicBezTo>
                  <a:pt x="285824" y="153591"/>
                  <a:pt x="275183" y="142949"/>
                  <a:pt x="262012" y="142949"/>
                </a:cubicBezTo>
                <a:lnTo>
                  <a:pt x="237306" y="142949"/>
                </a:lnTo>
                <a:cubicBezTo>
                  <a:pt x="230088" y="142949"/>
                  <a:pt x="223242" y="139675"/>
                  <a:pt x="218703" y="134020"/>
                </a:cubicBezTo>
                <a:lnTo>
                  <a:pt x="205383" y="117351"/>
                </a:lnTo>
                <a:cubicBezTo>
                  <a:pt x="188268" y="95920"/>
                  <a:pt x="162297" y="83418"/>
                  <a:pt x="134838" y="83418"/>
                </a:cubicBezTo>
                <a:cubicBezTo>
                  <a:pt x="110877" y="83418"/>
                  <a:pt x="87883" y="92943"/>
                  <a:pt x="70991" y="109910"/>
                </a:cubicBezTo>
                <a:lnTo>
                  <a:pt x="44723" y="135880"/>
                </a:lnTo>
                <a:cubicBezTo>
                  <a:pt x="31328" y="149275"/>
                  <a:pt x="23812" y="167432"/>
                  <a:pt x="23812" y="186407"/>
                </a:cubicBezTo>
                <a:lnTo>
                  <a:pt x="23812" y="214313"/>
                </a:lnTo>
                <a:cubicBezTo>
                  <a:pt x="23812" y="227484"/>
                  <a:pt x="34454" y="238125"/>
                  <a:pt x="47625" y="238125"/>
                </a:cubicBezTo>
                <a:cubicBezTo>
                  <a:pt x="60796" y="238125"/>
                  <a:pt x="71438" y="227484"/>
                  <a:pt x="71438" y="214313"/>
                </a:cubicBezTo>
                <a:lnTo>
                  <a:pt x="71438" y="186407"/>
                </a:lnTo>
                <a:cubicBezTo>
                  <a:pt x="71438" y="180082"/>
                  <a:pt x="73968" y="174054"/>
                  <a:pt x="78432" y="169590"/>
                </a:cubicBezTo>
                <a:close/>
                <a:moveTo>
                  <a:pt x="87660" y="303088"/>
                </a:moveTo>
                <a:cubicBezTo>
                  <a:pt x="86544" y="306958"/>
                  <a:pt x="84460" y="310530"/>
                  <a:pt x="81632" y="313358"/>
                </a:cubicBezTo>
                <a:lnTo>
                  <a:pt x="30807" y="364182"/>
                </a:lnTo>
                <a:cubicBezTo>
                  <a:pt x="21506" y="373484"/>
                  <a:pt x="21506" y="388590"/>
                  <a:pt x="30807" y="397892"/>
                </a:cubicBezTo>
                <a:cubicBezTo>
                  <a:pt x="40109" y="407194"/>
                  <a:pt x="55215" y="407194"/>
                  <a:pt x="64517" y="397892"/>
                </a:cubicBezTo>
                <a:lnTo>
                  <a:pt x="115342" y="347067"/>
                </a:lnTo>
                <a:cubicBezTo>
                  <a:pt x="123899" y="338510"/>
                  <a:pt x="130150" y="327868"/>
                  <a:pt x="133499" y="316185"/>
                </a:cubicBezTo>
                <a:lnTo>
                  <a:pt x="135136" y="310530"/>
                </a:lnTo>
                <a:lnTo>
                  <a:pt x="100905" y="281211"/>
                </a:lnTo>
                <a:cubicBezTo>
                  <a:pt x="99045" y="279574"/>
                  <a:pt x="97185" y="277937"/>
                  <a:pt x="95399" y="276151"/>
                </a:cubicBezTo>
                <a:lnTo>
                  <a:pt x="87660" y="3030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4699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空巢老人</a:t>
            </a:r>
            <a:endParaRPr lang="en-US" sz="16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4236" y="30988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144236" y="3505039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不自由支配时间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89650" y="1841500"/>
            <a:ext cx="12700" cy="3175000"/>
          </a:xfrm>
          <a:custGeom>
            <a:avLst/>
            <a:gdLst/>
            <a:ahLst/>
            <a:cxnLst/>
            <a:rect l="l" t="t" r="r" b="b"/>
            <a:pathLst>
              <a:path w="12700" h="3175000">
                <a:moveTo>
                  <a:pt x="0" y="0"/>
                </a:moveTo>
                <a:lnTo>
                  <a:pt x="12700" y="0"/>
                </a:lnTo>
                <a:lnTo>
                  <a:pt x="12700" y="3175000"/>
                </a:lnTo>
                <a:lnTo>
                  <a:pt x="0" y="31750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5" name="Text 3"/>
          <p:cNvSpPr/>
          <p:nvPr/>
        </p:nvSpPr>
        <p:spPr>
          <a:xfrm>
            <a:off x="6051550" y="30988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休息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51550" y="3505039"/>
            <a:ext cx="400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自由支配时间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6400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46446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1792446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86492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32492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6698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072698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66744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712744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06949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8352949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246995" y="5638800"/>
            <a:ext cx="1536700" cy="457200"/>
          </a:xfrm>
          <a:custGeom>
            <a:avLst/>
            <a:gdLst/>
            <a:ahLst/>
            <a:cxnLst/>
            <a:rect l="l" t="t" r="r" b="b"/>
            <a:pathLst>
              <a:path w="1536700" h="457200">
                <a:moveTo>
                  <a:pt x="50799" y="0"/>
                </a:moveTo>
                <a:lnTo>
                  <a:pt x="1485901" y="0"/>
                </a:lnTo>
                <a:cubicBezTo>
                  <a:pt x="1513956" y="0"/>
                  <a:pt x="1536700" y="22744"/>
                  <a:pt x="1536700" y="50799"/>
                </a:cubicBezTo>
                <a:lnTo>
                  <a:pt x="1536700" y="406401"/>
                </a:lnTo>
                <a:cubicBezTo>
                  <a:pt x="1536700" y="434456"/>
                  <a:pt x="1513956" y="457200"/>
                  <a:pt x="1485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9992995" y="5638800"/>
            <a:ext cx="20447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-254000" y="6400961"/>
            <a:ext cx="1270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需求研究模型：通过衣、食、住、行、用、游、交往七维进行定位</a:t>
            </a:r>
            <a:endParaRPr lang="en-US" sz="16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124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347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行为意图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0" y="3403600"/>
            <a:ext cx="1282700" cy="50800"/>
          </a:xfrm>
          <a:custGeom>
            <a:avLst/>
            <a:gdLst/>
            <a:ahLst/>
            <a:cxnLst/>
            <a:rect l="l" t="t" r="r" b="b"/>
            <a:pathLst>
              <a:path w="1282700" h="50800">
                <a:moveTo>
                  <a:pt x="0" y="0"/>
                </a:moveTo>
                <a:lnTo>
                  <a:pt x="1282700" y="0"/>
                </a:lnTo>
                <a:lnTo>
                  <a:pt x="12827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2626"/>
              </a:gs>
              <a:gs pos="100000">
                <a:srgbClr val="8C8C8C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462463" y="3327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" name="Text 4"/>
          <p:cNvSpPr/>
          <p:nvPr/>
        </p:nvSpPr>
        <p:spPr>
          <a:xfrm>
            <a:off x="4381500" y="3124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1500" y="347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目的指向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56500" y="3403600"/>
            <a:ext cx="1282700" cy="50800"/>
          </a:xfrm>
          <a:custGeom>
            <a:avLst/>
            <a:gdLst/>
            <a:ahLst/>
            <a:cxnLst/>
            <a:rect l="l" t="t" r="r" b="b"/>
            <a:pathLst>
              <a:path w="1282700" h="50800">
                <a:moveTo>
                  <a:pt x="0" y="0"/>
                </a:moveTo>
                <a:lnTo>
                  <a:pt x="1282700" y="0"/>
                </a:lnTo>
                <a:lnTo>
                  <a:pt x="12827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8C8C"/>
              </a:gs>
              <a:gs pos="100000">
                <a:srgbClr val="262626"/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8843963" y="33274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123468" y="92631"/>
                </a:moveTo>
                <a:cubicBezTo>
                  <a:pt x="128429" y="97592"/>
                  <a:pt x="128429" y="105648"/>
                  <a:pt x="123468" y="110609"/>
                </a:cubicBezTo>
                <a:lnTo>
                  <a:pt x="47268" y="186809"/>
                </a:lnTo>
                <a:cubicBezTo>
                  <a:pt x="42307" y="191770"/>
                  <a:pt x="34250" y="191770"/>
                  <a:pt x="29289" y="186809"/>
                </a:cubicBezTo>
                <a:cubicBezTo>
                  <a:pt x="24328" y="181848"/>
                  <a:pt x="24328" y="173792"/>
                  <a:pt x="29289" y="168831"/>
                </a:cubicBezTo>
                <a:lnTo>
                  <a:pt x="96520" y="101600"/>
                </a:lnTo>
                <a:lnTo>
                  <a:pt x="29329" y="34369"/>
                </a:lnTo>
                <a:cubicBezTo>
                  <a:pt x="24368" y="29408"/>
                  <a:pt x="24368" y="21352"/>
                  <a:pt x="29329" y="16391"/>
                </a:cubicBezTo>
                <a:cubicBezTo>
                  <a:pt x="34290" y="11430"/>
                  <a:pt x="42347" y="11430"/>
                  <a:pt x="47308" y="16391"/>
                </a:cubicBezTo>
                <a:lnTo>
                  <a:pt x="123507" y="92591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763000" y="3124200"/>
            <a:ext cx="342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3479800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评估调整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254000" y="6350000"/>
            <a:ext cx="127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行为与事模型：通过拆解目的—执行—感知—解释—评估五段，发现行为断裂点。</a:t>
            </a:r>
            <a:endParaRPr lang="en-US" sz="16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13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新工具与方法：多元途径池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66800" y="3124200"/>
            <a:ext cx="1005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事理学不指定单一工具，而提供途径池。选择标准取决于目的与情境，工具价值由使用者的理解深度决定。 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965200" y="4038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38100" y="25400"/>
                </a:moveTo>
                <a:cubicBezTo>
                  <a:pt x="24090" y="25400"/>
                  <a:pt x="12700" y="36790"/>
                  <a:pt x="12700" y="50800"/>
                </a:cubicBezTo>
                <a:lnTo>
                  <a:pt x="12700" y="152400"/>
                </a:lnTo>
                <a:cubicBezTo>
                  <a:pt x="12700" y="166410"/>
                  <a:pt x="24090" y="177800"/>
                  <a:pt x="38100" y="177800"/>
                </a:cubicBezTo>
                <a:lnTo>
                  <a:pt x="139700" y="177800"/>
                </a:lnTo>
                <a:cubicBezTo>
                  <a:pt x="153710" y="177800"/>
                  <a:pt x="165100" y="166410"/>
                  <a:pt x="165100" y="152400"/>
                </a:cubicBezTo>
                <a:lnTo>
                  <a:pt x="165100" y="50800"/>
                </a:lnTo>
                <a:cubicBezTo>
                  <a:pt x="165100" y="36790"/>
                  <a:pt x="153710" y="25400"/>
                  <a:pt x="139700" y="25400"/>
                </a:cubicBezTo>
                <a:lnTo>
                  <a:pt x="38100" y="25400"/>
                </a:lnTo>
                <a:close/>
                <a:moveTo>
                  <a:pt x="184150" y="133350"/>
                </a:moveTo>
                <a:lnTo>
                  <a:pt x="213320" y="156686"/>
                </a:lnTo>
                <a:cubicBezTo>
                  <a:pt x="214987" y="158036"/>
                  <a:pt x="217051" y="158750"/>
                  <a:pt x="219194" y="158750"/>
                </a:cubicBezTo>
                <a:cubicBezTo>
                  <a:pt x="224393" y="158750"/>
                  <a:pt x="228600" y="154543"/>
                  <a:pt x="228600" y="149344"/>
                </a:cubicBezTo>
                <a:lnTo>
                  <a:pt x="228600" y="53856"/>
                </a:lnTo>
                <a:cubicBezTo>
                  <a:pt x="228600" y="48657"/>
                  <a:pt x="224393" y="44450"/>
                  <a:pt x="219194" y="44450"/>
                </a:cubicBezTo>
                <a:cubicBezTo>
                  <a:pt x="217051" y="44450"/>
                  <a:pt x="214987" y="45164"/>
                  <a:pt x="213320" y="46514"/>
                </a:cubicBezTo>
                <a:lnTo>
                  <a:pt x="184150" y="69850"/>
                </a:lnTo>
                <a:lnTo>
                  <a:pt x="184150" y="133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影像人种志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258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8" name="Shape 6"/>
          <p:cNvSpPr/>
          <p:nvPr/>
        </p:nvSpPr>
        <p:spPr>
          <a:xfrm>
            <a:off x="4051300" y="4038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56078"/>
                </a:moveTo>
                <a:lnTo>
                  <a:pt x="101600" y="178832"/>
                </a:lnTo>
                <a:lnTo>
                  <a:pt x="101798" y="178753"/>
                </a:lnTo>
                <a:cubicBezTo>
                  <a:pt x="123468" y="169743"/>
                  <a:pt x="146725" y="165100"/>
                  <a:pt x="170180" y="165100"/>
                </a:cubicBezTo>
                <a:lnTo>
                  <a:pt x="177800" y="165100"/>
                </a:lnTo>
                <a:lnTo>
                  <a:pt x="177800" y="38100"/>
                </a:lnTo>
                <a:lnTo>
                  <a:pt x="170180" y="38100"/>
                </a:lnTo>
                <a:cubicBezTo>
                  <a:pt x="153432" y="38100"/>
                  <a:pt x="136803" y="41434"/>
                  <a:pt x="121325" y="47863"/>
                </a:cubicBezTo>
                <a:cubicBezTo>
                  <a:pt x="114657" y="50641"/>
                  <a:pt x="108069" y="53380"/>
                  <a:pt x="101600" y="56078"/>
                </a:cubicBezTo>
                <a:close/>
                <a:moveTo>
                  <a:pt x="91638" y="24408"/>
                </a:moveTo>
                <a:lnTo>
                  <a:pt x="101600" y="28575"/>
                </a:lnTo>
                <a:lnTo>
                  <a:pt x="111562" y="24408"/>
                </a:lnTo>
                <a:cubicBezTo>
                  <a:pt x="130135" y="16669"/>
                  <a:pt x="150058" y="12700"/>
                  <a:pt x="17018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171450"/>
                </a:lnTo>
                <a:cubicBezTo>
                  <a:pt x="203200" y="181967"/>
                  <a:pt x="194667" y="190500"/>
                  <a:pt x="184150" y="190500"/>
                </a:cubicBezTo>
                <a:lnTo>
                  <a:pt x="170180" y="190500"/>
                </a:lnTo>
                <a:cubicBezTo>
                  <a:pt x="150058" y="190500"/>
                  <a:pt x="130135" y="194469"/>
                  <a:pt x="111562" y="202208"/>
                </a:cubicBezTo>
                <a:lnTo>
                  <a:pt x="106482" y="204311"/>
                </a:lnTo>
                <a:cubicBezTo>
                  <a:pt x="103346" y="205621"/>
                  <a:pt x="99854" y="205621"/>
                  <a:pt x="96718" y="204311"/>
                </a:cubicBezTo>
                <a:lnTo>
                  <a:pt x="91638" y="202208"/>
                </a:lnTo>
                <a:cubicBezTo>
                  <a:pt x="73065" y="194469"/>
                  <a:pt x="53142" y="190500"/>
                  <a:pt x="33020" y="190500"/>
                </a:cubicBezTo>
                <a:lnTo>
                  <a:pt x="19050" y="190500"/>
                </a:lnTo>
                <a:cubicBezTo>
                  <a:pt x="8533" y="190500"/>
                  <a:pt x="0" y="181967"/>
                  <a:pt x="0" y="171450"/>
                </a:cubicBezTo>
                <a:lnTo>
                  <a:pt x="0" y="31750"/>
                </a:lnTo>
                <a:cubicBezTo>
                  <a:pt x="0" y="21233"/>
                  <a:pt x="8533" y="12700"/>
                  <a:pt x="19050" y="12700"/>
                </a:cubicBezTo>
                <a:lnTo>
                  <a:pt x="33020" y="12700"/>
                </a:lnTo>
                <a:cubicBezTo>
                  <a:pt x="53142" y="12700"/>
                  <a:pt x="73065" y="16669"/>
                  <a:pt x="91638" y="244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5814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用户日记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76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7035800" y="4038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67866" y="-6350"/>
                </a:moveTo>
                <a:cubicBezTo>
                  <a:pt x="53419" y="-6350"/>
                  <a:pt x="44926" y="16788"/>
                  <a:pt x="40759" y="38100"/>
                </a:cubicBezTo>
                <a:lnTo>
                  <a:pt x="28575" y="38100"/>
                </a:lnTo>
                <a:cubicBezTo>
                  <a:pt x="23297" y="38100"/>
                  <a:pt x="19050" y="42347"/>
                  <a:pt x="19050" y="47625"/>
                </a:cubicBezTo>
                <a:cubicBezTo>
                  <a:pt x="19050" y="52903"/>
                  <a:pt x="23297" y="57150"/>
                  <a:pt x="28575" y="57150"/>
                </a:cubicBezTo>
                <a:lnTo>
                  <a:pt x="38100" y="57150"/>
                </a:lnTo>
                <a:lnTo>
                  <a:pt x="38100" y="69850"/>
                </a:lnTo>
                <a:cubicBezTo>
                  <a:pt x="38100" y="76597"/>
                  <a:pt x="39410" y="83026"/>
                  <a:pt x="41791" y="88900"/>
                </a:cubicBezTo>
                <a:lnTo>
                  <a:pt x="38100" y="88900"/>
                </a:lnTo>
                <a:lnTo>
                  <a:pt x="38100" y="88900"/>
                </a:lnTo>
                <a:lnTo>
                  <a:pt x="29964" y="88900"/>
                </a:lnTo>
                <a:cubicBezTo>
                  <a:pt x="23932" y="88900"/>
                  <a:pt x="19050" y="93782"/>
                  <a:pt x="19050" y="99814"/>
                </a:cubicBezTo>
                <a:cubicBezTo>
                  <a:pt x="19050" y="101005"/>
                  <a:pt x="19248" y="102156"/>
                  <a:pt x="19606" y="103267"/>
                </a:cubicBezTo>
                <a:lnTo>
                  <a:pt x="31075" y="137636"/>
                </a:lnTo>
                <a:cubicBezTo>
                  <a:pt x="15954" y="150654"/>
                  <a:pt x="6350" y="169902"/>
                  <a:pt x="6350" y="191413"/>
                </a:cubicBezTo>
                <a:cubicBezTo>
                  <a:pt x="6350" y="197922"/>
                  <a:pt x="11628" y="203200"/>
                  <a:pt x="18137" y="203200"/>
                </a:cubicBezTo>
                <a:lnTo>
                  <a:pt x="159663" y="203200"/>
                </a:lnTo>
                <a:cubicBezTo>
                  <a:pt x="166172" y="203200"/>
                  <a:pt x="171450" y="197922"/>
                  <a:pt x="171450" y="191413"/>
                </a:cubicBezTo>
                <a:cubicBezTo>
                  <a:pt x="171450" y="169902"/>
                  <a:pt x="161846" y="150654"/>
                  <a:pt x="146725" y="137676"/>
                </a:cubicBezTo>
                <a:lnTo>
                  <a:pt x="158194" y="103307"/>
                </a:lnTo>
                <a:cubicBezTo>
                  <a:pt x="158552" y="102195"/>
                  <a:pt x="158750" y="101044"/>
                  <a:pt x="158750" y="99854"/>
                </a:cubicBezTo>
                <a:cubicBezTo>
                  <a:pt x="158750" y="93821"/>
                  <a:pt x="153868" y="88940"/>
                  <a:pt x="147836" y="88940"/>
                </a:cubicBezTo>
                <a:lnTo>
                  <a:pt x="139700" y="88940"/>
                </a:lnTo>
                <a:lnTo>
                  <a:pt x="139700" y="88940"/>
                </a:lnTo>
                <a:lnTo>
                  <a:pt x="136009" y="88940"/>
                </a:lnTo>
                <a:cubicBezTo>
                  <a:pt x="138390" y="83066"/>
                  <a:pt x="139700" y="76637"/>
                  <a:pt x="139700" y="69890"/>
                </a:cubicBezTo>
                <a:lnTo>
                  <a:pt x="139700" y="57190"/>
                </a:lnTo>
                <a:lnTo>
                  <a:pt x="149225" y="57190"/>
                </a:lnTo>
                <a:cubicBezTo>
                  <a:pt x="154503" y="57190"/>
                  <a:pt x="158750" y="52943"/>
                  <a:pt x="158750" y="47665"/>
                </a:cubicBezTo>
                <a:cubicBezTo>
                  <a:pt x="158750" y="42386"/>
                  <a:pt x="154503" y="38140"/>
                  <a:pt x="149225" y="38140"/>
                </a:cubicBezTo>
                <a:lnTo>
                  <a:pt x="137041" y="38140"/>
                </a:lnTo>
                <a:cubicBezTo>
                  <a:pt x="132913" y="16827"/>
                  <a:pt x="124381" y="-6310"/>
                  <a:pt x="109934" y="-6310"/>
                </a:cubicBezTo>
                <a:cubicBezTo>
                  <a:pt x="106124" y="-6310"/>
                  <a:pt x="102394" y="-4763"/>
                  <a:pt x="99020" y="-3056"/>
                </a:cubicBezTo>
                <a:cubicBezTo>
                  <a:pt x="95766" y="-1429"/>
                  <a:pt x="91718" y="40"/>
                  <a:pt x="88900" y="40"/>
                </a:cubicBezTo>
                <a:cubicBezTo>
                  <a:pt x="86082" y="40"/>
                  <a:pt x="82034" y="-1429"/>
                  <a:pt x="78780" y="-3056"/>
                </a:cubicBezTo>
                <a:cubicBezTo>
                  <a:pt x="75406" y="-4802"/>
                  <a:pt x="71676" y="-6350"/>
                  <a:pt x="67866" y="-6350"/>
                </a:cubicBezTo>
                <a:close/>
                <a:moveTo>
                  <a:pt x="105053" y="185896"/>
                </a:moveTo>
                <a:lnTo>
                  <a:pt x="95210" y="157758"/>
                </a:lnTo>
                <a:lnTo>
                  <a:pt x="106283" y="144859"/>
                </a:lnTo>
                <a:cubicBezTo>
                  <a:pt x="107355" y="143589"/>
                  <a:pt x="107950" y="142002"/>
                  <a:pt x="107950" y="140335"/>
                </a:cubicBezTo>
                <a:cubicBezTo>
                  <a:pt x="107950" y="136485"/>
                  <a:pt x="104854" y="133390"/>
                  <a:pt x="101005" y="133390"/>
                </a:cubicBezTo>
                <a:lnTo>
                  <a:pt x="76795" y="133390"/>
                </a:lnTo>
                <a:cubicBezTo>
                  <a:pt x="72946" y="133390"/>
                  <a:pt x="69850" y="136485"/>
                  <a:pt x="69850" y="140335"/>
                </a:cubicBezTo>
                <a:cubicBezTo>
                  <a:pt x="69850" y="142002"/>
                  <a:pt x="70445" y="143589"/>
                  <a:pt x="71517" y="144859"/>
                </a:cubicBezTo>
                <a:lnTo>
                  <a:pt x="82590" y="157758"/>
                </a:lnTo>
                <a:lnTo>
                  <a:pt x="72747" y="185896"/>
                </a:lnTo>
                <a:lnTo>
                  <a:pt x="50125" y="114300"/>
                </a:lnTo>
                <a:lnTo>
                  <a:pt x="64294" y="114300"/>
                </a:lnTo>
                <a:cubicBezTo>
                  <a:pt x="71596" y="118348"/>
                  <a:pt x="79970" y="120650"/>
                  <a:pt x="88900" y="120650"/>
                </a:cubicBezTo>
                <a:cubicBezTo>
                  <a:pt x="97830" y="120650"/>
                  <a:pt x="106204" y="118348"/>
                  <a:pt x="113506" y="114300"/>
                </a:cubicBezTo>
                <a:lnTo>
                  <a:pt x="127675" y="114300"/>
                </a:lnTo>
                <a:lnTo>
                  <a:pt x="105053" y="185896"/>
                </a:lnTo>
                <a:close/>
                <a:moveTo>
                  <a:pt x="88900" y="101600"/>
                </a:moveTo>
                <a:cubicBezTo>
                  <a:pt x="75128" y="101600"/>
                  <a:pt x="63421" y="92829"/>
                  <a:pt x="59015" y="80566"/>
                </a:cubicBezTo>
                <a:cubicBezTo>
                  <a:pt x="61277" y="81836"/>
                  <a:pt x="63897" y="82550"/>
                  <a:pt x="66675" y="82550"/>
                </a:cubicBezTo>
                <a:lnTo>
                  <a:pt x="71596" y="82550"/>
                </a:lnTo>
                <a:cubicBezTo>
                  <a:pt x="78145" y="82550"/>
                  <a:pt x="83939" y="78343"/>
                  <a:pt x="86003" y="72152"/>
                </a:cubicBezTo>
                <a:cubicBezTo>
                  <a:pt x="86916" y="69374"/>
                  <a:pt x="90845" y="69374"/>
                  <a:pt x="91757" y="72152"/>
                </a:cubicBezTo>
                <a:cubicBezTo>
                  <a:pt x="93821" y="78343"/>
                  <a:pt x="99655" y="82550"/>
                  <a:pt x="106164" y="82550"/>
                </a:cubicBezTo>
                <a:lnTo>
                  <a:pt x="111085" y="82550"/>
                </a:lnTo>
                <a:cubicBezTo>
                  <a:pt x="113863" y="82550"/>
                  <a:pt x="116483" y="81836"/>
                  <a:pt x="118745" y="80566"/>
                </a:cubicBezTo>
                <a:cubicBezTo>
                  <a:pt x="114340" y="92829"/>
                  <a:pt x="102632" y="101600"/>
                  <a:pt x="88860" y="101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影子追踪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9400" y="3835400"/>
            <a:ext cx="2768600" cy="609600"/>
          </a:xfrm>
          <a:custGeom>
            <a:avLst/>
            <a:gdLst/>
            <a:ahLst/>
            <a:cxnLst/>
            <a:rect l="l" t="t" r="r" b="b"/>
            <a:pathLst>
              <a:path w="2768600" h="6096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507998"/>
                </a:lnTo>
                <a:cubicBezTo>
                  <a:pt x="2768600" y="564111"/>
                  <a:pt x="2723111" y="609600"/>
                  <a:pt x="2666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9500" y="4038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0" y="3835400"/>
            <a:ext cx="24130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焦点团体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733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知识经济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8829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创造需求即创造市场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93939"/>
            <a:ext cx="5435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知识经济靠新需求拉动，设计通过售前研究</a:t>
            </a:r>
            <a:r>
              <a:rPr lang="en-US" sz="1600" dirty="0">
                <a:solidFill>
                  <a:srgbClr val="333333"/>
                </a:solidFill>
                <a:highlight>
                  <a:srgbClr val="FFFFFF">
                    <a:alpha val="30196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创造消费者 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。事理学将需求发现前置，使创新从满足需求转向创造需求，为发展中国家提供非资源依赖的增长路径。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6000" y="1701961"/>
            <a:ext cx="5842000" cy="1270000"/>
          </a:xfrm>
          <a:custGeom>
            <a:avLst/>
            <a:gdLst/>
            <a:ahLst/>
            <a:cxnLst/>
            <a:rect l="l" t="t" r="r" b="b"/>
            <a:pathLst>
              <a:path w="5842000" h="1270000">
                <a:moveTo>
                  <a:pt x="101600" y="0"/>
                </a:moveTo>
                <a:lnTo>
                  <a:pt x="5740400" y="0"/>
                </a:lnTo>
                <a:cubicBezTo>
                  <a:pt x="5796475" y="0"/>
                  <a:pt x="5842000" y="45525"/>
                  <a:pt x="5842000" y="101600"/>
                </a:cubicBezTo>
                <a:lnTo>
                  <a:pt x="5842000" y="1168400"/>
                </a:lnTo>
                <a:cubicBezTo>
                  <a:pt x="5842000" y="1224475"/>
                  <a:pt x="5796475" y="1270000"/>
                  <a:pt x="57404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6146800" y="2006761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传统模式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46800" y="2413000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满足已知需求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6153" y="3175000"/>
            <a:ext cx="391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事理学推动 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3886200"/>
            <a:ext cx="5842000" cy="1270000"/>
          </a:xfrm>
          <a:custGeom>
            <a:avLst/>
            <a:gdLst/>
            <a:ahLst/>
            <a:cxnLst/>
            <a:rect l="l" t="t" r="r" b="b"/>
            <a:pathLst>
              <a:path w="5842000" h="1270000">
                <a:moveTo>
                  <a:pt x="101600" y="0"/>
                </a:moveTo>
                <a:lnTo>
                  <a:pt x="5740400" y="0"/>
                </a:lnTo>
                <a:cubicBezTo>
                  <a:pt x="5796475" y="0"/>
                  <a:pt x="5842000" y="45525"/>
                  <a:pt x="5842000" y="101600"/>
                </a:cubicBezTo>
                <a:lnTo>
                  <a:pt x="5842000" y="1168400"/>
                </a:lnTo>
                <a:cubicBezTo>
                  <a:pt x="5842000" y="1224475"/>
                  <a:pt x="5796475" y="1270000"/>
                  <a:pt x="57404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0" name="Text 8"/>
          <p:cNvSpPr/>
          <p:nvPr/>
        </p:nvSpPr>
        <p:spPr>
          <a:xfrm>
            <a:off x="6146800" y="4191000"/>
            <a:ext cx="574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创新模式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6800" y="4597239"/>
            <a:ext cx="574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创造潜在需求</a:t>
            </a:r>
            <a:endParaRPr lang="en-US" sz="16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3-d2t62pe1bb2p4onbqp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45" y="0"/>
            <a:ext cx="12310745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事理学实战：筷子与雅筑家居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04:52-d2t62p61bb2p4onbqp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2:04:51-d2t62ou1bb2p4onbqph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2:04:52-d2t62p61bb2p4onbqpj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2:04:52-d2t62p61bb2p4onbqpk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2:04:52-d2t62p61bb2p4onbqpl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项目缘起：从造物到造事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人群画像：锁定北京中产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田野深描：早餐八情境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洞察整合：四大需求24痛点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概念输出：五大主题方案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雅筑家居：广东中产居住研究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1-d2t62ou1bb2p4onbqp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2028825"/>
            <a:ext cx="1036955" cy="5365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1-d2t62ou1bb2p4onbqp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135" y="3959225"/>
            <a:ext cx="701040" cy="6826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2:04:51-d2t62ou1bb2p4onbqpf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45" y="5082540"/>
            <a:ext cx="701040" cy="6826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5-12:04:51-d2t62ou1bb2p4onbqpg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355" y="913130"/>
            <a:ext cx="6510655" cy="111569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5-12:04:51-d2t62ou1bb2p4onbqp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4865" y="4791075"/>
            <a:ext cx="3218815" cy="1841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556885" y="4103370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人群四分：生活方式画像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5556885" y="5222240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方法总结：事理学实战要诀</a:t>
            </a:r>
            <a:endParaRPr lang="en-US" sz="16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项目缘起：从造物到造事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0"/>
            <a:ext cx="1198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研究转向：把早餐当戏剧看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2209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463800"/>
            <a:ext cx="8534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传统调研只问“买什么”，事理学要求先拍“早餐剧”。通过细粒度记录流程，让隐藏需求自然浮现。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400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472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7" name="Shape 5"/>
          <p:cNvSpPr/>
          <p:nvPr/>
        </p:nvSpPr>
        <p:spPr>
          <a:xfrm>
            <a:off x="115379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ubicBezTo>
                  <a:pt x="0" y="85360"/>
                  <a:pt x="85360" y="0"/>
                  <a:pt x="190500" y="0"/>
                </a:cubicBezTo>
                <a:close/>
                <a:moveTo>
                  <a:pt x="172641" y="89297"/>
                </a:moveTo>
                <a:lnTo>
                  <a:pt x="172641" y="190500"/>
                </a:lnTo>
                <a:cubicBezTo>
                  <a:pt x="172641" y="196453"/>
                  <a:pt x="175617" y="202034"/>
                  <a:pt x="180603" y="205383"/>
                </a:cubicBezTo>
                <a:lnTo>
                  <a:pt x="252040" y="253008"/>
                </a:lnTo>
                <a:cubicBezTo>
                  <a:pt x="260226" y="258514"/>
                  <a:pt x="271314" y="256282"/>
                  <a:pt x="276820" y="248022"/>
                </a:cubicBezTo>
                <a:cubicBezTo>
                  <a:pt x="282327" y="239762"/>
                  <a:pt x="280095" y="228749"/>
                  <a:pt x="271835" y="223242"/>
                </a:cubicBezTo>
                <a:lnTo>
                  <a:pt x="208359" y="180975"/>
                </a:lnTo>
                <a:lnTo>
                  <a:pt x="208359" y="89297"/>
                </a:lnTo>
                <a:cubicBezTo>
                  <a:pt x="208359" y="79400"/>
                  <a:pt x="200397" y="71438"/>
                  <a:pt x="190500" y="71438"/>
                </a:cubicBezTo>
                <a:cubicBezTo>
                  <a:pt x="180603" y="71438"/>
                  <a:pt x="172641" y="79400"/>
                  <a:pt x="172641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8392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049" y="4851400"/>
            <a:ext cx="114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清晨7点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3144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216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610" y="38481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6136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4851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一家三口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888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8960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7" name="Shape 15"/>
          <p:cNvSpPr/>
          <p:nvPr/>
        </p:nvSpPr>
        <p:spPr>
          <a:xfrm>
            <a:off x="5884863" y="38481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12663" y="9823"/>
                </a:moveTo>
                <a:cubicBezTo>
                  <a:pt x="120253" y="14139"/>
                  <a:pt x="123453" y="23515"/>
                  <a:pt x="120104" y="31626"/>
                </a:cubicBezTo>
                <a:lnTo>
                  <a:pt x="102840" y="73521"/>
                </a:lnTo>
                <a:cubicBezTo>
                  <a:pt x="99938" y="80665"/>
                  <a:pt x="92646" y="84981"/>
                  <a:pt x="84981" y="84237"/>
                </a:cubicBezTo>
                <a:lnTo>
                  <a:pt x="69949" y="82748"/>
                </a:lnTo>
                <a:cubicBezTo>
                  <a:pt x="58564" y="113779"/>
                  <a:pt x="58043" y="148010"/>
                  <a:pt x="68387" y="179412"/>
                </a:cubicBezTo>
                <a:lnTo>
                  <a:pt x="85055" y="177775"/>
                </a:lnTo>
                <a:cubicBezTo>
                  <a:pt x="92720" y="177031"/>
                  <a:pt x="99938" y="181347"/>
                  <a:pt x="102915" y="188491"/>
                </a:cubicBezTo>
                <a:lnTo>
                  <a:pt x="120179" y="230386"/>
                </a:lnTo>
                <a:cubicBezTo>
                  <a:pt x="123527" y="238497"/>
                  <a:pt x="120328" y="247799"/>
                  <a:pt x="112737" y="252189"/>
                </a:cubicBezTo>
                <a:lnTo>
                  <a:pt x="110579" y="253380"/>
                </a:lnTo>
                <a:cubicBezTo>
                  <a:pt x="85576" y="267667"/>
                  <a:pt x="49783" y="265435"/>
                  <a:pt x="31552" y="237306"/>
                </a:cubicBezTo>
                <a:cubicBezTo>
                  <a:pt x="-10344" y="172864"/>
                  <a:pt x="-10344" y="89148"/>
                  <a:pt x="31552" y="24705"/>
                </a:cubicBezTo>
                <a:cubicBezTo>
                  <a:pt x="49857" y="-3349"/>
                  <a:pt x="85651" y="-5581"/>
                  <a:pt x="110579" y="8632"/>
                </a:cubicBezTo>
                <a:lnTo>
                  <a:pt x="112737" y="9823"/>
                </a:lnTo>
                <a:close/>
                <a:moveTo>
                  <a:pt x="166688" y="250031"/>
                </a:moveTo>
                <a:lnTo>
                  <a:pt x="144140" y="13022"/>
                </a:lnTo>
                <a:cubicBezTo>
                  <a:pt x="143470" y="6028"/>
                  <a:pt x="148977" y="0"/>
                  <a:pt x="155972" y="0"/>
                </a:cubicBezTo>
                <a:lnTo>
                  <a:pt x="397073" y="0"/>
                </a:lnTo>
                <a:cubicBezTo>
                  <a:pt x="412924" y="0"/>
                  <a:pt x="424309" y="15106"/>
                  <a:pt x="419993" y="30361"/>
                </a:cubicBezTo>
                <a:lnTo>
                  <a:pt x="411584" y="59531"/>
                </a:lnTo>
                <a:lnTo>
                  <a:pt x="327422" y="59531"/>
                </a:lnTo>
                <a:cubicBezTo>
                  <a:pt x="317525" y="59531"/>
                  <a:pt x="309563" y="67494"/>
                  <a:pt x="309563" y="77391"/>
                </a:cubicBezTo>
                <a:cubicBezTo>
                  <a:pt x="309563" y="87288"/>
                  <a:pt x="317525" y="95250"/>
                  <a:pt x="327422" y="95250"/>
                </a:cubicBezTo>
                <a:lnTo>
                  <a:pt x="401389" y="95250"/>
                </a:lnTo>
                <a:lnTo>
                  <a:pt x="387772" y="142875"/>
                </a:lnTo>
                <a:lnTo>
                  <a:pt x="327422" y="142875"/>
                </a:lnTo>
                <a:cubicBezTo>
                  <a:pt x="317525" y="142875"/>
                  <a:pt x="309563" y="150837"/>
                  <a:pt x="309563" y="160734"/>
                </a:cubicBezTo>
                <a:cubicBezTo>
                  <a:pt x="309563" y="170631"/>
                  <a:pt x="317525" y="178594"/>
                  <a:pt x="327422" y="178594"/>
                </a:cubicBezTo>
                <a:lnTo>
                  <a:pt x="377577" y="178594"/>
                </a:lnTo>
                <a:lnTo>
                  <a:pt x="357188" y="250031"/>
                </a:lnTo>
                <a:lnTo>
                  <a:pt x="166688" y="250031"/>
                </a:lnTo>
                <a:close/>
                <a:moveTo>
                  <a:pt x="172641" y="285750"/>
                </a:moveTo>
                <a:lnTo>
                  <a:pt x="351234" y="285750"/>
                </a:lnTo>
                <a:cubicBezTo>
                  <a:pt x="367680" y="285750"/>
                  <a:pt x="381000" y="299070"/>
                  <a:pt x="381000" y="315516"/>
                </a:cubicBezTo>
                <a:lnTo>
                  <a:pt x="381000" y="351234"/>
                </a:lnTo>
                <a:cubicBezTo>
                  <a:pt x="381000" y="367680"/>
                  <a:pt x="367680" y="381000"/>
                  <a:pt x="351234" y="381000"/>
                </a:cubicBezTo>
                <a:lnTo>
                  <a:pt x="172641" y="381000"/>
                </a:lnTo>
                <a:cubicBezTo>
                  <a:pt x="156195" y="381000"/>
                  <a:pt x="142875" y="367680"/>
                  <a:pt x="142875" y="351234"/>
                </a:cubicBezTo>
                <a:lnTo>
                  <a:pt x="142875" y="315516"/>
                </a:lnTo>
                <a:cubicBezTo>
                  <a:pt x="142875" y="299070"/>
                  <a:pt x="156195" y="285750"/>
                  <a:pt x="172641" y="285750"/>
                </a:cubicBezTo>
                <a:close/>
                <a:moveTo>
                  <a:pt x="261938" y="351234"/>
                </a:moveTo>
                <a:cubicBezTo>
                  <a:pt x="271794" y="351234"/>
                  <a:pt x="279797" y="343232"/>
                  <a:pt x="279797" y="333375"/>
                </a:cubicBezTo>
                <a:cubicBezTo>
                  <a:pt x="279797" y="323518"/>
                  <a:pt x="271794" y="315516"/>
                  <a:pt x="261938" y="315516"/>
                </a:cubicBezTo>
                <a:cubicBezTo>
                  <a:pt x="252081" y="315516"/>
                  <a:pt x="244078" y="323518"/>
                  <a:pt x="244078" y="333375"/>
                </a:cubicBezTo>
                <a:cubicBezTo>
                  <a:pt x="244078" y="343232"/>
                  <a:pt x="252081" y="351234"/>
                  <a:pt x="261938" y="3512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63880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37029" y="48514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6分钟备餐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8632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704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8611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321469"/>
                </a:moveTo>
                <a:lnTo>
                  <a:pt x="47625" y="190500"/>
                </a:lnTo>
                <a:cubicBezTo>
                  <a:pt x="21357" y="190500"/>
                  <a:pt x="0" y="169143"/>
                  <a:pt x="0" y="142875"/>
                </a:cubicBezTo>
                <a:cubicBezTo>
                  <a:pt x="0" y="-18231"/>
                  <a:pt x="381000" y="-18231"/>
                  <a:pt x="381000" y="142875"/>
                </a:cubicBezTo>
                <a:cubicBezTo>
                  <a:pt x="381000" y="169143"/>
                  <a:pt x="359643" y="190500"/>
                  <a:pt x="333375" y="190500"/>
                </a:cubicBezTo>
                <a:lnTo>
                  <a:pt x="333375" y="321469"/>
                </a:lnTo>
                <a:cubicBezTo>
                  <a:pt x="333375" y="341188"/>
                  <a:pt x="317376" y="357188"/>
                  <a:pt x="297656" y="357188"/>
                </a:cubicBezTo>
                <a:lnTo>
                  <a:pt x="83344" y="357188"/>
                </a:lnTo>
                <a:cubicBezTo>
                  <a:pt x="63624" y="357188"/>
                  <a:pt x="47625" y="341188"/>
                  <a:pt x="47625" y="3214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01624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4851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牛奶面包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763760" y="3479800"/>
            <a:ext cx="2171700" cy="1778000"/>
          </a:xfrm>
          <a:custGeom>
            <a:avLst/>
            <a:gdLst/>
            <a:ahLst/>
            <a:cxnLst/>
            <a:rect l="l" t="t" r="r" b="b"/>
            <a:pathLst>
              <a:path w="2171700" h="1778000">
                <a:moveTo>
                  <a:pt x="101595" y="0"/>
                </a:moveTo>
                <a:lnTo>
                  <a:pt x="2070105" y="0"/>
                </a:lnTo>
                <a:cubicBezTo>
                  <a:pt x="2126214" y="0"/>
                  <a:pt x="2171700" y="45486"/>
                  <a:pt x="2171700" y="101595"/>
                </a:cubicBezTo>
                <a:lnTo>
                  <a:pt x="2171700" y="1676405"/>
                </a:lnTo>
                <a:cubicBezTo>
                  <a:pt x="2171700" y="1732514"/>
                  <a:pt x="2126214" y="1778000"/>
                  <a:pt x="20701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44480" y="363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3555" y="384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80293"/>
                </a:moveTo>
                <a:lnTo>
                  <a:pt x="179338" y="64815"/>
                </a:lnTo>
                <a:cubicBezTo>
                  <a:pt x="160734" y="39067"/>
                  <a:pt x="130894" y="23812"/>
                  <a:pt x="99045" y="23812"/>
                </a:cubicBezTo>
                <a:cubicBezTo>
                  <a:pt x="44351" y="23812"/>
                  <a:pt x="0" y="68163"/>
                  <a:pt x="0" y="122858"/>
                </a:cubicBezTo>
                <a:lnTo>
                  <a:pt x="0" y="124792"/>
                </a:lnTo>
                <a:cubicBezTo>
                  <a:pt x="0" y="142354"/>
                  <a:pt x="4614" y="160511"/>
                  <a:pt x="12353" y="178594"/>
                </a:cubicBezTo>
                <a:lnTo>
                  <a:pt x="91232" y="178594"/>
                </a:lnTo>
                <a:cubicBezTo>
                  <a:pt x="93613" y="178594"/>
                  <a:pt x="95771" y="177180"/>
                  <a:pt x="96738" y="174947"/>
                </a:cubicBezTo>
                <a:lnTo>
                  <a:pt x="120402" y="118170"/>
                </a:lnTo>
                <a:cubicBezTo>
                  <a:pt x="123155" y="111621"/>
                  <a:pt x="129555" y="107305"/>
                  <a:pt x="136624" y="107156"/>
                </a:cubicBezTo>
                <a:cubicBezTo>
                  <a:pt x="143694" y="107007"/>
                  <a:pt x="150242" y="111175"/>
                  <a:pt x="153144" y="117649"/>
                </a:cubicBezTo>
                <a:lnTo>
                  <a:pt x="191319" y="202406"/>
                </a:lnTo>
                <a:lnTo>
                  <a:pt x="222126" y="140791"/>
                </a:lnTo>
                <a:cubicBezTo>
                  <a:pt x="225177" y="134764"/>
                  <a:pt x="231353" y="130894"/>
                  <a:pt x="238125" y="130894"/>
                </a:cubicBezTo>
                <a:cubicBezTo>
                  <a:pt x="244897" y="130894"/>
                  <a:pt x="251073" y="134689"/>
                  <a:pt x="254124" y="140791"/>
                </a:cubicBezTo>
                <a:lnTo>
                  <a:pt x="271388" y="175245"/>
                </a:lnTo>
                <a:cubicBezTo>
                  <a:pt x="272430" y="177254"/>
                  <a:pt x="274439" y="178519"/>
                  <a:pt x="276746" y="178519"/>
                </a:cubicBezTo>
                <a:lnTo>
                  <a:pt x="368722" y="178519"/>
                </a:lnTo>
                <a:cubicBezTo>
                  <a:pt x="376535" y="160437"/>
                  <a:pt x="381074" y="142280"/>
                  <a:pt x="381074" y="124718"/>
                </a:cubicBezTo>
                <a:lnTo>
                  <a:pt x="381074" y="122783"/>
                </a:lnTo>
                <a:cubicBezTo>
                  <a:pt x="381000" y="68163"/>
                  <a:pt x="336649" y="23812"/>
                  <a:pt x="281955" y="23812"/>
                </a:cubicBezTo>
                <a:cubicBezTo>
                  <a:pt x="250180" y="23812"/>
                  <a:pt x="220266" y="39067"/>
                  <a:pt x="201662" y="64815"/>
                </a:cubicBezTo>
                <a:lnTo>
                  <a:pt x="190500" y="80218"/>
                </a:lnTo>
                <a:close/>
                <a:moveTo>
                  <a:pt x="349448" y="214313"/>
                </a:moveTo>
                <a:lnTo>
                  <a:pt x="276671" y="214313"/>
                </a:lnTo>
                <a:cubicBezTo>
                  <a:pt x="260896" y="214313"/>
                  <a:pt x="246459" y="205383"/>
                  <a:pt x="239390" y="191244"/>
                </a:cubicBezTo>
                <a:lnTo>
                  <a:pt x="238125" y="188714"/>
                </a:lnTo>
                <a:lnTo>
                  <a:pt x="206499" y="252040"/>
                </a:lnTo>
                <a:cubicBezTo>
                  <a:pt x="203448" y="258217"/>
                  <a:pt x="197048" y="262086"/>
                  <a:pt x="190128" y="261938"/>
                </a:cubicBezTo>
                <a:cubicBezTo>
                  <a:pt x="183207" y="261789"/>
                  <a:pt x="177031" y="257696"/>
                  <a:pt x="174203" y="251445"/>
                </a:cubicBezTo>
                <a:lnTo>
                  <a:pt x="137517" y="169962"/>
                </a:lnTo>
                <a:lnTo>
                  <a:pt x="129704" y="188714"/>
                </a:lnTo>
                <a:cubicBezTo>
                  <a:pt x="123230" y="204267"/>
                  <a:pt x="108049" y="214387"/>
                  <a:pt x="91232" y="214387"/>
                </a:cubicBezTo>
                <a:lnTo>
                  <a:pt x="31552" y="214387"/>
                </a:lnTo>
                <a:cubicBezTo>
                  <a:pt x="66675" y="269304"/>
                  <a:pt x="123081" y="319832"/>
                  <a:pt x="158353" y="346770"/>
                </a:cubicBezTo>
                <a:cubicBezTo>
                  <a:pt x="167580" y="353764"/>
                  <a:pt x="178891" y="357262"/>
                  <a:pt x="190426" y="357262"/>
                </a:cubicBezTo>
                <a:cubicBezTo>
                  <a:pt x="201960" y="357262"/>
                  <a:pt x="213345" y="353839"/>
                  <a:pt x="222498" y="346770"/>
                </a:cubicBezTo>
                <a:cubicBezTo>
                  <a:pt x="257919" y="319757"/>
                  <a:pt x="314325" y="269230"/>
                  <a:pt x="349448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93680" y="4546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情绪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0" y="4851400"/>
            <a:ext cx="121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匆忙温馨</a:t>
            </a:r>
            <a:endParaRPr lang="en-US" sz="1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256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生活方式：事系统与意义丛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352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同一功能，因场景差异被赋予截然不同的情感价值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895600"/>
            <a:ext cx="5689600" cy="1676400"/>
          </a:xfrm>
          <a:custGeom>
            <a:avLst/>
            <a:gdLst/>
            <a:ahLst/>
            <a:cxnLst/>
            <a:rect l="l" t="t" r="r" b="b"/>
            <a:pathLst>
              <a:path w="5689600" h="1676400">
                <a:moveTo>
                  <a:pt x="101607" y="0"/>
                </a:moveTo>
                <a:lnTo>
                  <a:pt x="5587993" y="0"/>
                </a:lnTo>
                <a:cubicBezTo>
                  <a:pt x="5644109" y="0"/>
                  <a:pt x="5689600" y="45491"/>
                  <a:pt x="5689600" y="101607"/>
                </a:cubicBezTo>
                <a:lnTo>
                  <a:pt x="5689600" y="1574793"/>
                </a:lnTo>
                <a:cubicBezTo>
                  <a:pt x="5689600" y="1630909"/>
                  <a:pt x="5644109" y="1676400"/>
                  <a:pt x="55879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275" y="331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551" y="10716"/>
                </a:moveTo>
                <a:cubicBezTo>
                  <a:pt x="46955" y="4614"/>
                  <a:pt x="41821" y="0"/>
                  <a:pt x="35719" y="0"/>
                </a:cubicBezTo>
                <a:cubicBezTo>
                  <a:pt x="29617" y="0"/>
                  <a:pt x="24482" y="4614"/>
                  <a:pt x="23812" y="10641"/>
                </a:cubicBezTo>
                <a:lnTo>
                  <a:pt x="13320" y="111398"/>
                </a:lnTo>
                <a:cubicBezTo>
                  <a:pt x="12353" y="115863"/>
                  <a:pt x="11906" y="120402"/>
                  <a:pt x="11906" y="124941"/>
                </a:cubicBezTo>
                <a:cubicBezTo>
                  <a:pt x="11906" y="159097"/>
                  <a:pt x="38026" y="187151"/>
                  <a:pt x="71438" y="190202"/>
                </a:cubicBezTo>
                <a:lnTo>
                  <a:pt x="71438" y="357188"/>
                </a:lnTo>
                <a:cubicBezTo>
                  <a:pt x="71438" y="370359"/>
                  <a:pt x="82079" y="381000"/>
                  <a:pt x="95250" y="381000"/>
                </a:cubicBezTo>
                <a:cubicBezTo>
                  <a:pt x="108421" y="381000"/>
                  <a:pt x="119063" y="370359"/>
                  <a:pt x="119063" y="357188"/>
                </a:cubicBezTo>
                <a:lnTo>
                  <a:pt x="119063" y="190202"/>
                </a:lnTo>
                <a:cubicBezTo>
                  <a:pt x="152474" y="187151"/>
                  <a:pt x="178594" y="159097"/>
                  <a:pt x="178594" y="124941"/>
                </a:cubicBezTo>
                <a:cubicBezTo>
                  <a:pt x="178594" y="120402"/>
                  <a:pt x="178147" y="115863"/>
                  <a:pt x="177180" y="111398"/>
                </a:cubicBezTo>
                <a:lnTo>
                  <a:pt x="166613" y="10641"/>
                </a:lnTo>
                <a:cubicBezTo>
                  <a:pt x="166018" y="4614"/>
                  <a:pt x="160883" y="0"/>
                  <a:pt x="154781" y="0"/>
                </a:cubicBezTo>
                <a:cubicBezTo>
                  <a:pt x="148679" y="0"/>
                  <a:pt x="143545" y="4614"/>
                  <a:pt x="142949" y="10716"/>
                </a:cubicBezTo>
                <a:lnTo>
                  <a:pt x="132829" y="111547"/>
                </a:lnTo>
                <a:cubicBezTo>
                  <a:pt x="132383" y="115788"/>
                  <a:pt x="128811" y="119063"/>
                  <a:pt x="124569" y="119063"/>
                </a:cubicBezTo>
                <a:cubicBezTo>
                  <a:pt x="120253" y="119063"/>
                  <a:pt x="116681" y="115788"/>
                  <a:pt x="116235" y="111472"/>
                </a:cubicBezTo>
                <a:lnTo>
                  <a:pt x="107082" y="10864"/>
                </a:lnTo>
                <a:cubicBezTo>
                  <a:pt x="106561" y="4688"/>
                  <a:pt x="101426" y="0"/>
                  <a:pt x="95250" y="0"/>
                </a:cubicBezTo>
                <a:cubicBezTo>
                  <a:pt x="89074" y="0"/>
                  <a:pt x="83939" y="4688"/>
                  <a:pt x="83418" y="10864"/>
                </a:cubicBezTo>
                <a:lnTo>
                  <a:pt x="74265" y="111472"/>
                </a:lnTo>
                <a:cubicBezTo>
                  <a:pt x="73893" y="115788"/>
                  <a:pt x="70247" y="119063"/>
                  <a:pt x="65931" y="119063"/>
                </a:cubicBezTo>
                <a:cubicBezTo>
                  <a:pt x="61615" y="119063"/>
                  <a:pt x="58043" y="115788"/>
                  <a:pt x="57671" y="111547"/>
                </a:cubicBezTo>
                <a:lnTo>
                  <a:pt x="47551" y="10716"/>
                </a:lnTo>
                <a:close/>
                <a:moveTo>
                  <a:pt x="333375" y="0"/>
                </a:moveTo>
                <a:cubicBezTo>
                  <a:pt x="321469" y="0"/>
                  <a:pt x="238125" y="23812"/>
                  <a:pt x="238125" y="130969"/>
                </a:cubicBezTo>
                <a:lnTo>
                  <a:pt x="238125" y="214313"/>
                </a:lnTo>
                <a:cubicBezTo>
                  <a:pt x="238125" y="240581"/>
                  <a:pt x="259482" y="261938"/>
                  <a:pt x="285750" y="261938"/>
                </a:cubicBezTo>
                <a:lnTo>
                  <a:pt x="309563" y="261938"/>
                </a:lnTo>
                <a:lnTo>
                  <a:pt x="309563" y="357188"/>
                </a:lnTo>
                <a:cubicBezTo>
                  <a:pt x="309563" y="370359"/>
                  <a:pt x="320204" y="381000"/>
                  <a:pt x="333375" y="381000"/>
                </a:cubicBezTo>
                <a:cubicBezTo>
                  <a:pt x="346546" y="381000"/>
                  <a:pt x="357188" y="370359"/>
                  <a:pt x="357188" y="357188"/>
                </a:cubicBezTo>
                <a:lnTo>
                  <a:pt x="357188" y="23812"/>
                </a:lnTo>
                <a:cubicBezTo>
                  <a:pt x="357188" y="10641"/>
                  <a:pt x="346546" y="0"/>
                  <a:pt x="33337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302000"/>
            <a:ext cx="172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卤煮火烧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800" y="39624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劳动者蹲在街边快速果腹，是效率与温饱的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功能性意义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8400" y="2895600"/>
            <a:ext cx="5689600" cy="1676400"/>
          </a:xfrm>
          <a:custGeom>
            <a:avLst/>
            <a:gdLst/>
            <a:ahLst/>
            <a:cxnLst/>
            <a:rect l="l" t="t" r="r" b="b"/>
            <a:pathLst>
              <a:path w="5689600" h="1676400">
                <a:moveTo>
                  <a:pt x="101607" y="0"/>
                </a:moveTo>
                <a:lnTo>
                  <a:pt x="5587993" y="0"/>
                </a:lnTo>
                <a:cubicBezTo>
                  <a:pt x="5644109" y="0"/>
                  <a:pt x="5689600" y="45491"/>
                  <a:pt x="5689600" y="101607"/>
                </a:cubicBezTo>
                <a:lnTo>
                  <a:pt x="5689600" y="1574793"/>
                </a:lnTo>
                <a:cubicBezTo>
                  <a:pt x="5689600" y="1630909"/>
                  <a:pt x="5644109" y="1676400"/>
                  <a:pt x="55879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3050" y="33147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115788" y="12874"/>
                </a:moveTo>
                <a:cubicBezTo>
                  <a:pt x="121295" y="2232"/>
                  <a:pt x="133871" y="-2679"/>
                  <a:pt x="145107" y="1414"/>
                </a:cubicBezTo>
                <a:lnTo>
                  <a:pt x="238125" y="35347"/>
                </a:lnTo>
                <a:lnTo>
                  <a:pt x="331143" y="1414"/>
                </a:lnTo>
                <a:cubicBezTo>
                  <a:pt x="342379" y="-2679"/>
                  <a:pt x="354955" y="2232"/>
                  <a:pt x="360462" y="12874"/>
                </a:cubicBezTo>
                <a:lnTo>
                  <a:pt x="419100" y="126653"/>
                </a:lnTo>
                <a:cubicBezTo>
                  <a:pt x="440531" y="168176"/>
                  <a:pt x="426765" y="217661"/>
                  <a:pt x="390451" y="243185"/>
                </a:cubicBezTo>
                <a:lnTo>
                  <a:pt x="413742" y="307330"/>
                </a:lnTo>
                <a:lnTo>
                  <a:pt x="444252" y="296168"/>
                </a:lnTo>
                <a:cubicBezTo>
                  <a:pt x="456605" y="291703"/>
                  <a:pt x="470297" y="298028"/>
                  <a:pt x="474762" y="310381"/>
                </a:cubicBezTo>
                <a:cubicBezTo>
                  <a:pt x="479227" y="322734"/>
                  <a:pt x="472901" y="336426"/>
                  <a:pt x="460549" y="340891"/>
                </a:cubicBezTo>
                <a:cubicBezTo>
                  <a:pt x="425276" y="353764"/>
                  <a:pt x="390004" y="366564"/>
                  <a:pt x="354732" y="379437"/>
                </a:cubicBezTo>
                <a:cubicBezTo>
                  <a:pt x="342379" y="383977"/>
                  <a:pt x="328687" y="377577"/>
                  <a:pt x="324222" y="365224"/>
                </a:cubicBezTo>
                <a:cubicBezTo>
                  <a:pt x="319757" y="352871"/>
                  <a:pt x="326082" y="339179"/>
                  <a:pt x="338435" y="334714"/>
                </a:cubicBezTo>
                <a:lnTo>
                  <a:pt x="368945" y="323552"/>
                </a:lnTo>
                <a:lnTo>
                  <a:pt x="345653" y="259407"/>
                </a:lnTo>
                <a:cubicBezTo>
                  <a:pt x="301451" y="263277"/>
                  <a:pt x="259184" y="234181"/>
                  <a:pt x="248915" y="188565"/>
                </a:cubicBezTo>
                <a:lnTo>
                  <a:pt x="238051" y="140419"/>
                </a:lnTo>
                <a:lnTo>
                  <a:pt x="227186" y="188565"/>
                </a:lnTo>
                <a:cubicBezTo>
                  <a:pt x="216917" y="234181"/>
                  <a:pt x="174650" y="263277"/>
                  <a:pt x="130448" y="259407"/>
                </a:cubicBezTo>
                <a:lnTo>
                  <a:pt x="107156" y="323552"/>
                </a:lnTo>
                <a:lnTo>
                  <a:pt x="137666" y="334714"/>
                </a:lnTo>
                <a:cubicBezTo>
                  <a:pt x="150019" y="339254"/>
                  <a:pt x="156418" y="352871"/>
                  <a:pt x="151879" y="365224"/>
                </a:cubicBezTo>
                <a:cubicBezTo>
                  <a:pt x="147340" y="377577"/>
                  <a:pt x="133722" y="383977"/>
                  <a:pt x="121369" y="379437"/>
                </a:cubicBezTo>
                <a:cubicBezTo>
                  <a:pt x="86097" y="366564"/>
                  <a:pt x="50825" y="353690"/>
                  <a:pt x="15553" y="340891"/>
                </a:cubicBezTo>
                <a:cubicBezTo>
                  <a:pt x="3200" y="336352"/>
                  <a:pt x="-3200" y="322734"/>
                  <a:pt x="1339" y="310381"/>
                </a:cubicBezTo>
                <a:cubicBezTo>
                  <a:pt x="5879" y="298028"/>
                  <a:pt x="19571" y="291703"/>
                  <a:pt x="31924" y="296168"/>
                </a:cubicBezTo>
                <a:lnTo>
                  <a:pt x="62433" y="307330"/>
                </a:lnTo>
                <a:lnTo>
                  <a:pt x="85725" y="243185"/>
                </a:lnTo>
                <a:cubicBezTo>
                  <a:pt x="49485" y="217661"/>
                  <a:pt x="35793" y="168176"/>
                  <a:pt x="57224" y="126653"/>
                </a:cubicBezTo>
                <a:lnTo>
                  <a:pt x="115788" y="12874"/>
                </a:lnTo>
                <a:close/>
                <a:moveTo>
                  <a:pt x="148530" y="53355"/>
                </a:moveTo>
                <a:lnTo>
                  <a:pt x="128290" y="92646"/>
                </a:lnTo>
                <a:lnTo>
                  <a:pt x="194667" y="116830"/>
                </a:lnTo>
                <a:lnTo>
                  <a:pt x="204415" y="73744"/>
                </a:lnTo>
                <a:lnTo>
                  <a:pt x="148530" y="53355"/>
                </a:lnTo>
                <a:close/>
                <a:moveTo>
                  <a:pt x="327794" y="53355"/>
                </a:moveTo>
                <a:lnTo>
                  <a:pt x="271909" y="73744"/>
                </a:lnTo>
                <a:lnTo>
                  <a:pt x="281657" y="116830"/>
                </a:lnTo>
                <a:lnTo>
                  <a:pt x="348035" y="92646"/>
                </a:lnTo>
                <a:lnTo>
                  <a:pt x="327794" y="5335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0" y="3302000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香港美食城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3200" y="39624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老板与官员社交，是身份彰显与关系维系的</a:t>
            </a: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象征性意义</a:t>
            </a: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" y="48768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设计师需先画出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人群→事→意义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地图，再决定造物方向。</a:t>
            </a:r>
            <a:endParaRPr lang="en-US" sz="16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跨文化框架：港韩日京四地同题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3114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全球化浪潮下，亚洲传统被稀释。理解“吃”背后的文化脚本，是找到设计与商业缝隙的关键。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1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5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47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香港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22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8" name="Image 1" descr="https://kimi-web-img.moonshot.cn/img/thumbs.dreamstime.com/44fa54909e808df77671636791d720f0b83dfdd4.jpg"/>
          <p:cNvPicPr>
            <a:picLocks noChangeAspect="1"/>
          </p:cNvPicPr>
          <p:nvPr/>
        </p:nvPicPr>
        <p:blipFill>
          <a:blip r:embed="rId4"/>
          <a:srcRect l="13844" r="13844"/>
          <a:stretch/>
        </p:blipFill>
        <p:spPr>
          <a:xfrm>
            <a:off x="3873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9" name="Text 5"/>
          <p:cNvSpPr/>
          <p:nvPr/>
        </p:nvSpPr>
        <p:spPr>
          <a:xfrm>
            <a:off x="3568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韩国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743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1" name="Image 2" descr="https://kimi-web-img.moonshot.cn/img/windows10spotlight.com/4b53e573d17f02bd13a452163e593782e39049a7.jpg"/>
          <p:cNvPicPr>
            <a:picLocks noChangeAspect="1"/>
          </p:cNvPicPr>
          <p:nvPr/>
        </p:nvPicPr>
        <p:blipFill>
          <a:blip r:embed="rId5"/>
          <a:srcRect l="21875" r="21875"/>
          <a:stretch/>
        </p:blipFill>
        <p:spPr>
          <a:xfrm>
            <a:off x="6794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12" name="Text 7"/>
          <p:cNvSpPr/>
          <p:nvPr/>
        </p:nvSpPr>
        <p:spPr>
          <a:xfrm>
            <a:off x="6489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日本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9664700" y="30734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762000" y="0"/>
                </a:lnTo>
                <a:cubicBezTo>
                  <a:pt x="1182559" y="0"/>
                  <a:pt x="1524000" y="341441"/>
                  <a:pt x="1524000" y="762000"/>
                </a:cubicBezTo>
                <a:lnTo>
                  <a:pt x="1524000" y="762000"/>
                </a:lnTo>
                <a:cubicBezTo>
                  <a:pt x="1524000" y="1182559"/>
                  <a:pt x="1182559" y="1524000"/>
                  <a:pt x="762000" y="1524000"/>
                </a:cubicBezTo>
                <a:lnTo>
                  <a:pt x="762000" y="1524000"/>
                </a:lnTo>
                <a:cubicBezTo>
                  <a:pt x="341441" y="1524000"/>
                  <a:pt x="0" y="1182559"/>
                  <a:pt x="0" y="762000"/>
                </a:cubicBezTo>
                <a:lnTo>
                  <a:pt x="0" y="762000"/>
                </a:lnTo>
                <a:cubicBezTo>
                  <a:pt x="0" y="341441"/>
                  <a:pt x="341441" y="0"/>
                  <a:pt x="7620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4" name="Image 3" descr="https://kimi-web-img.moonshot.cn/img/www.publicdomainpictures.net/674cff8f4b53a293484a14de978c6f1dcba651dc.jpg"/>
          <p:cNvPicPr>
            <a:picLocks noChangeAspect="1"/>
          </p:cNvPicPr>
          <p:nvPr/>
        </p:nvPicPr>
        <p:blipFill>
          <a:blip r:embed="rId6"/>
          <a:srcRect l="16667" r="16667"/>
          <a:stretch/>
        </p:blipFill>
        <p:spPr>
          <a:xfrm>
            <a:off x="9715500" y="3124200"/>
            <a:ext cx="1524000" cy="1524000"/>
          </a:xfrm>
          <a:prstGeom prst="roundRect">
            <a:avLst>
              <a:gd name="adj" fmla="val 50000"/>
            </a:avLst>
          </a:prstGeom>
        </p:spPr>
      </p:pic>
      <p:sp>
        <p:nvSpPr>
          <p:cNvPr id="15" name="Text 9"/>
          <p:cNvSpPr/>
          <p:nvPr/>
        </p:nvSpPr>
        <p:spPr>
          <a:xfrm>
            <a:off x="9410700" y="48006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北京</a:t>
            </a:r>
            <a:endParaRPr lang="en-US" sz="16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人群画像：锁定北京中产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47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人群画像：三维指标精准锁定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舍弃抽象理论，以可量化门槛划定样本，确保研究针对性与商业可行性。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0227" y="3251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88156" y="166688"/>
                </a:moveTo>
                <a:lnTo>
                  <a:pt x="273844" y="166688"/>
                </a:lnTo>
                <a:lnTo>
                  <a:pt x="218331" y="55811"/>
                </a:lnTo>
                <a:cubicBezTo>
                  <a:pt x="215652" y="50453"/>
                  <a:pt x="214313" y="44500"/>
                  <a:pt x="214313" y="38546"/>
                </a:cubicBezTo>
                <a:cubicBezTo>
                  <a:pt x="214313" y="17264"/>
                  <a:pt x="231577" y="0"/>
                  <a:pt x="252859" y="0"/>
                </a:cubicBezTo>
                <a:lnTo>
                  <a:pt x="509141" y="0"/>
                </a:lnTo>
                <a:cubicBezTo>
                  <a:pt x="530423" y="0"/>
                  <a:pt x="547687" y="17264"/>
                  <a:pt x="547687" y="38546"/>
                </a:cubicBezTo>
                <a:cubicBezTo>
                  <a:pt x="547687" y="44500"/>
                  <a:pt x="546348" y="50453"/>
                  <a:pt x="543669" y="55811"/>
                </a:cubicBezTo>
                <a:lnTo>
                  <a:pt x="488156" y="166688"/>
                </a:lnTo>
                <a:close/>
                <a:moveTo>
                  <a:pt x="252413" y="238125"/>
                </a:moveTo>
                <a:lnTo>
                  <a:pt x="509587" y="238125"/>
                </a:lnTo>
                <a:lnTo>
                  <a:pt x="582067" y="298549"/>
                </a:lnTo>
                <a:cubicBezTo>
                  <a:pt x="681038" y="381000"/>
                  <a:pt x="738188" y="503039"/>
                  <a:pt x="738188" y="631775"/>
                </a:cubicBezTo>
                <a:cubicBezTo>
                  <a:pt x="738188" y="703659"/>
                  <a:pt x="679847" y="762000"/>
                  <a:pt x="607963" y="762000"/>
                </a:cubicBezTo>
                <a:lnTo>
                  <a:pt x="153888" y="762000"/>
                </a:lnTo>
                <a:cubicBezTo>
                  <a:pt x="82153" y="762000"/>
                  <a:pt x="23812" y="703659"/>
                  <a:pt x="23812" y="631775"/>
                </a:cubicBezTo>
                <a:cubicBezTo>
                  <a:pt x="23812" y="503039"/>
                  <a:pt x="80962" y="381000"/>
                  <a:pt x="179933" y="298549"/>
                </a:cubicBezTo>
                <a:lnTo>
                  <a:pt x="252413" y="238125"/>
                </a:lnTo>
                <a:close/>
                <a:moveTo>
                  <a:pt x="386953" y="333375"/>
                </a:moveTo>
                <a:cubicBezTo>
                  <a:pt x="370582" y="333375"/>
                  <a:pt x="357188" y="346770"/>
                  <a:pt x="357188" y="363141"/>
                </a:cubicBezTo>
                <a:lnTo>
                  <a:pt x="357188" y="369094"/>
                </a:lnTo>
                <a:cubicBezTo>
                  <a:pt x="314325" y="369540"/>
                  <a:pt x="279797" y="404366"/>
                  <a:pt x="279797" y="447229"/>
                </a:cubicBezTo>
                <a:cubicBezTo>
                  <a:pt x="279797" y="485477"/>
                  <a:pt x="307330" y="518071"/>
                  <a:pt x="345132" y="524321"/>
                </a:cubicBezTo>
                <a:lnTo>
                  <a:pt x="407194" y="534739"/>
                </a:lnTo>
                <a:cubicBezTo>
                  <a:pt x="416123" y="536228"/>
                  <a:pt x="422672" y="543967"/>
                  <a:pt x="422672" y="553045"/>
                </a:cubicBezTo>
                <a:cubicBezTo>
                  <a:pt x="422672" y="563314"/>
                  <a:pt x="414337" y="571649"/>
                  <a:pt x="404068" y="571649"/>
                </a:cubicBezTo>
                <a:lnTo>
                  <a:pt x="321469" y="571500"/>
                </a:lnTo>
                <a:cubicBezTo>
                  <a:pt x="305098" y="571500"/>
                  <a:pt x="291703" y="584895"/>
                  <a:pt x="291703" y="601266"/>
                </a:cubicBezTo>
                <a:cubicBezTo>
                  <a:pt x="291703" y="617637"/>
                  <a:pt x="305098" y="631031"/>
                  <a:pt x="321469" y="631031"/>
                </a:cubicBezTo>
                <a:lnTo>
                  <a:pt x="357188" y="631031"/>
                </a:lnTo>
                <a:lnTo>
                  <a:pt x="357188" y="636984"/>
                </a:lnTo>
                <a:cubicBezTo>
                  <a:pt x="357188" y="653355"/>
                  <a:pt x="370582" y="666750"/>
                  <a:pt x="386953" y="666750"/>
                </a:cubicBezTo>
                <a:cubicBezTo>
                  <a:pt x="403324" y="666750"/>
                  <a:pt x="416719" y="653355"/>
                  <a:pt x="416719" y="636984"/>
                </a:cubicBezTo>
                <a:lnTo>
                  <a:pt x="416719" y="629989"/>
                </a:lnTo>
                <a:cubicBezTo>
                  <a:pt x="453926" y="623888"/>
                  <a:pt x="482203" y="591741"/>
                  <a:pt x="482203" y="552896"/>
                </a:cubicBezTo>
                <a:cubicBezTo>
                  <a:pt x="482203" y="514648"/>
                  <a:pt x="454670" y="482054"/>
                  <a:pt x="416868" y="475804"/>
                </a:cubicBezTo>
                <a:lnTo>
                  <a:pt x="354806" y="465386"/>
                </a:lnTo>
                <a:cubicBezTo>
                  <a:pt x="345877" y="463897"/>
                  <a:pt x="339328" y="456158"/>
                  <a:pt x="339328" y="447080"/>
                </a:cubicBezTo>
                <a:cubicBezTo>
                  <a:pt x="339328" y="436811"/>
                  <a:pt x="347663" y="428476"/>
                  <a:pt x="357932" y="428476"/>
                </a:cubicBezTo>
                <a:lnTo>
                  <a:pt x="428625" y="428476"/>
                </a:lnTo>
                <a:cubicBezTo>
                  <a:pt x="444996" y="428476"/>
                  <a:pt x="458391" y="415082"/>
                  <a:pt x="458391" y="398711"/>
                </a:cubicBezTo>
                <a:cubicBezTo>
                  <a:pt x="458391" y="382339"/>
                  <a:pt x="444996" y="368945"/>
                  <a:pt x="428625" y="368945"/>
                </a:cubicBezTo>
                <a:lnTo>
                  <a:pt x="416719" y="368945"/>
                </a:lnTo>
                <a:lnTo>
                  <a:pt x="416719" y="362992"/>
                </a:lnTo>
                <a:cubicBezTo>
                  <a:pt x="416719" y="346621"/>
                  <a:pt x="403324" y="333226"/>
                  <a:pt x="386953" y="333226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203200" y="43942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家庭年收入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" y="4851242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1.2 - 3万美元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96714" y="2819400"/>
            <a:ext cx="0" cy="2590800"/>
          </a:xfrm>
          <a:prstGeom prst="line">
            <a:avLst/>
          </a:prstGeom>
          <a:noFill/>
          <a:ln w="20320">
            <a:solidFill>
              <a:srgbClr val="8C8C8C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148614" y="2819400"/>
            <a:ext cx="0" cy="2590800"/>
          </a:xfrm>
          <a:prstGeom prst="line">
            <a:avLst/>
          </a:prstGeom>
          <a:noFill/>
          <a:ln w="20320">
            <a:solidFill>
              <a:srgbClr val="8C8C8C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714841" y="3251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297656" y="71438"/>
                </a:moveTo>
                <a:lnTo>
                  <a:pt x="464344" y="71438"/>
                </a:lnTo>
                <a:cubicBezTo>
                  <a:pt x="470892" y="71438"/>
                  <a:pt x="476250" y="76795"/>
                  <a:pt x="476250" y="83344"/>
                </a:cubicBezTo>
                <a:lnTo>
                  <a:pt x="476250" y="142875"/>
                </a:lnTo>
                <a:lnTo>
                  <a:pt x="285750" y="142875"/>
                </a:lnTo>
                <a:lnTo>
                  <a:pt x="285750" y="83344"/>
                </a:lnTo>
                <a:cubicBezTo>
                  <a:pt x="285750" y="76795"/>
                  <a:pt x="291108" y="71438"/>
                  <a:pt x="297656" y="71438"/>
                </a:cubicBezTo>
                <a:close/>
                <a:moveTo>
                  <a:pt x="214313" y="83344"/>
                </a:moveTo>
                <a:lnTo>
                  <a:pt x="214313" y="142875"/>
                </a:lnTo>
                <a:lnTo>
                  <a:pt x="95250" y="142875"/>
                </a:lnTo>
                <a:cubicBezTo>
                  <a:pt x="42714" y="142875"/>
                  <a:pt x="0" y="185589"/>
                  <a:pt x="0" y="238125"/>
                </a:cubicBezTo>
                <a:lnTo>
                  <a:pt x="0" y="381000"/>
                </a:lnTo>
                <a:lnTo>
                  <a:pt x="762000" y="381000"/>
                </a:lnTo>
                <a:lnTo>
                  <a:pt x="762000" y="238125"/>
                </a:lnTo>
                <a:cubicBezTo>
                  <a:pt x="762000" y="185589"/>
                  <a:pt x="719286" y="142875"/>
                  <a:pt x="666750" y="142875"/>
                </a:cubicBezTo>
                <a:lnTo>
                  <a:pt x="547687" y="142875"/>
                </a:lnTo>
                <a:lnTo>
                  <a:pt x="547687" y="83344"/>
                </a:lnTo>
                <a:cubicBezTo>
                  <a:pt x="547687" y="37356"/>
                  <a:pt x="510332" y="0"/>
                  <a:pt x="464344" y="0"/>
                </a:cubicBezTo>
                <a:lnTo>
                  <a:pt x="297656" y="0"/>
                </a:lnTo>
                <a:cubicBezTo>
                  <a:pt x="251668" y="0"/>
                  <a:pt x="214313" y="37356"/>
                  <a:pt x="214313" y="83344"/>
                </a:cubicBezTo>
                <a:close/>
                <a:moveTo>
                  <a:pt x="762000" y="452438"/>
                </a:moveTo>
                <a:lnTo>
                  <a:pt x="476250" y="452438"/>
                </a:lnTo>
                <a:lnTo>
                  <a:pt x="476250" y="476250"/>
                </a:lnTo>
                <a:cubicBezTo>
                  <a:pt x="476250" y="502593"/>
                  <a:pt x="454968" y="523875"/>
                  <a:pt x="428625" y="523875"/>
                </a:cubicBezTo>
                <a:lnTo>
                  <a:pt x="333375" y="523875"/>
                </a:lnTo>
                <a:cubicBezTo>
                  <a:pt x="307032" y="523875"/>
                  <a:pt x="285750" y="502593"/>
                  <a:pt x="285750" y="476250"/>
                </a:cubicBezTo>
                <a:lnTo>
                  <a:pt x="285750" y="452438"/>
                </a:lnTo>
                <a:lnTo>
                  <a:pt x="0" y="452438"/>
                </a:ln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666750" y="714375"/>
                </a:lnTo>
                <a:cubicBezTo>
                  <a:pt x="719286" y="714375"/>
                  <a:pt x="762000" y="671661"/>
                  <a:pt x="762000" y="619125"/>
                </a:cubicBezTo>
                <a:lnTo>
                  <a:pt x="762000" y="452438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118134" y="4394200"/>
            <a:ext cx="3949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职业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8134" y="4851242"/>
            <a:ext cx="394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中低层管理/技术/个体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9455" y="3251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7625" y="47625"/>
                </a:moveTo>
                <a:cubicBezTo>
                  <a:pt x="21282" y="47625"/>
                  <a:pt x="0" y="68907"/>
                  <a:pt x="0" y="95250"/>
                </a:cubicBezTo>
                <a:lnTo>
                  <a:pt x="0" y="642938"/>
                </a:lnTo>
                <a:cubicBezTo>
                  <a:pt x="0" y="682377"/>
                  <a:pt x="31998" y="714375"/>
                  <a:pt x="71438" y="714375"/>
                </a:cubicBezTo>
                <a:lnTo>
                  <a:pt x="690563" y="714375"/>
                </a:lnTo>
                <a:cubicBezTo>
                  <a:pt x="730002" y="714375"/>
                  <a:pt x="762000" y="682377"/>
                  <a:pt x="762000" y="642938"/>
                </a:cubicBezTo>
                <a:lnTo>
                  <a:pt x="762000" y="226516"/>
                </a:lnTo>
                <a:cubicBezTo>
                  <a:pt x="762000" y="199430"/>
                  <a:pt x="733127" y="182314"/>
                  <a:pt x="709315" y="195114"/>
                </a:cubicBezTo>
                <a:lnTo>
                  <a:pt x="476250" y="320576"/>
                </a:lnTo>
                <a:lnTo>
                  <a:pt x="476250" y="226516"/>
                </a:lnTo>
                <a:cubicBezTo>
                  <a:pt x="476250" y="199430"/>
                  <a:pt x="447377" y="182314"/>
                  <a:pt x="423565" y="195114"/>
                </a:cubicBezTo>
                <a:lnTo>
                  <a:pt x="190500" y="320576"/>
                </a:lnTo>
                <a:lnTo>
                  <a:pt x="190500" y="95250"/>
                </a:lnTo>
                <a:cubicBezTo>
                  <a:pt x="190500" y="68907"/>
                  <a:pt x="169218" y="47625"/>
                  <a:pt x="142875" y="47625"/>
                </a:cubicBezTo>
                <a:lnTo>
                  <a:pt x="47625" y="47625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992428" y="4394200"/>
            <a:ext cx="4000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92428" y="4851242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地产/金融/外资/垄断</a:t>
            </a:r>
            <a:endParaRPr lang="en-US" sz="16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00" y="254000"/>
            <a:ext cx="5842000" cy="6350000"/>
          </a:xfrm>
          <a:custGeom>
            <a:avLst/>
            <a:gdLst/>
            <a:ahLst/>
            <a:cxnLst/>
            <a:rect l="l" t="t" r="r" b="b"/>
            <a:pathLst>
              <a:path w="5842000" h="6350000">
                <a:moveTo>
                  <a:pt x="101592" y="0"/>
                </a:moveTo>
                <a:lnTo>
                  <a:pt x="5842000" y="0"/>
                </a:lnTo>
                <a:lnTo>
                  <a:pt x="5842000" y="6350000"/>
                </a:lnTo>
                <a:lnTo>
                  <a:pt x="101592" y="6350000"/>
                </a:lnTo>
                <a:cubicBezTo>
                  <a:pt x="45484" y="6350000"/>
                  <a:pt x="0" y="6304516"/>
                  <a:pt x="0" y="62484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8702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3403600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政治后卫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800" y="3962400"/>
            <a:ext cx="523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反对动荡，但拥抱变化。趋向温和改良和道德相对主义，对新生事物持开放、宽容态度。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254000"/>
            <a:ext cx="5842000" cy="6350000"/>
          </a:xfrm>
          <a:custGeom>
            <a:avLst/>
            <a:gdLst/>
            <a:ahLst/>
            <a:cxnLst/>
            <a:rect l="l" t="t" r="r" b="b"/>
            <a:pathLst>
              <a:path w="5842000" h="6350000">
                <a:moveTo>
                  <a:pt x="0" y="0"/>
                </a:moveTo>
                <a:lnTo>
                  <a:pt x="5740408" y="0"/>
                </a:lnTo>
                <a:cubicBezTo>
                  <a:pt x="5796516" y="0"/>
                  <a:pt x="5842000" y="45484"/>
                  <a:pt x="5842000" y="101592"/>
                </a:cubicBezTo>
                <a:lnTo>
                  <a:pt x="5842000" y="6248408"/>
                </a:lnTo>
                <a:cubicBezTo>
                  <a:pt x="5842000" y="6304516"/>
                  <a:pt x="5796516" y="6350000"/>
                  <a:pt x="5740408" y="6350000"/>
                </a:cubicBezTo>
                <a:lnTo>
                  <a:pt x="0" y="63500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12200" y="238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55000" y="3403600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消费前卫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962400"/>
            <a:ext cx="523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追求生活品味和格调，似乎“只有生活方式，而没有生活”，对普通民众有强大引导性。</a:t>
            </a:r>
            <a:endParaRPr lang="en-US" sz="16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astingtable.com/941c68514038c68a2f948b5e06c67e3e6eb789a8.jpg"/>
          <p:cNvPicPr>
            <a:picLocks noChangeAspect="1"/>
          </p:cNvPicPr>
          <p:nvPr/>
        </p:nvPicPr>
        <p:blipFill>
          <a:blip r:embed="rId3"/>
          <a:srcRect l="24307" r="24307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家庭共同体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研究单元是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而非个人，关注餐桌互动、分工与传承。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通过观察‘家’，发现真实决策链：孩子的美容诉求、老人的怀旧口味、主妇的效率焦虑。</a:t>
            </a:r>
            <a:endParaRPr lang="en-US" sz="1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田野深描：早餐八情境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1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田野深描：饮食日常的八幕戏剧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5908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将饮食日常拆解为八个情境，为洞察提供统一叙事模板。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150" y="345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38100" y="27563"/>
                  <a:pt x="46613" y="19050"/>
                  <a:pt x="57150" y="19050"/>
                </a:cubicBezTo>
                <a:lnTo>
                  <a:pt x="266700" y="19050"/>
                </a:lnTo>
                <a:cubicBezTo>
                  <a:pt x="308789" y="19050"/>
                  <a:pt x="342900" y="53161"/>
                  <a:pt x="342900" y="95250"/>
                </a:cubicBezTo>
                <a:cubicBezTo>
                  <a:pt x="342900" y="137339"/>
                  <a:pt x="308789" y="171450"/>
                  <a:pt x="266700" y="171450"/>
                </a:cubicBezTo>
                <a:cubicBezTo>
                  <a:pt x="266700" y="203002"/>
                  <a:pt x="241102" y="228600"/>
                  <a:pt x="209550" y="228600"/>
                </a:cubicBezTo>
                <a:lnTo>
                  <a:pt x="95250" y="228600"/>
                </a:lnTo>
                <a:cubicBezTo>
                  <a:pt x="63698" y="228600"/>
                  <a:pt x="38100" y="203002"/>
                  <a:pt x="38100" y="171450"/>
                </a:cubicBezTo>
                <a:lnTo>
                  <a:pt x="38100" y="38100"/>
                </a:lnTo>
                <a:close/>
                <a:moveTo>
                  <a:pt x="304800" y="95250"/>
                </a:moveTo>
                <a:cubicBezTo>
                  <a:pt x="304800" y="74235"/>
                  <a:pt x="287715" y="57150"/>
                  <a:pt x="266700" y="57150"/>
                </a:cubicBezTo>
                <a:lnTo>
                  <a:pt x="266700" y="133350"/>
                </a:lnTo>
                <a:cubicBezTo>
                  <a:pt x="287715" y="133350"/>
                  <a:pt x="304800" y="116265"/>
                  <a:pt x="304800" y="95250"/>
                </a:cubicBezTo>
                <a:close/>
                <a:moveTo>
                  <a:pt x="38100" y="266700"/>
                </a:moveTo>
                <a:lnTo>
                  <a:pt x="266700" y="266700"/>
                </a:lnTo>
                <a:cubicBezTo>
                  <a:pt x="277237" y="266700"/>
                  <a:pt x="285750" y="275213"/>
                  <a:pt x="285750" y="285750"/>
                </a:cubicBezTo>
                <a:cubicBezTo>
                  <a:pt x="285750" y="296287"/>
                  <a:pt x="277237" y="304800"/>
                  <a:pt x="266700" y="304800"/>
                </a:cubicBezTo>
                <a:lnTo>
                  <a:pt x="38100" y="304800"/>
                </a:lnTo>
                <a:cubicBezTo>
                  <a:pt x="27563" y="304800"/>
                  <a:pt x="19050" y="296287"/>
                  <a:pt x="19050" y="285750"/>
                </a:cubicBezTo>
                <a:cubicBezTo>
                  <a:pt x="19050" y="275213"/>
                  <a:pt x="27563" y="266700"/>
                  <a:pt x="38100" y="2667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258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23813"/>
                </a:moveTo>
                <a:cubicBezTo>
                  <a:pt x="104775" y="15895"/>
                  <a:pt x="111145" y="9525"/>
                  <a:pt x="119062" y="9525"/>
                </a:cubicBezTo>
                <a:lnTo>
                  <a:pt x="128588" y="9525"/>
                </a:lnTo>
                <a:cubicBezTo>
                  <a:pt x="136505" y="9525"/>
                  <a:pt x="142875" y="15895"/>
                  <a:pt x="142875" y="23813"/>
                </a:cubicBezTo>
                <a:cubicBezTo>
                  <a:pt x="142875" y="31730"/>
                  <a:pt x="136505" y="38100"/>
                  <a:pt x="128588" y="38100"/>
                </a:cubicBezTo>
                <a:lnTo>
                  <a:pt x="119062" y="38100"/>
                </a:lnTo>
                <a:cubicBezTo>
                  <a:pt x="111145" y="38100"/>
                  <a:pt x="104775" y="31730"/>
                  <a:pt x="104775" y="23813"/>
                </a:cubicBezTo>
                <a:close/>
                <a:moveTo>
                  <a:pt x="119062" y="52388"/>
                </a:moveTo>
                <a:lnTo>
                  <a:pt x="128588" y="52388"/>
                </a:lnTo>
                <a:cubicBezTo>
                  <a:pt x="136505" y="52388"/>
                  <a:pt x="142875" y="58757"/>
                  <a:pt x="142875" y="66675"/>
                </a:cubicBezTo>
                <a:cubicBezTo>
                  <a:pt x="142875" y="74593"/>
                  <a:pt x="136505" y="80962"/>
                  <a:pt x="128588" y="80962"/>
                </a:cubicBezTo>
                <a:lnTo>
                  <a:pt x="119062" y="80962"/>
                </a:lnTo>
                <a:cubicBezTo>
                  <a:pt x="111145" y="80962"/>
                  <a:pt x="104775" y="74593"/>
                  <a:pt x="104775" y="66675"/>
                </a:cubicBezTo>
                <a:cubicBezTo>
                  <a:pt x="104775" y="58757"/>
                  <a:pt x="111145" y="52388"/>
                  <a:pt x="119062" y="52388"/>
                </a:cubicBezTo>
                <a:close/>
                <a:moveTo>
                  <a:pt x="33338" y="95250"/>
                </a:moveTo>
                <a:lnTo>
                  <a:pt x="42863" y="95250"/>
                </a:lnTo>
                <a:cubicBezTo>
                  <a:pt x="50780" y="95250"/>
                  <a:pt x="57150" y="101620"/>
                  <a:pt x="57150" y="109537"/>
                </a:cubicBezTo>
                <a:cubicBezTo>
                  <a:pt x="57150" y="117455"/>
                  <a:pt x="50780" y="123825"/>
                  <a:pt x="42863" y="123825"/>
                </a:cubicBezTo>
                <a:lnTo>
                  <a:pt x="33338" y="123825"/>
                </a:lnTo>
                <a:cubicBezTo>
                  <a:pt x="25420" y="123825"/>
                  <a:pt x="19050" y="117455"/>
                  <a:pt x="19050" y="109537"/>
                </a:cubicBezTo>
                <a:cubicBezTo>
                  <a:pt x="19050" y="101620"/>
                  <a:pt x="25420" y="95250"/>
                  <a:pt x="33338" y="95250"/>
                </a:cubicBezTo>
                <a:close/>
                <a:moveTo>
                  <a:pt x="0" y="168712"/>
                </a:moveTo>
                <a:cubicBezTo>
                  <a:pt x="0" y="159722"/>
                  <a:pt x="7322" y="152400"/>
                  <a:pt x="16312" y="152400"/>
                </a:cubicBezTo>
                <a:lnTo>
                  <a:pt x="288429" y="152400"/>
                </a:lnTo>
                <a:cubicBezTo>
                  <a:pt x="297418" y="152400"/>
                  <a:pt x="304740" y="159722"/>
                  <a:pt x="304740" y="168712"/>
                </a:cubicBezTo>
                <a:cubicBezTo>
                  <a:pt x="304740" y="210681"/>
                  <a:pt x="278309" y="246519"/>
                  <a:pt x="241221" y="260449"/>
                </a:cubicBezTo>
                <a:lnTo>
                  <a:pt x="240209" y="269081"/>
                </a:lnTo>
                <a:cubicBezTo>
                  <a:pt x="239018" y="278606"/>
                  <a:pt x="230922" y="285750"/>
                  <a:pt x="221278" y="285750"/>
                </a:cubicBezTo>
                <a:lnTo>
                  <a:pt x="83463" y="285750"/>
                </a:lnTo>
                <a:cubicBezTo>
                  <a:pt x="73878" y="285750"/>
                  <a:pt x="65723" y="278606"/>
                  <a:pt x="64532" y="269081"/>
                </a:cubicBezTo>
                <a:lnTo>
                  <a:pt x="63460" y="260509"/>
                </a:lnTo>
                <a:cubicBezTo>
                  <a:pt x="26432" y="246519"/>
                  <a:pt x="0" y="210681"/>
                  <a:pt x="0" y="168712"/>
                </a:cubicBezTo>
                <a:close/>
                <a:moveTo>
                  <a:pt x="133350" y="109537"/>
                </a:moveTo>
                <a:cubicBezTo>
                  <a:pt x="133350" y="101620"/>
                  <a:pt x="139720" y="95250"/>
                  <a:pt x="147638" y="95250"/>
                </a:cubicBezTo>
                <a:lnTo>
                  <a:pt x="157163" y="95250"/>
                </a:lnTo>
                <a:cubicBezTo>
                  <a:pt x="165080" y="95250"/>
                  <a:pt x="171450" y="101620"/>
                  <a:pt x="171450" y="109537"/>
                </a:cubicBezTo>
                <a:cubicBezTo>
                  <a:pt x="171450" y="117455"/>
                  <a:pt x="165080" y="123825"/>
                  <a:pt x="157163" y="123825"/>
                </a:cubicBezTo>
                <a:lnTo>
                  <a:pt x="147638" y="123825"/>
                </a:lnTo>
                <a:cubicBezTo>
                  <a:pt x="139720" y="123825"/>
                  <a:pt x="133350" y="117455"/>
                  <a:pt x="133350" y="109537"/>
                </a:cubicBezTo>
                <a:close/>
                <a:moveTo>
                  <a:pt x="76200" y="109537"/>
                </a:moveTo>
                <a:cubicBezTo>
                  <a:pt x="76200" y="101620"/>
                  <a:pt x="82570" y="95250"/>
                  <a:pt x="90488" y="95250"/>
                </a:cubicBezTo>
                <a:lnTo>
                  <a:pt x="100013" y="95250"/>
                </a:lnTo>
                <a:cubicBezTo>
                  <a:pt x="107930" y="95250"/>
                  <a:pt x="114300" y="101620"/>
                  <a:pt x="114300" y="109537"/>
                </a:cubicBezTo>
                <a:cubicBezTo>
                  <a:pt x="114300" y="117455"/>
                  <a:pt x="107930" y="123825"/>
                  <a:pt x="100013" y="123825"/>
                </a:cubicBezTo>
                <a:lnTo>
                  <a:pt x="90488" y="123825"/>
                </a:lnTo>
                <a:cubicBezTo>
                  <a:pt x="82570" y="123825"/>
                  <a:pt x="76200" y="117455"/>
                  <a:pt x="76200" y="109537"/>
                </a:cubicBezTo>
                <a:close/>
                <a:moveTo>
                  <a:pt x="61912" y="52388"/>
                </a:moveTo>
                <a:lnTo>
                  <a:pt x="71438" y="52388"/>
                </a:lnTo>
                <a:cubicBezTo>
                  <a:pt x="79355" y="52388"/>
                  <a:pt x="85725" y="58757"/>
                  <a:pt x="85725" y="66675"/>
                </a:cubicBezTo>
                <a:cubicBezTo>
                  <a:pt x="85725" y="74593"/>
                  <a:pt x="79355" y="80962"/>
                  <a:pt x="71438" y="80962"/>
                </a:cubicBezTo>
                <a:lnTo>
                  <a:pt x="61912" y="80962"/>
                </a:lnTo>
                <a:cubicBezTo>
                  <a:pt x="53995" y="80962"/>
                  <a:pt x="47625" y="74593"/>
                  <a:pt x="47625" y="66675"/>
                </a:cubicBezTo>
                <a:cubicBezTo>
                  <a:pt x="47625" y="58757"/>
                  <a:pt x="53995" y="52388"/>
                  <a:pt x="61912" y="52388"/>
                </a:cubicBezTo>
                <a:close/>
                <a:moveTo>
                  <a:pt x="190500" y="109537"/>
                </a:moveTo>
                <a:cubicBezTo>
                  <a:pt x="190500" y="101620"/>
                  <a:pt x="196870" y="95250"/>
                  <a:pt x="204787" y="95250"/>
                </a:cubicBezTo>
                <a:lnTo>
                  <a:pt x="214313" y="95250"/>
                </a:lnTo>
                <a:cubicBezTo>
                  <a:pt x="222230" y="95250"/>
                  <a:pt x="228600" y="101620"/>
                  <a:pt x="228600" y="109537"/>
                </a:cubicBezTo>
                <a:cubicBezTo>
                  <a:pt x="228600" y="117455"/>
                  <a:pt x="222230" y="123825"/>
                  <a:pt x="214313" y="123825"/>
                </a:cubicBezTo>
                <a:lnTo>
                  <a:pt x="204787" y="123825"/>
                </a:lnTo>
                <a:cubicBezTo>
                  <a:pt x="196870" y="123825"/>
                  <a:pt x="190500" y="117455"/>
                  <a:pt x="190500" y="109537"/>
                </a:cubicBezTo>
                <a:close/>
                <a:moveTo>
                  <a:pt x="176212" y="52388"/>
                </a:moveTo>
                <a:lnTo>
                  <a:pt x="185738" y="52388"/>
                </a:lnTo>
                <a:cubicBezTo>
                  <a:pt x="193655" y="52388"/>
                  <a:pt x="200025" y="58757"/>
                  <a:pt x="200025" y="66675"/>
                </a:cubicBezTo>
                <a:cubicBezTo>
                  <a:pt x="200025" y="74593"/>
                  <a:pt x="193655" y="80962"/>
                  <a:pt x="185738" y="80962"/>
                </a:cubicBezTo>
                <a:lnTo>
                  <a:pt x="176212" y="80962"/>
                </a:lnTo>
                <a:cubicBezTo>
                  <a:pt x="168295" y="80962"/>
                  <a:pt x="161925" y="74593"/>
                  <a:pt x="161925" y="66675"/>
                </a:cubicBezTo>
                <a:cubicBezTo>
                  <a:pt x="161925" y="58757"/>
                  <a:pt x="168295" y="52388"/>
                  <a:pt x="176212" y="52388"/>
                </a:cubicBezTo>
                <a:close/>
                <a:moveTo>
                  <a:pt x="247650" y="109537"/>
                </a:moveTo>
                <a:cubicBezTo>
                  <a:pt x="247650" y="101620"/>
                  <a:pt x="254020" y="95250"/>
                  <a:pt x="261937" y="95250"/>
                </a:cubicBezTo>
                <a:lnTo>
                  <a:pt x="271463" y="95250"/>
                </a:lnTo>
                <a:cubicBezTo>
                  <a:pt x="279380" y="95250"/>
                  <a:pt x="285750" y="101620"/>
                  <a:pt x="285750" y="109537"/>
                </a:cubicBezTo>
                <a:cubicBezTo>
                  <a:pt x="285750" y="117455"/>
                  <a:pt x="279380" y="123825"/>
                  <a:pt x="271463" y="123825"/>
                </a:cubicBezTo>
                <a:lnTo>
                  <a:pt x="261937" y="123825"/>
                </a:lnTo>
                <a:cubicBezTo>
                  <a:pt x="254020" y="123825"/>
                  <a:pt x="247650" y="117455"/>
                  <a:pt x="247650" y="109537"/>
                </a:cubicBezTo>
                <a:close/>
                <a:moveTo>
                  <a:pt x="233363" y="52388"/>
                </a:moveTo>
                <a:lnTo>
                  <a:pt x="242888" y="52388"/>
                </a:lnTo>
                <a:cubicBezTo>
                  <a:pt x="250805" y="52388"/>
                  <a:pt x="257175" y="58757"/>
                  <a:pt x="257175" y="66675"/>
                </a:cubicBezTo>
                <a:cubicBezTo>
                  <a:pt x="257175" y="74593"/>
                  <a:pt x="250805" y="80962"/>
                  <a:pt x="242888" y="80962"/>
                </a:cubicBezTo>
                <a:lnTo>
                  <a:pt x="233363" y="80962"/>
                </a:lnTo>
                <a:cubicBezTo>
                  <a:pt x="225445" y="80962"/>
                  <a:pt x="219075" y="74593"/>
                  <a:pt x="219075" y="66675"/>
                </a:cubicBezTo>
                <a:cubicBezTo>
                  <a:pt x="219075" y="58757"/>
                  <a:pt x="225445" y="52388"/>
                  <a:pt x="233363" y="52388"/>
                </a:cubicBezTo>
                <a:close/>
                <a:moveTo>
                  <a:pt x="176212" y="9525"/>
                </a:moveTo>
                <a:lnTo>
                  <a:pt x="185738" y="9525"/>
                </a:lnTo>
                <a:cubicBezTo>
                  <a:pt x="193655" y="9525"/>
                  <a:pt x="200025" y="15895"/>
                  <a:pt x="200025" y="23813"/>
                </a:cubicBezTo>
                <a:cubicBezTo>
                  <a:pt x="200025" y="31730"/>
                  <a:pt x="193655" y="38100"/>
                  <a:pt x="185738" y="38100"/>
                </a:cubicBezTo>
                <a:lnTo>
                  <a:pt x="176212" y="38100"/>
                </a:lnTo>
                <a:cubicBezTo>
                  <a:pt x="168295" y="38100"/>
                  <a:pt x="161925" y="31730"/>
                  <a:pt x="161925" y="23813"/>
                </a:cubicBezTo>
                <a:cubicBezTo>
                  <a:pt x="161925" y="15895"/>
                  <a:pt x="168295" y="9525"/>
                  <a:pt x="176212" y="952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9" name="Text 7"/>
          <p:cNvSpPr/>
          <p:nvPr/>
        </p:nvSpPr>
        <p:spPr>
          <a:xfrm>
            <a:off x="39370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76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1750" y="345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0"/>
                </a:moveTo>
                <a:cubicBezTo>
                  <a:pt x="175379" y="0"/>
                  <a:pt x="179130" y="1607"/>
                  <a:pt x="181808" y="4465"/>
                </a:cubicBezTo>
                <a:lnTo>
                  <a:pt x="267533" y="94952"/>
                </a:lnTo>
                <a:lnTo>
                  <a:pt x="267831" y="95250"/>
                </a:lnTo>
                <a:lnTo>
                  <a:pt x="314325" y="95250"/>
                </a:lnTo>
                <a:cubicBezTo>
                  <a:pt x="324862" y="95250"/>
                  <a:pt x="333375" y="103763"/>
                  <a:pt x="333375" y="114300"/>
                </a:cubicBezTo>
                <a:cubicBezTo>
                  <a:pt x="333375" y="122932"/>
                  <a:pt x="327660" y="130195"/>
                  <a:pt x="319802" y="132576"/>
                </a:cubicBezTo>
                <a:lnTo>
                  <a:pt x="292358" y="255925"/>
                </a:lnTo>
                <a:cubicBezTo>
                  <a:pt x="288488" y="273368"/>
                  <a:pt x="273010" y="285750"/>
                  <a:pt x="255151" y="285750"/>
                </a:cubicBezTo>
                <a:lnTo>
                  <a:pt x="87690" y="285750"/>
                </a:lnTo>
                <a:cubicBezTo>
                  <a:pt x="69830" y="285750"/>
                  <a:pt x="54352" y="273368"/>
                  <a:pt x="50483" y="255925"/>
                </a:cubicBezTo>
                <a:lnTo>
                  <a:pt x="23098" y="132576"/>
                </a:lnTo>
                <a:cubicBezTo>
                  <a:pt x="15240" y="130254"/>
                  <a:pt x="9525" y="122932"/>
                  <a:pt x="9525" y="114300"/>
                </a:cubicBezTo>
                <a:cubicBezTo>
                  <a:pt x="9525" y="103763"/>
                  <a:pt x="18038" y="95250"/>
                  <a:pt x="28575" y="95250"/>
                </a:cubicBezTo>
                <a:lnTo>
                  <a:pt x="75069" y="95250"/>
                </a:lnTo>
                <a:lnTo>
                  <a:pt x="75367" y="94952"/>
                </a:lnTo>
                <a:lnTo>
                  <a:pt x="161092" y="4465"/>
                </a:lnTo>
                <a:cubicBezTo>
                  <a:pt x="163770" y="1607"/>
                  <a:pt x="167521" y="0"/>
                  <a:pt x="171450" y="0"/>
                </a:cubicBezTo>
                <a:close/>
                <a:moveTo>
                  <a:pt x="171450" y="35064"/>
                </a:moveTo>
                <a:lnTo>
                  <a:pt x="114419" y="95250"/>
                </a:lnTo>
                <a:lnTo>
                  <a:pt x="228481" y="95250"/>
                </a:lnTo>
                <a:lnTo>
                  <a:pt x="171450" y="35064"/>
                </a:lnTo>
                <a:close/>
                <a:moveTo>
                  <a:pt x="123825" y="157163"/>
                </a:moveTo>
                <a:cubicBezTo>
                  <a:pt x="123825" y="149245"/>
                  <a:pt x="117455" y="142875"/>
                  <a:pt x="109537" y="142875"/>
                </a:cubicBezTo>
                <a:cubicBezTo>
                  <a:pt x="101620" y="142875"/>
                  <a:pt x="95250" y="149245"/>
                  <a:pt x="95250" y="157163"/>
                </a:cubicBezTo>
                <a:lnTo>
                  <a:pt x="95250" y="223838"/>
                </a:lnTo>
                <a:cubicBezTo>
                  <a:pt x="95250" y="231755"/>
                  <a:pt x="101620" y="238125"/>
                  <a:pt x="109537" y="238125"/>
                </a:cubicBezTo>
                <a:cubicBezTo>
                  <a:pt x="117455" y="238125"/>
                  <a:pt x="123825" y="231755"/>
                  <a:pt x="123825" y="223838"/>
                </a:cubicBezTo>
                <a:lnTo>
                  <a:pt x="123825" y="157163"/>
                </a:lnTo>
                <a:close/>
                <a:moveTo>
                  <a:pt x="171450" y="142875"/>
                </a:moveTo>
                <a:cubicBezTo>
                  <a:pt x="163532" y="142875"/>
                  <a:pt x="157163" y="149245"/>
                  <a:pt x="157163" y="157163"/>
                </a:cubicBezTo>
                <a:lnTo>
                  <a:pt x="157163" y="223838"/>
                </a:lnTo>
                <a:cubicBezTo>
                  <a:pt x="157163" y="231755"/>
                  <a:pt x="163532" y="238125"/>
                  <a:pt x="171450" y="238125"/>
                </a:cubicBezTo>
                <a:cubicBezTo>
                  <a:pt x="179368" y="238125"/>
                  <a:pt x="185738" y="231755"/>
                  <a:pt x="185738" y="223838"/>
                </a:cubicBezTo>
                <a:lnTo>
                  <a:pt x="185738" y="157163"/>
                </a:lnTo>
                <a:cubicBezTo>
                  <a:pt x="185738" y="149245"/>
                  <a:pt x="179368" y="142875"/>
                  <a:pt x="171450" y="142875"/>
                </a:cubicBezTo>
                <a:close/>
                <a:moveTo>
                  <a:pt x="247650" y="157163"/>
                </a:moveTo>
                <a:cubicBezTo>
                  <a:pt x="247650" y="149245"/>
                  <a:pt x="241280" y="142875"/>
                  <a:pt x="233363" y="142875"/>
                </a:cubicBezTo>
                <a:cubicBezTo>
                  <a:pt x="225445" y="142875"/>
                  <a:pt x="219075" y="149245"/>
                  <a:pt x="219075" y="157163"/>
                </a:cubicBezTo>
                <a:lnTo>
                  <a:pt x="219075" y="223838"/>
                </a:lnTo>
                <a:cubicBezTo>
                  <a:pt x="219075" y="231755"/>
                  <a:pt x="225445" y="238125"/>
                  <a:pt x="233363" y="238125"/>
                </a:cubicBezTo>
                <a:cubicBezTo>
                  <a:pt x="241280" y="238125"/>
                  <a:pt x="247650" y="231755"/>
                  <a:pt x="247650" y="223838"/>
                </a:cubicBezTo>
                <a:lnTo>
                  <a:pt x="247650" y="1571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9088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购物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69400" y="32512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726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3338"/>
                </a:moveTo>
                <a:cubicBezTo>
                  <a:pt x="0" y="14942"/>
                  <a:pt x="14942" y="0"/>
                  <a:pt x="33338" y="0"/>
                </a:cubicBezTo>
                <a:lnTo>
                  <a:pt x="260509" y="0"/>
                </a:lnTo>
                <a:cubicBezTo>
                  <a:pt x="273189" y="0"/>
                  <a:pt x="282297" y="12085"/>
                  <a:pt x="278844" y="24289"/>
                </a:cubicBezTo>
                <a:lnTo>
                  <a:pt x="272117" y="47625"/>
                </a:lnTo>
                <a:lnTo>
                  <a:pt x="204787" y="47625"/>
                </a:lnTo>
                <a:cubicBezTo>
                  <a:pt x="196870" y="47625"/>
                  <a:pt x="190500" y="53995"/>
                  <a:pt x="190500" y="61912"/>
                </a:cubicBezTo>
                <a:cubicBezTo>
                  <a:pt x="190500" y="69830"/>
                  <a:pt x="196870" y="76200"/>
                  <a:pt x="204787" y="76200"/>
                </a:cubicBezTo>
                <a:lnTo>
                  <a:pt x="263962" y="76200"/>
                </a:lnTo>
                <a:lnTo>
                  <a:pt x="253067" y="114300"/>
                </a:lnTo>
                <a:lnTo>
                  <a:pt x="204787" y="114300"/>
                </a:lnTo>
                <a:cubicBezTo>
                  <a:pt x="196870" y="114300"/>
                  <a:pt x="190500" y="120670"/>
                  <a:pt x="190500" y="128588"/>
                </a:cubicBezTo>
                <a:cubicBezTo>
                  <a:pt x="190500" y="136505"/>
                  <a:pt x="196870" y="142875"/>
                  <a:pt x="204787" y="142875"/>
                </a:cubicBezTo>
                <a:lnTo>
                  <a:pt x="244912" y="142875"/>
                </a:lnTo>
                <a:lnTo>
                  <a:pt x="228600" y="200025"/>
                </a:lnTo>
                <a:lnTo>
                  <a:pt x="76200" y="200025"/>
                </a:lnTo>
                <a:lnTo>
                  <a:pt x="70783" y="142875"/>
                </a:lnTo>
                <a:lnTo>
                  <a:pt x="33338" y="142875"/>
                </a:lnTo>
                <a:cubicBezTo>
                  <a:pt x="14942" y="142875"/>
                  <a:pt x="0" y="127933"/>
                  <a:pt x="0" y="109537"/>
                </a:cubicBezTo>
                <a:lnTo>
                  <a:pt x="0" y="33338"/>
                </a:lnTo>
                <a:close/>
                <a:moveTo>
                  <a:pt x="68044" y="114300"/>
                </a:moveTo>
                <a:lnTo>
                  <a:pt x="59888" y="28575"/>
                </a:lnTo>
                <a:lnTo>
                  <a:pt x="33338" y="28575"/>
                </a:lnTo>
                <a:cubicBezTo>
                  <a:pt x="30718" y="28575"/>
                  <a:pt x="28575" y="30718"/>
                  <a:pt x="28575" y="33338"/>
                </a:cubicBezTo>
                <a:lnTo>
                  <a:pt x="28575" y="109537"/>
                </a:lnTo>
                <a:cubicBezTo>
                  <a:pt x="28575" y="112157"/>
                  <a:pt x="30718" y="114300"/>
                  <a:pt x="33338" y="114300"/>
                </a:cubicBezTo>
                <a:lnTo>
                  <a:pt x="68044" y="114300"/>
                </a:lnTo>
                <a:close/>
                <a:moveTo>
                  <a:pt x="80962" y="228600"/>
                </a:moveTo>
                <a:lnTo>
                  <a:pt x="223838" y="228600"/>
                </a:lnTo>
                <a:cubicBezTo>
                  <a:pt x="236994" y="228600"/>
                  <a:pt x="247650" y="239256"/>
                  <a:pt x="247650" y="252413"/>
                </a:cubicBezTo>
                <a:lnTo>
                  <a:pt x="247650" y="280987"/>
                </a:lnTo>
                <a:cubicBezTo>
                  <a:pt x="247650" y="294144"/>
                  <a:pt x="236994" y="304800"/>
                  <a:pt x="223838" y="304800"/>
                </a:cubicBezTo>
                <a:lnTo>
                  <a:pt x="80962" y="304800"/>
                </a:lnTo>
                <a:cubicBezTo>
                  <a:pt x="67806" y="304800"/>
                  <a:pt x="57150" y="294144"/>
                  <a:pt x="57150" y="280987"/>
                </a:cubicBezTo>
                <a:lnTo>
                  <a:pt x="57150" y="252413"/>
                </a:lnTo>
                <a:cubicBezTo>
                  <a:pt x="57150" y="239256"/>
                  <a:pt x="67806" y="228600"/>
                  <a:pt x="80962" y="228600"/>
                </a:cubicBezTo>
                <a:close/>
                <a:moveTo>
                  <a:pt x="152400" y="280987"/>
                </a:moveTo>
                <a:cubicBezTo>
                  <a:pt x="160285" y="280987"/>
                  <a:pt x="166688" y="274585"/>
                  <a:pt x="166688" y="266700"/>
                </a:cubicBezTo>
                <a:cubicBezTo>
                  <a:pt x="166688" y="258815"/>
                  <a:pt x="160285" y="252413"/>
                  <a:pt x="152400" y="252413"/>
                </a:cubicBezTo>
                <a:cubicBezTo>
                  <a:pt x="144515" y="252413"/>
                  <a:pt x="138113" y="258815"/>
                  <a:pt x="138113" y="266700"/>
                </a:cubicBezTo>
                <a:cubicBezTo>
                  <a:pt x="138113" y="274585"/>
                  <a:pt x="144515" y="280987"/>
                  <a:pt x="152400" y="280987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9880600" y="3454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40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040" y="8573"/>
                </a:moveTo>
                <a:cubicBezTo>
                  <a:pt x="37564" y="3691"/>
                  <a:pt x="33457" y="0"/>
                  <a:pt x="28575" y="0"/>
                </a:cubicBezTo>
                <a:cubicBezTo>
                  <a:pt x="23693" y="0"/>
                  <a:pt x="19586" y="3691"/>
                  <a:pt x="19050" y="8513"/>
                </a:cubicBezTo>
                <a:lnTo>
                  <a:pt x="10656" y="89118"/>
                </a:lnTo>
                <a:cubicBezTo>
                  <a:pt x="9882" y="92690"/>
                  <a:pt x="9525" y="96322"/>
                  <a:pt x="9525" y="99953"/>
                </a:cubicBezTo>
                <a:cubicBezTo>
                  <a:pt x="9525" y="127278"/>
                  <a:pt x="30420" y="149721"/>
                  <a:pt x="57150" y="152162"/>
                </a:cubicBezTo>
                <a:lnTo>
                  <a:pt x="57150" y="285750"/>
                </a:lnTo>
                <a:cubicBezTo>
                  <a:pt x="57150" y="296287"/>
                  <a:pt x="65663" y="304800"/>
                  <a:pt x="76200" y="304800"/>
                </a:cubicBezTo>
                <a:cubicBezTo>
                  <a:pt x="86737" y="304800"/>
                  <a:pt x="95250" y="296287"/>
                  <a:pt x="95250" y="285750"/>
                </a:cubicBezTo>
                <a:lnTo>
                  <a:pt x="95250" y="152162"/>
                </a:lnTo>
                <a:cubicBezTo>
                  <a:pt x="121980" y="149721"/>
                  <a:pt x="142875" y="127278"/>
                  <a:pt x="142875" y="99953"/>
                </a:cubicBezTo>
                <a:cubicBezTo>
                  <a:pt x="142875" y="96322"/>
                  <a:pt x="142518" y="92690"/>
                  <a:pt x="141744" y="89118"/>
                </a:cubicBezTo>
                <a:lnTo>
                  <a:pt x="133290" y="8513"/>
                </a:lnTo>
                <a:cubicBezTo>
                  <a:pt x="132814" y="3691"/>
                  <a:pt x="128707" y="0"/>
                  <a:pt x="123825" y="0"/>
                </a:cubicBezTo>
                <a:cubicBezTo>
                  <a:pt x="118943" y="0"/>
                  <a:pt x="114836" y="3691"/>
                  <a:pt x="114360" y="8573"/>
                </a:cubicBezTo>
                <a:lnTo>
                  <a:pt x="106263" y="89237"/>
                </a:lnTo>
                <a:cubicBezTo>
                  <a:pt x="105906" y="92631"/>
                  <a:pt x="103049" y="95250"/>
                  <a:pt x="99655" y="95250"/>
                </a:cubicBezTo>
                <a:cubicBezTo>
                  <a:pt x="96203" y="95250"/>
                  <a:pt x="93345" y="92631"/>
                  <a:pt x="92988" y="89178"/>
                </a:cubicBezTo>
                <a:lnTo>
                  <a:pt x="85665" y="8692"/>
                </a:lnTo>
                <a:cubicBezTo>
                  <a:pt x="85249" y="3750"/>
                  <a:pt x="81141" y="0"/>
                  <a:pt x="76200" y="0"/>
                </a:cubicBezTo>
                <a:cubicBezTo>
                  <a:pt x="71259" y="0"/>
                  <a:pt x="67151" y="3750"/>
                  <a:pt x="66735" y="8692"/>
                </a:cubicBezTo>
                <a:lnTo>
                  <a:pt x="59412" y="89178"/>
                </a:lnTo>
                <a:cubicBezTo>
                  <a:pt x="59115" y="92631"/>
                  <a:pt x="56197" y="95250"/>
                  <a:pt x="52745" y="95250"/>
                </a:cubicBezTo>
                <a:cubicBezTo>
                  <a:pt x="49292" y="95250"/>
                  <a:pt x="46434" y="92631"/>
                  <a:pt x="46137" y="89237"/>
                </a:cubicBezTo>
                <a:lnTo>
                  <a:pt x="38040" y="8573"/>
                </a:lnTo>
                <a:close/>
                <a:moveTo>
                  <a:pt x="266700" y="0"/>
                </a:moveTo>
                <a:cubicBezTo>
                  <a:pt x="257175" y="0"/>
                  <a:pt x="190500" y="19050"/>
                  <a:pt x="190500" y="104775"/>
                </a:cubicBezTo>
                <a:lnTo>
                  <a:pt x="190500" y="171450"/>
                </a:lnTo>
                <a:cubicBezTo>
                  <a:pt x="190500" y="192465"/>
                  <a:pt x="207585" y="209550"/>
                  <a:pt x="228600" y="209550"/>
                </a:cubicBezTo>
                <a:lnTo>
                  <a:pt x="247650" y="209550"/>
                </a:lnTo>
                <a:lnTo>
                  <a:pt x="247650" y="285750"/>
                </a:lnTo>
                <a:cubicBezTo>
                  <a:pt x="247650" y="296287"/>
                  <a:pt x="256163" y="304800"/>
                  <a:pt x="266700" y="304800"/>
                </a:cubicBezTo>
                <a:cubicBezTo>
                  <a:pt x="277237" y="304800"/>
                  <a:pt x="285750" y="296287"/>
                  <a:pt x="285750" y="285750"/>
                </a:cubicBezTo>
                <a:lnTo>
                  <a:pt x="285750" y="19050"/>
                </a:lnTo>
                <a:cubicBezTo>
                  <a:pt x="285750" y="8513"/>
                  <a:pt x="277237" y="0"/>
                  <a:pt x="2667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" y="4368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258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09950" y="436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19050"/>
                </a:moveTo>
                <a:lnTo>
                  <a:pt x="95250" y="66675"/>
                </a:lnTo>
                <a:lnTo>
                  <a:pt x="171450" y="66675"/>
                </a:lnTo>
                <a:lnTo>
                  <a:pt x="171450" y="19050"/>
                </a:lnTo>
                <a:cubicBezTo>
                  <a:pt x="171450" y="8513"/>
                  <a:pt x="162937" y="0"/>
                  <a:pt x="152400" y="0"/>
                </a:cubicBezTo>
                <a:lnTo>
                  <a:pt x="114300" y="0"/>
                </a:lnTo>
                <a:cubicBezTo>
                  <a:pt x="103763" y="0"/>
                  <a:pt x="95250" y="8513"/>
                  <a:pt x="95250" y="19050"/>
                </a:cubicBezTo>
                <a:close/>
                <a:moveTo>
                  <a:pt x="95250" y="95250"/>
                </a:moveTo>
                <a:cubicBezTo>
                  <a:pt x="63698" y="95250"/>
                  <a:pt x="38100" y="120848"/>
                  <a:pt x="38100" y="152400"/>
                </a:cubicBezTo>
                <a:lnTo>
                  <a:pt x="38100" y="276225"/>
                </a:lnTo>
                <a:cubicBezTo>
                  <a:pt x="38100" y="292001"/>
                  <a:pt x="50899" y="304800"/>
                  <a:pt x="66675" y="304800"/>
                </a:cubicBezTo>
                <a:lnTo>
                  <a:pt x="200025" y="304800"/>
                </a:lnTo>
                <a:cubicBezTo>
                  <a:pt x="215801" y="304800"/>
                  <a:pt x="228600" y="292001"/>
                  <a:pt x="228600" y="276225"/>
                </a:cubicBezTo>
                <a:lnTo>
                  <a:pt x="228600" y="152400"/>
                </a:lnTo>
                <a:cubicBezTo>
                  <a:pt x="228600" y="120848"/>
                  <a:pt x="203002" y="95250"/>
                  <a:pt x="171450" y="95250"/>
                </a:cubicBezTo>
                <a:lnTo>
                  <a:pt x="95250" y="95250"/>
                </a:lnTo>
                <a:close/>
                <a:moveTo>
                  <a:pt x="133350" y="152400"/>
                </a:moveTo>
                <a:cubicBezTo>
                  <a:pt x="159635" y="152400"/>
                  <a:pt x="180975" y="173740"/>
                  <a:pt x="180975" y="200025"/>
                </a:cubicBezTo>
                <a:cubicBezTo>
                  <a:pt x="180975" y="226310"/>
                  <a:pt x="159635" y="247650"/>
                  <a:pt x="133350" y="247650"/>
                </a:cubicBezTo>
                <a:cubicBezTo>
                  <a:pt x="107065" y="247650"/>
                  <a:pt x="85725" y="226310"/>
                  <a:pt x="85725" y="200025"/>
                </a:cubicBezTo>
                <a:cubicBezTo>
                  <a:pt x="85725" y="173740"/>
                  <a:pt x="107065" y="152400"/>
                  <a:pt x="133350" y="152400"/>
                </a:cubicBezTo>
                <a:close/>
                <a:moveTo>
                  <a:pt x="266700" y="28575"/>
                </a:moveTo>
                <a:cubicBezTo>
                  <a:pt x="266700" y="27742"/>
                  <a:pt x="266105" y="26789"/>
                  <a:pt x="265390" y="26432"/>
                </a:cubicBezTo>
                <a:lnTo>
                  <a:pt x="247650" y="19050"/>
                </a:lnTo>
                <a:lnTo>
                  <a:pt x="240268" y="1310"/>
                </a:lnTo>
                <a:cubicBezTo>
                  <a:pt x="239911" y="595"/>
                  <a:pt x="238958" y="0"/>
                  <a:pt x="238125" y="0"/>
                </a:cubicBezTo>
                <a:cubicBezTo>
                  <a:pt x="237292" y="0"/>
                  <a:pt x="236339" y="595"/>
                  <a:pt x="235982" y="1310"/>
                </a:cubicBezTo>
                <a:lnTo>
                  <a:pt x="228600" y="19050"/>
                </a:lnTo>
                <a:lnTo>
                  <a:pt x="210860" y="26432"/>
                </a:lnTo>
                <a:cubicBezTo>
                  <a:pt x="210145" y="26789"/>
                  <a:pt x="209550" y="27742"/>
                  <a:pt x="209550" y="28575"/>
                </a:cubicBezTo>
                <a:cubicBezTo>
                  <a:pt x="209550" y="29408"/>
                  <a:pt x="210145" y="30361"/>
                  <a:pt x="210860" y="30718"/>
                </a:cubicBezTo>
                <a:lnTo>
                  <a:pt x="228600" y="38100"/>
                </a:lnTo>
                <a:lnTo>
                  <a:pt x="235982" y="55840"/>
                </a:lnTo>
                <a:cubicBezTo>
                  <a:pt x="236339" y="56555"/>
                  <a:pt x="237292" y="57150"/>
                  <a:pt x="238125" y="57150"/>
                </a:cubicBezTo>
                <a:cubicBezTo>
                  <a:pt x="238958" y="57150"/>
                  <a:pt x="239911" y="56555"/>
                  <a:pt x="240268" y="55840"/>
                </a:cubicBezTo>
                <a:lnTo>
                  <a:pt x="247650" y="38100"/>
                </a:lnTo>
                <a:lnTo>
                  <a:pt x="265390" y="30718"/>
                </a:lnTo>
                <a:cubicBezTo>
                  <a:pt x="266105" y="30361"/>
                  <a:pt x="266700" y="29408"/>
                  <a:pt x="266700" y="28575"/>
                </a:cubicBezTo>
                <a:close/>
                <a:moveTo>
                  <a:pt x="312182" y="55840"/>
                </a:moveTo>
                <a:cubicBezTo>
                  <a:pt x="312539" y="56555"/>
                  <a:pt x="313492" y="57150"/>
                  <a:pt x="314325" y="57150"/>
                </a:cubicBezTo>
                <a:cubicBezTo>
                  <a:pt x="315158" y="57150"/>
                  <a:pt x="316111" y="56555"/>
                  <a:pt x="316468" y="55840"/>
                </a:cubicBezTo>
                <a:lnTo>
                  <a:pt x="323850" y="38100"/>
                </a:lnTo>
                <a:lnTo>
                  <a:pt x="341590" y="30718"/>
                </a:lnTo>
                <a:cubicBezTo>
                  <a:pt x="342305" y="30361"/>
                  <a:pt x="342900" y="29408"/>
                  <a:pt x="342900" y="28575"/>
                </a:cubicBezTo>
                <a:cubicBezTo>
                  <a:pt x="342900" y="27742"/>
                  <a:pt x="342305" y="26789"/>
                  <a:pt x="341590" y="26432"/>
                </a:cubicBezTo>
                <a:lnTo>
                  <a:pt x="323850" y="19050"/>
                </a:lnTo>
                <a:lnTo>
                  <a:pt x="316468" y="1310"/>
                </a:lnTo>
                <a:cubicBezTo>
                  <a:pt x="316111" y="595"/>
                  <a:pt x="315158" y="0"/>
                  <a:pt x="314325" y="0"/>
                </a:cubicBezTo>
                <a:cubicBezTo>
                  <a:pt x="313492" y="0"/>
                  <a:pt x="312539" y="595"/>
                  <a:pt x="312182" y="1310"/>
                </a:cubicBezTo>
                <a:lnTo>
                  <a:pt x="304800" y="19050"/>
                </a:lnTo>
                <a:lnTo>
                  <a:pt x="287060" y="26432"/>
                </a:lnTo>
                <a:cubicBezTo>
                  <a:pt x="286345" y="26789"/>
                  <a:pt x="285750" y="27742"/>
                  <a:pt x="285750" y="28575"/>
                </a:cubicBezTo>
                <a:cubicBezTo>
                  <a:pt x="285750" y="29408"/>
                  <a:pt x="286345" y="30361"/>
                  <a:pt x="287060" y="30718"/>
                </a:cubicBezTo>
                <a:lnTo>
                  <a:pt x="304800" y="38100"/>
                </a:lnTo>
                <a:lnTo>
                  <a:pt x="312182" y="55840"/>
                </a:lnTo>
                <a:close/>
                <a:moveTo>
                  <a:pt x="316468" y="115610"/>
                </a:moveTo>
                <a:cubicBezTo>
                  <a:pt x="316111" y="114895"/>
                  <a:pt x="315158" y="114300"/>
                  <a:pt x="314325" y="114300"/>
                </a:cubicBezTo>
                <a:cubicBezTo>
                  <a:pt x="313492" y="114300"/>
                  <a:pt x="312539" y="114895"/>
                  <a:pt x="312182" y="115610"/>
                </a:cubicBezTo>
                <a:lnTo>
                  <a:pt x="304800" y="133350"/>
                </a:lnTo>
                <a:lnTo>
                  <a:pt x="287060" y="140732"/>
                </a:lnTo>
                <a:cubicBezTo>
                  <a:pt x="286345" y="141089"/>
                  <a:pt x="285750" y="142042"/>
                  <a:pt x="285750" y="142875"/>
                </a:cubicBezTo>
                <a:cubicBezTo>
                  <a:pt x="285750" y="143708"/>
                  <a:pt x="286345" y="144661"/>
                  <a:pt x="287060" y="145018"/>
                </a:cubicBezTo>
                <a:lnTo>
                  <a:pt x="304800" y="152400"/>
                </a:lnTo>
                <a:lnTo>
                  <a:pt x="312182" y="170140"/>
                </a:lnTo>
                <a:cubicBezTo>
                  <a:pt x="312539" y="170855"/>
                  <a:pt x="313492" y="171450"/>
                  <a:pt x="314325" y="171450"/>
                </a:cubicBezTo>
                <a:cubicBezTo>
                  <a:pt x="315158" y="171450"/>
                  <a:pt x="316111" y="170855"/>
                  <a:pt x="316468" y="170140"/>
                </a:cubicBezTo>
                <a:lnTo>
                  <a:pt x="323850" y="152400"/>
                </a:lnTo>
                <a:lnTo>
                  <a:pt x="341590" y="145018"/>
                </a:lnTo>
                <a:cubicBezTo>
                  <a:pt x="342305" y="144661"/>
                  <a:pt x="342900" y="143708"/>
                  <a:pt x="342900" y="142875"/>
                </a:cubicBezTo>
                <a:cubicBezTo>
                  <a:pt x="342900" y="142042"/>
                  <a:pt x="342305" y="141089"/>
                  <a:pt x="341590" y="140732"/>
                </a:cubicBezTo>
                <a:lnTo>
                  <a:pt x="323850" y="133350"/>
                </a:lnTo>
                <a:lnTo>
                  <a:pt x="316468" y="115610"/>
                </a:lnTo>
                <a:close/>
                <a:moveTo>
                  <a:pt x="304800" y="85725"/>
                </a:moveTo>
                <a:cubicBezTo>
                  <a:pt x="304800" y="84892"/>
                  <a:pt x="304205" y="83939"/>
                  <a:pt x="303490" y="83582"/>
                </a:cubicBezTo>
                <a:lnTo>
                  <a:pt x="285750" y="76200"/>
                </a:lnTo>
                <a:lnTo>
                  <a:pt x="278368" y="58460"/>
                </a:lnTo>
                <a:cubicBezTo>
                  <a:pt x="278011" y="57745"/>
                  <a:pt x="277058" y="57150"/>
                  <a:pt x="276225" y="57150"/>
                </a:cubicBezTo>
                <a:cubicBezTo>
                  <a:pt x="275392" y="57150"/>
                  <a:pt x="274439" y="57745"/>
                  <a:pt x="274082" y="58460"/>
                </a:cubicBezTo>
                <a:lnTo>
                  <a:pt x="266700" y="76200"/>
                </a:lnTo>
                <a:lnTo>
                  <a:pt x="248960" y="83582"/>
                </a:lnTo>
                <a:cubicBezTo>
                  <a:pt x="248245" y="83939"/>
                  <a:pt x="247650" y="84892"/>
                  <a:pt x="247650" y="85725"/>
                </a:cubicBezTo>
                <a:cubicBezTo>
                  <a:pt x="247650" y="86558"/>
                  <a:pt x="248245" y="87511"/>
                  <a:pt x="248960" y="87868"/>
                </a:cubicBezTo>
                <a:lnTo>
                  <a:pt x="266700" y="95250"/>
                </a:lnTo>
                <a:lnTo>
                  <a:pt x="274082" y="112990"/>
                </a:lnTo>
                <a:cubicBezTo>
                  <a:pt x="274439" y="113705"/>
                  <a:pt x="275392" y="114300"/>
                  <a:pt x="276225" y="114300"/>
                </a:cubicBezTo>
                <a:cubicBezTo>
                  <a:pt x="277058" y="114300"/>
                  <a:pt x="278011" y="113705"/>
                  <a:pt x="278368" y="112990"/>
                </a:cubicBezTo>
                <a:lnTo>
                  <a:pt x="285750" y="95250"/>
                </a:lnTo>
                <a:lnTo>
                  <a:pt x="303490" y="87868"/>
                </a:lnTo>
                <a:cubicBezTo>
                  <a:pt x="304205" y="87511"/>
                  <a:pt x="304800" y="86558"/>
                  <a:pt x="304800" y="8572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7000" y="4368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76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1750" y="436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57150"/>
                </a:moveTo>
                <a:lnTo>
                  <a:pt x="381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38100" y="57150"/>
                </a:lnTo>
                <a:close/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cubicBezTo>
                  <a:pt x="342900" y="221040"/>
                  <a:pt x="325815" y="238125"/>
                  <a:pt x="304800" y="238125"/>
                </a:cubicBezTo>
                <a:lnTo>
                  <a:pt x="38100" y="238125"/>
                </a:lnTo>
                <a:cubicBezTo>
                  <a:pt x="17085" y="238125"/>
                  <a:pt x="0" y="221040"/>
                  <a:pt x="0" y="200025"/>
                </a:cubicBezTo>
                <a:lnTo>
                  <a:pt x="0" y="57150"/>
                </a:lnTo>
                <a:close/>
                <a:moveTo>
                  <a:pt x="95250" y="266700"/>
                </a:moveTo>
                <a:lnTo>
                  <a:pt x="247650" y="266700"/>
                </a:lnTo>
                <a:cubicBezTo>
                  <a:pt x="258187" y="266700"/>
                  <a:pt x="266700" y="275213"/>
                  <a:pt x="266700" y="285750"/>
                </a:cubicBezTo>
                <a:cubicBezTo>
                  <a:pt x="266700" y="296287"/>
                  <a:pt x="258187" y="304800"/>
                  <a:pt x="247650" y="304800"/>
                </a:cubicBezTo>
                <a:lnTo>
                  <a:pt x="95250" y="304800"/>
                </a:lnTo>
                <a:cubicBezTo>
                  <a:pt x="84713" y="304800"/>
                  <a:pt x="76200" y="296287"/>
                  <a:pt x="76200" y="285750"/>
                </a:cubicBezTo>
                <a:cubicBezTo>
                  <a:pt x="76200" y="275213"/>
                  <a:pt x="84713" y="266700"/>
                  <a:pt x="95250" y="26670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908800" y="4368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娱乐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69400" y="416560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609598"/>
                </a:lnTo>
                <a:cubicBezTo>
                  <a:pt x="2768600" y="665711"/>
                  <a:pt x="2723111" y="711200"/>
                  <a:pt x="2666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72600" y="436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8276" y="43041"/>
                </a:moveTo>
                <a:cubicBezTo>
                  <a:pt x="22384" y="28813"/>
                  <a:pt x="35421" y="19050"/>
                  <a:pt x="50244" y="19050"/>
                </a:cubicBezTo>
                <a:lnTo>
                  <a:pt x="255032" y="19050"/>
                </a:lnTo>
                <a:cubicBezTo>
                  <a:pt x="269855" y="19050"/>
                  <a:pt x="282892" y="28813"/>
                  <a:pt x="287060" y="43041"/>
                </a:cubicBezTo>
                <a:lnTo>
                  <a:pt x="300990" y="90785"/>
                </a:lnTo>
                <a:cubicBezTo>
                  <a:pt x="308610" y="116800"/>
                  <a:pt x="289024" y="142875"/>
                  <a:pt x="261937" y="142875"/>
                </a:cubicBezTo>
                <a:cubicBezTo>
                  <a:pt x="246281" y="142875"/>
                  <a:pt x="232529" y="134005"/>
                  <a:pt x="225743" y="120789"/>
                </a:cubicBezTo>
                <a:cubicBezTo>
                  <a:pt x="218837" y="133826"/>
                  <a:pt x="205145" y="142875"/>
                  <a:pt x="189190" y="142875"/>
                </a:cubicBezTo>
                <a:cubicBezTo>
                  <a:pt x="173355" y="142875"/>
                  <a:pt x="159603" y="133945"/>
                  <a:pt x="152698" y="120848"/>
                </a:cubicBezTo>
                <a:cubicBezTo>
                  <a:pt x="145792" y="133945"/>
                  <a:pt x="132040" y="142875"/>
                  <a:pt x="116205" y="142875"/>
                </a:cubicBezTo>
                <a:cubicBezTo>
                  <a:pt x="100251" y="142875"/>
                  <a:pt x="86558" y="133886"/>
                  <a:pt x="79653" y="120789"/>
                </a:cubicBezTo>
                <a:cubicBezTo>
                  <a:pt x="72866" y="133945"/>
                  <a:pt x="59115" y="142875"/>
                  <a:pt x="43458" y="142875"/>
                </a:cubicBezTo>
                <a:cubicBezTo>
                  <a:pt x="16312" y="142875"/>
                  <a:pt x="-3215" y="116860"/>
                  <a:pt x="4405" y="90785"/>
                </a:cubicBezTo>
                <a:lnTo>
                  <a:pt x="18276" y="43041"/>
                </a:lnTo>
                <a:close/>
                <a:moveTo>
                  <a:pt x="57388" y="209550"/>
                </a:moveTo>
                <a:lnTo>
                  <a:pt x="247888" y="209550"/>
                </a:lnTo>
                <a:lnTo>
                  <a:pt x="247888" y="170021"/>
                </a:lnTo>
                <a:cubicBezTo>
                  <a:pt x="252413" y="170974"/>
                  <a:pt x="257115" y="171450"/>
                  <a:pt x="261878" y="171450"/>
                </a:cubicBezTo>
                <a:cubicBezTo>
                  <a:pt x="270391" y="171450"/>
                  <a:pt x="278547" y="169902"/>
                  <a:pt x="285988" y="167164"/>
                </a:cubicBezTo>
                <a:lnTo>
                  <a:pt x="285988" y="257175"/>
                </a:lnTo>
                <a:cubicBezTo>
                  <a:pt x="285988" y="272951"/>
                  <a:pt x="273189" y="285750"/>
                  <a:pt x="257413" y="285750"/>
                </a:cubicBezTo>
                <a:lnTo>
                  <a:pt x="47863" y="285750"/>
                </a:lnTo>
                <a:cubicBezTo>
                  <a:pt x="32087" y="285750"/>
                  <a:pt x="19288" y="272951"/>
                  <a:pt x="19288" y="257175"/>
                </a:cubicBezTo>
                <a:lnTo>
                  <a:pt x="19288" y="167164"/>
                </a:lnTo>
                <a:cubicBezTo>
                  <a:pt x="26730" y="169902"/>
                  <a:pt x="34826" y="171450"/>
                  <a:pt x="43398" y="171450"/>
                </a:cubicBezTo>
                <a:cubicBezTo>
                  <a:pt x="48220" y="171450"/>
                  <a:pt x="52864" y="170974"/>
                  <a:pt x="57388" y="170021"/>
                </a:cubicBezTo>
                <a:lnTo>
                  <a:pt x="57388" y="20955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9880600" y="4368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外出就餐</a:t>
            </a:r>
            <a:endParaRPr lang="en-US" sz="1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06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厨房剧场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空间里的权力与情感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2256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10平米空间堆满10种电器，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凌乱揭示‘君子远庖厨’文化仍在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0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空间狭小导致流线冲突，清洁者被边缘化。厨房不仅是功能场所，更是家庭情感与性别角色的展演舞台。</a:t>
            </a:r>
            <a:endParaRPr lang="en-US" sz="1600" dirty="0"/>
          </a:p>
        </p:txBody>
      </p:sp>
      <p:pic>
        <p:nvPicPr>
          <p:cNvPr id="6" name="Image 0" descr="https://kimi-web-img.moonshot.cn/img/c8.alamy.com/4474c1e8bca8b01528ee24f9581b82735f604083.jpg"/>
          <p:cNvPicPr>
            <a:picLocks noChangeAspect="1"/>
          </p:cNvPicPr>
          <p:nvPr/>
        </p:nvPicPr>
        <p:blipFill>
          <a:blip r:embed="rId3"/>
          <a:srcRect l="7123" r="7123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76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代际差异：同一餐桌的多元宇宙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女儿牛奶、父亲方便面、母亲居中平衡，揭示同一空间内的价值系统冲突。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90028" y="30480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60400" y="0"/>
                </a:lnTo>
                <a:cubicBezTo>
                  <a:pt x="1024885" y="0"/>
                  <a:pt x="1320800" y="295915"/>
                  <a:pt x="1320800" y="660400"/>
                </a:cubicBezTo>
                <a:lnTo>
                  <a:pt x="1320800" y="660400"/>
                </a:lnTo>
                <a:cubicBezTo>
                  <a:pt x="1320800" y="1024885"/>
                  <a:pt x="1024885" y="1320800"/>
                  <a:pt x="660400" y="1320800"/>
                </a:cubicBezTo>
                <a:lnTo>
                  <a:pt x="660400" y="1320800"/>
                </a:lnTo>
                <a:cubicBezTo>
                  <a:pt x="295915" y="1320800"/>
                  <a:pt x="0" y="1024885"/>
                  <a:pt x="0" y="660400"/>
                </a:cubicBezTo>
                <a:lnTo>
                  <a:pt x="0" y="660400"/>
                </a:lnTo>
                <a:cubicBezTo>
                  <a:pt x="0" y="295915"/>
                  <a:pt x="295915" y="0"/>
                  <a:pt x="660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5" name="Image 0" descr="https://kimi-web-img.moonshot.cn/img/c8.alamy.com/6d353033438dfaa9cffda28af43f9900d315f1d9.jpg"/>
          <p:cNvPicPr>
            <a:picLocks noChangeAspect="1"/>
          </p:cNvPicPr>
          <p:nvPr/>
        </p:nvPicPr>
        <p:blipFill>
          <a:blip r:embed="rId3"/>
          <a:srcRect t="18849" b="18849"/>
          <a:stretch/>
        </p:blipFill>
        <p:spPr>
          <a:xfrm>
            <a:off x="1540828" y="3098800"/>
            <a:ext cx="1320800" cy="1320800"/>
          </a:xfrm>
          <a:prstGeom prst="roundRect">
            <a:avLst>
              <a:gd name="adj" fmla="val 50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0" y="45720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女儿：美容诉求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927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牛奶+水果，为皮肤投资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84641" y="30480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60400" y="0"/>
                </a:lnTo>
                <a:cubicBezTo>
                  <a:pt x="1024885" y="0"/>
                  <a:pt x="1320800" y="295915"/>
                  <a:pt x="1320800" y="660400"/>
                </a:cubicBezTo>
                <a:lnTo>
                  <a:pt x="1320800" y="660400"/>
                </a:lnTo>
                <a:cubicBezTo>
                  <a:pt x="1320800" y="1024885"/>
                  <a:pt x="1024885" y="1320800"/>
                  <a:pt x="660400" y="1320800"/>
                </a:cubicBezTo>
                <a:lnTo>
                  <a:pt x="660400" y="1320800"/>
                </a:lnTo>
                <a:cubicBezTo>
                  <a:pt x="295915" y="1320800"/>
                  <a:pt x="0" y="1024885"/>
                  <a:pt x="0" y="660400"/>
                </a:cubicBezTo>
                <a:lnTo>
                  <a:pt x="0" y="660400"/>
                </a:lnTo>
                <a:cubicBezTo>
                  <a:pt x="0" y="295915"/>
                  <a:pt x="295915" y="0"/>
                  <a:pt x="660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9" name="Image 1" descr="https://kimi-web-img.moonshot.cn/img/thumbs.dreamstime.com/44045bdbe72f4079cd4db3c96555d88728c79146.jpg"/>
          <p:cNvPicPr>
            <a:picLocks noChangeAspect="1"/>
          </p:cNvPicPr>
          <p:nvPr/>
        </p:nvPicPr>
        <p:blipFill>
          <a:blip r:embed="rId4"/>
          <a:srcRect l="13844" r="13844"/>
          <a:stretch/>
        </p:blipFill>
        <p:spPr>
          <a:xfrm>
            <a:off x="5435441" y="3098800"/>
            <a:ext cx="1320800" cy="1320800"/>
          </a:xfrm>
          <a:prstGeom prst="roundRect">
            <a:avLst>
              <a:gd name="adj" fmla="val 50000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3894614" y="45720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父亲：效率至上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894614" y="4927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方便面，夜班后的妥协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9279255" y="3048000"/>
            <a:ext cx="1320800" cy="1320800"/>
          </a:xfrm>
          <a:custGeom>
            <a:avLst/>
            <a:gdLst/>
            <a:ahLst/>
            <a:cxnLst/>
            <a:rect l="l" t="t" r="r" b="b"/>
            <a:pathLst>
              <a:path w="1320800" h="1320800">
                <a:moveTo>
                  <a:pt x="660400" y="0"/>
                </a:moveTo>
                <a:lnTo>
                  <a:pt x="660400" y="0"/>
                </a:lnTo>
                <a:cubicBezTo>
                  <a:pt x="1024885" y="0"/>
                  <a:pt x="1320800" y="295915"/>
                  <a:pt x="1320800" y="660400"/>
                </a:cubicBezTo>
                <a:lnTo>
                  <a:pt x="1320800" y="660400"/>
                </a:lnTo>
                <a:cubicBezTo>
                  <a:pt x="1320800" y="1024885"/>
                  <a:pt x="1024885" y="1320800"/>
                  <a:pt x="660400" y="1320800"/>
                </a:cubicBezTo>
                <a:lnTo>
                  <a:pt x="660400" y="1320800"/>
                </a:lnTo>
                <a:cubicBezTo>
                  <a:pt x="295915" y="1320800"/>
                  <a:pt x="0" y="1024885"/>
                  <a:pt x="0" y="660400"/>
                </a:cubicBezTo>
                <a:lnTo>
                  <a:pt x="0" y="660400"/>
                </a:lnTo>
                <a:cubicBezTo>
                  <a:pt x="0" y="295915"/>
                  <a:pt x="295915" y="0"/>
                  <a:pt x="660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FFFFFF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3" name="Image 2" descr="https://kimi-web-img.moonshot.cn/img/www.uobgroup.com/cafa4383b3228392c77c03c0658662b432a92d6b.jpg"/>
          <p:cNvPicPr>
            <a:picLocks noChangeAspect="1"/>
          </p:cNvPicPr>
          <p:nvPr/>
        </p:nvPicPr>
        <p:blipFill>
          <a:blip r:embed="rId5"/>
          <a:srcRect l="14815" r="14815"/>
          <a:stretch/>
        </p:blipFill>
        <p:spPr>
          <a:xfrm>
            <a:off x="9330055" y="3098800"/>
            <a:ext cx="1320800" cy="1320800"/>
          </a:xfrm>
          <a:prstGeom prst="roundRect">
            <a:avLst>
              <a:gd name="adj" fmla="val 50000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7789228" y="45720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母亲：平衡焦虑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789228" y="49276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兼顾营养与成本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洞察整合：四大需求24痛点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6510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问卷验证：安全与功能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2606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中产消费的共识与底线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870045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10户问卷显示，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食品安全与味道营养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是共识性最高需求，而网络订餐、一次性餐具等“便捷”选项得分最低。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045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中产愿为健康溢价付费，但前提是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安全焦虑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必须被首先回应。技术噱头若不能解决此问题，将难以获得市场信任。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2082800"/>
            <a:ext cx="5842000" cy="762000"/>
          </a:xfrm>
          <a:custGeom>
            <a:avLst/>
            <a:gdLst/>
            <a:ahLst/>
            <a:cxnLst/>
            <a:rect l="l" t="t" r="r" b="b"/>
            <a:pathLst>
              <a:path w="5842000" h="7620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660403"/>
                </a:lnTo>
                <a:cubicBezTo>
                  <a:pt x="5842000" y="716513"/>
                  <a:pt x="5796513" y="762000"/>
                  <a:pt x="5740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99200" y="22860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食品安全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21190" y="2362200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625600" h="203200">
                <a:moveTo>
                  <a:pt x="101600" y="0"/>
                </a:moveTo>
                <a:lnTo>
                  <a:pt x="1524000" y="0"/>
                </a:lnTo>
                <a:cubicBezTo>
                  <a:pt x="1580075" y="0"/>
                  <a:pt x="1625600" y="45525"/>
                  <a:pt x="1625600" y="101600"/>
                </a:cubicBezTo>
                <a:lnTo>
                  <a:pt x="1625600" y="101600"/>
                </a:lnTo>
                <a:cubicBezTo>
                  <a:pt x="1625600" y="157675"/>
                  <a:pt x="1580075" y="203200"/>
                  <a:pt x="15240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9" name="Shape 7"/>
          <p:cNvSpPr/>
          <p:nvPr/>
        </p:nvSpPr>
        <p:spPr>
          <a:xfrm>
            <a:off x="9521190" y="2362200"/>
            <a:ext cx="1549400" cy="203200"/>
          </a:xfrm>
          <a:custGeom>
            <a:avLst/>
            <a:gdLst/>
            <a:ahLst/>
            <a:cxnLst/>
            <a:rect l="l" t="t" r="r" b="b"/>
            <a:pathLst>
              <a:path w="1549400" h="203200">
                <a:moveTo>
                  <a:pt x="101600" y="0"/>
                </a:moveTo>
                <a:lnTo>
                  <a:pt x="1447800" y="0"/>
                </a:lnTo>
                <a:cubicBezTo>
                  <a:pt x="1503875" y="0"/>
                  <a:pt x="1549400" y="45525"/>
                  <a:pt x="1549400" y="101600"/>
                </a:cubicBezTo>
                <a:lnTo>
                  <a:pt x="1549400" y="101600"/>
                </a:lnTo>
                <a:cubicBezTo>
                  <a:pt x="1549400" y="157675"/>
                  <a:pt x="1503875" y="203200"/>
                  <a:pt x="14478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1299190" y="23114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3048000"/>
            <a:ext cx="5842000" cy="762000"/>
          </a:xfrm>
          <a:custGeom>
            <a:avLst/>
            <a:gdLst/>
            <a:ahLst/>
            <a:cxnLst/>
            <a:rect l="l" t="t" r="r" b="b"/>
            <a:pathLst>
              <a:path w="5842000" h="7620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660403"/>
                </a:lnTo>
                <a:cubicBezTo>
                  <a:pt x="5842000" y="716513"/>
                  <a:pt x="5796513" y="762000"/>
                  <a:pt x="5740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9200" y="32512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味道营养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21190" y="3327400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625600" h="203200">
                <a:moveTo>
                  <a:pt x="101600" y="0"/>
                </a:moveTo>
                <a:lnTo>
                  <a:pt x="1524000" y="0"/>
                </a:lnTo>
                <a:cubicBezTo>
                  <a:pt x="1580075" y="0"/>
                  <a:pt x="1625600" y="45525"/>
                  <a:pt x="1625600" y="101600"/>
                </a:cubicBezTo>
                <a:lnTo>
                  <a:pt x="1625600" y="101600"/>
                </a:lnTo>
                <a:cubicBezTo>
                  <a:pt x="1625600" y="157675"/>
                  <a:pt x="1580075" y="203200"/>
                  <a:pt x="15240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1190" y="3327400"/>
            <a:ext cx="1435100" cy="203200"/>
          </a:xfrm>
          <a:custGeom>
            <a:avLst/>
            <a:gdLst/>
            <a:ahLst/>
            <a:cxnLst/>
            <a:rect l="l" t="t" r="r" b="b"/>
            <a:pathLst>
              <a:path w="1435100" h="203200">
                <a:moveTo>
                  <a:pt x="101600" y="0"/>
                </a:moveTo>
                <a:lnTo>
                  <a:pt x="1333500" y="0"/>
                </a:lnTo>
                <a:cubicBezTo>
                  <a:pt x="1389575" y="0"/>
                  <a:pt x="1435100" y="45525"/>
                  <a:pt x="1435100" y="101600"/>
                </a:cubicBezTo>
                <a:lnTo>
                  <a:pt x="1435100" y="101600"/>
                </a:lnTo>
                <a:cubicBezTo>
                  <a:pt x="1435100" y="157675"/>
                  <a:pt x="1389575" y="203200"/>
                  <a:pt x="13335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1299190" y="32766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0" y="4013200"/>
            <a:ext cx="5842000" cy="762000"/>
          </a:xfrm>
          <a:custGeom>
            <a:avLst/>
            <a:gdLst/>
            <a:ahLst/>
            <a:cxnLst/>
            <a:rect l="l" t="t" r="r" b="b"/>
            <a:pathLst>
              <a:path w="5842000" h="762000">
                <a:moveTo>
                  <a:pt x="101597" y="0"/>
                </a:moveTo>
                <a:lnTo>
                  <a:pt x="5740403" y="0"/>
                </a:lnTo>
                <a:cubicBezTo>
                  <a:pt x="5796513" y="0"/>
                  <a:pt x="5842000" y="45487"/>
                  <a:pt x="5842000" y="101597"/>
                </a:cubicBezTo>
                <a:lnTo>
                  <a:pt x="5842000" y="660403"/>
                </a:lnTo>
                <a:cubicBezTo>
                  <a:pt x="5842000" y="716513"/>
                  <a:pt x="5796513" y="762000"/>
                  <a:pt x="5740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9200" y="4216400"/>
            <a:ext cx="142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网络订餐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21190" y="4292600"/>
            <a:ext cx="1625600" cy="203200"/>
          </a:xfrm>
          <a:custGeom>
            <a:avLst/>
            <a:gdLst/>
            <a:ahLst/>
            <a:cxnLst/>
            <a:rect l="l" t="t" r="r" b="b"/>
            <a:pathLst>
              <a:path w="1625600" h="203200">
                <a:moveTo>
                  <a:pt x="101600" y="0"/>
                </a:moveTo>
                <a:lnTo>
                  <a:pt x="1524000" y="0"/>
                </a:lnTo>
                <a:cubicBezTo>
                  <a:pt x="1580075" y="0"/>
                  <a:pt x="1625600" y="45525"/>
                  <a:pt x="1625600" y="101600"/>
                </a:cubicBezTo>
                <a:lnTo>
                  <a:pt x="1625600" y="101600"/>
                </a:lnTo>
                <a:cubicBezTo>
                  <a:pt x="1625600" y="157675"/>
                  <a:pt x="1580075" y="203200"/>
                  <a:pt x="15240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19" name="Shape 17"/>
          <p:cNvSpPr/>
          <p:nvPr/>
        </p:nvSpPr>
        <p:spPr>
          <a:xfrm>
            <a:off x="9521190" y="4292600"/>
            <a:ext cx="241300" cy="203200"/>
          </a:xfrm>
          <a:custGeom>
            <a:avLst/>
            <a:gdLst/>
            <a:ahLst/>
            <a:cxnLst/>
            <a:rect l="l" t="t" r="r" b="b"/>
            <a:pathLst>
              <a:path w="241300" h="203200">
                <a:moveTo>
                  <a:pt x="101600" y="0"/>
                </a:moveTo>
                <a:lnTo>
                  <a:pt x="139700" y="0"/>
                </a:lnTo>
                <a:cubicBezTo>
                  <a:pt x="195775" y="0"/>
                  <a:pt x="241300" y="45525"/>
                  <a:pt x="241300" y="101600"/>
                </a:cubicBezTo>
                <a:lnTo>
                  <a:pt x="241300" y="101600"/>
                </a:lnTo>
                <a:cubicBezTo>
                  <a:pt x="241300" y="157675"/>
                  <a:pt x="195775" y="203200"/>
                  <a:pt x="139700" y="203200"/>
                </a:cubicBezTo>
                <a:lnTo>
                  <a:pt x="101600" y="203200"/>
                </a:lnTo>
                <a:cubicBezTo>
                  <a:pt x="45525" y="203200"/>
                  <a:pt x="0" y="157675"/>
                  <a:pt x="0" y="1016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1299190" y="42418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15%</a:t>
            </a:r>
            <a:endParaRPr lang="en-US" sz="1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76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情境交叉：需求矩阵洞察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将八情境与四大维度交叉，量化优先级，锁定关键冲突。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9464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8488" y="3263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25388" y="0"/>
                </a:moveTo>
                <a:cubicBezTo>
                  <a:pt x="115491" y="0"/>
                  <a:pt x="107528" y="7962"/>
                  <a:pt x="107528" y="17859"/>
                </a:cubicBezTo>
                <a:cubicBezTo>
                  <a:pt x="107528" y="27756"/>
                  <a:pt x="115491" y="35719"/>
                  <a:pt x="125388" y="35719"/>
                </a:cubicBezTo>
                <a:lnTo>
                  <a:pt x="149200" y="35719"/>
                </a:lnTo>
                <a:lnTo>
                  <a:pt x="149200" y="54546"/>
                </a:lnTo>
                <a:cubicBezTo>
                  <a:pt x="68833" y="63401"/>
                  <a:pt x="6325" y="131564"/>
                  <a:pt x="6325" y="214313"/>
                </a:cubicBezTo>
                <a:cubicBezTo>
                  <a:pt x="6325" y="303088"/>
                  <a:pt x="78284" y="375047"/>
                  <a:pt x="167060" y="375047"/>
                </a:cubicBezTo>
                <a:cubicBezTo>
                  <a:pt x="255836" y="375047"/>
                  <a:pt x="327794" y="303088"/>
                  <a:pt x="327794" y="214313"/>
                </a:cubicBezTo>
                <a:cubicBezTo>
                  <a:pt x="327794" y="184696"/>
                  <a:pt x="319757" y="156939"/>
                  <a:pt x="305767" y="133052"/>
                </a:cubicBezTo>
                <a:lnTo>
                  <a:pt x="326752" y="112068"/>
                </a:lnTo>
                <a:cubicBezTo>
                  <a:pt x="336054" y="102766"/>
                  <a:pt x="336054" y="87660"/>
                  <a:pt x="326752" y="78358"/>
                </a:cubicBezTo>
                <a:cubicBezTo>
                  <a:pt x="317450" y="69056"/>
                  <a:pt x="302344" y="69056"/>
                  <a:pt x="293043" y="78358"/>
                </a:cubicBezTo>
                <a:lnTo>
                  <a:pt x="275630" y="95771"/>
                </a:lnTo>
                <a:cubicBezTo>
                  <a:pt x="251147" y="73298"/>
                  <a:pt x="219670" y="58341"/>
                  <a:pt x="184845" y="54471"/>
                </a:cubicBezTo>
                <a:lnTo>
                  <a:pt x="184845" y="35644"/>
                </a:lnTo>
                <a:lnTo>
                  <a:pt x="208657" y="35644"/>
                </a:lnTo>
                <a:cubicBezTo>
                  <a:pt x="218554" y="35644"/>
                  <a:pt x="226516" y="27682"/>
                  <a:pt x="226516" y="17785"/>
                </a:cubicBezTo>
                <a:cubicBezTo>
                  <a:pt x="226516" y="7888"/>
                  <a:pt x="218554" y="-74"/>
                  <a:pt x="208657" y="-74"/>
                </a:cubicBezTo>
                <a:lnTo>
                  <a:pt x="125313" y="-74"/>
                </a:lnTo>
                <a:close/>
                <a:moveTo>
                  <a:pt x="184919" y="136922"/>
                </a:moveTo>
                <a:lnTo>
                  <a:pt x="184919" y="214313"/>
                </a:lnTo>
                <a:cubicBezTo>
                  <a:pt x="184919" y="224210"/>
                  <a:pt x="176957" y="232172"/>
                  <a:pt x="167060" y="232172"/>
                </a:cubicBezTo>
                <a:cubicBezTo>
                  <a:pt x="157163" y="232172"/>
                  <a:pt x="149200" y="224210"/>
                  <a:pt x="149200" y="214313"/>
                </a:cubicBezTo>
                <a:lnTo>
                  <a:pt x="149200" y="136922"/>
                </a:lnTo>
                <a:cubicBezTo>
                  <a:pt x="149200" y="127025"/>
                  <a:pt x="157163" y="119063"/>
                  <a:pt x="167060" y="119063"/>
                </a:cubicBezTo>
                <a:cubicBezTo>
                  <a:pt x="176957" y="119063"/>
                  <a:pt x="184919" y="127025"/>
                  <a:pt x="184919" y="136922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149600"/>
            <a:ext cx="289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省时(省事)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505200"/>
            <a:ext cx="289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早餐速度 vs 营养、半成品开发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29464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42088" y="32639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66688" y="83344"/>
                </a:moveTo>
                <a:cubicBezTo>
                  <a:pt x="160139" y="83344"/>
                  <a:pt x="154781" y="77986"/>
                  <a:pt x="154781" y="71438"/>
                </a:cubicBezTo>
                <a:lnTo>
                  <a:pt x="154781" y="59531"/>
                </a:lnTo>
                <a:cubicBezTo>
                  <a:pt x="154781" y="26640"/>
                  <a:pt x="181421" y="0"/>
                  <a:pt x="214313" y="0"/>
                </a:cubicBezTo>
                <a:lnTo>
                  <a:pt x="226219" y="0"/>
                </a:lnTo>
                <a:cubicBezTo>
                  <a:pt x="232767" y="0"/>
                  <a:pt x="238125" y="5358"/>
                  <a:pt x="238125" y="11906"/>
                </a:cubicBezTo>
                <a:lnTo>
                  <a:pt x="238125" y="23812"/>
                </a:lnTo>
                <a:cubicBezTo>
                  <a:pt x="238125" y="56704"/>
                  <a:pt x="211485" y="83344"/>
                  <a:pt x="178594" y="83344"/>
                </a:cubicBezTo>
                <a:lnTo>
                  <a:pt x="166688" y="83344"/>
                </a:lnTo>
                <a:close/>
                <a:moveTo>
                  <a:pt x="0" y="214313"/>
                </a:moveTo>
                <a:cubicBezTo>
                  <a:pt x="0" y="157535"/>
                  <a:pt x="26566" y="95250"/>
                  <a:pt x="83344" y="95250"/>
                </a:cubicBezTo>
                <a:cubicBezTo>
                  <a:pt x="103659" y="95250"/>
                  <a:pt x="127769" y="102915"/>
                  <a:pt x="144884" y="109612"/>
                </a:cubicBezTo>
                <a:cubicBezTo>
                  <a:pt x="158874" y="115044"/>
                  <a:pt x="174575" y="115044"/>
                  <a:pt x="188565" y="109612"/>
                </a:cubicBezTo>
                <a:cubicBezTo>
                  <a:pt x="205606" y="102989"/>
                  <a:pt x="229791" y="95250"/>
                  <a:pt x="250106" y="95250"/>
                </a:cubicBezTo>
                <a:cubicBezTo>
                  <a:pt x="306884" y="95250"/>
                  <a:pt x="333449" y="157535"/>
                  <a:pt x="333449" y="214313"/>
                </a:cubicBezTo>
                <a:cubicBezTo>
                  <a:pt x="333449" y="309563"/>
                  <a:pt x="273918" y="381000"/>
                  <a:pt x="214387" y="381000"/>
                </a:cubicBezTo>
                <a:cubicBezTo>
                  <a:pt x="202109" y="381000"/>
                  <a:pt x="186035" y="376089"/>
                  <a:pt x="176064" y="372591"/>
                </a:cubicBezTo>
                <a:cubicBezTo>
                  <a:pt x="170036" y="370508"/>
                  <a:pt x="163488" y="370508"/>
                  <a:pt x="157460" y="372591"/>
                </a:cubicBezTo>
                <a:cubicBezTo>
                  <a:pt x="147489" y="376089"/>
                  <a:pt x="131415" y="381000"/>
                  <a:pt x="119137" y="381000"/>
                </a:cubicBezTo>
                <a:cubicBezTo>
                  <a:pt x="59606" y="381000"/>
                  <a:pt x="74" y="309563"/>
                  <a:pt x="74" y="214313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7213600" y="3149600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健康(营养)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13600" y="35052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生熟食案板分离、健康食谱系统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4000" y="41656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4675" y="448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9338" y="64815"/>
                </a:moveTo>
                <a:lnTo>
                  <a:pt x="190500" y="80218"/>
                </a:lnTo>
                <a:lnTo>
                  <a:pt x="201662" y="64815"/>
                </a:lnTo>
                <a:cubicBezTo>
                  <a:pt x="220266" y="39067"/>
                  <a:pt x="250180" y="23812"/>
                  <a:pt x="281955" y="23812"/>
                </a:cubicBezTo>
                <a:cubicBezTo>
                  <a:pt x="336649" y="23812"/>
                  <a:pt x="381000" y="68163"/>
                  <a:pt x="381000" y="122858"/>
                </a:cubicBezTo>
                <a:lnTo>
                  <a:pt x="381000" y="124792"/>
                </a:lnTo>
                <a:cubicBezTo>
                  <a:pt x="381000" y="208285"/>
                  <a:pt x="276895" y="305246"/>
                  <a:pt x="222572" y="346695"/>
                </a:cubicBezTo>
                <a:cubicBezTo>
                  <a:pt x="213345" y="353690"/>
                  <a:pt x="202034" y="357188"/>
                  <a:pt x="190500" y="357188"/>
                </a:cubicBezTo>
                <a:cubicBezTo>
                  <a:pt x="178966" y="357188"/>
                  <a:pt x="167580" y="353764"/>
                  <a:pt x="158428" y="346695"/>
                </a:cubicBezTo>
                <a:cubicBezTo>
                  <a:pt x="104105" y="305246"/>
                  <a:pt x="0" y="208285"/>
                  <a:pt x="0" y="124792"/>
                </a:cubicBezTo>
                <a:lnTo>
                  <a:pt x="0" y="122858"/>
                </a:lnTo>
                <a:cubicBezTo>
                  <a:pt x="0" y="68163"/>
                  <a:pt x="44351" y="23812"/>
                  <a:pt x="99045" y="23812"/>
                </a:cubicBezTo>
                <a:cubicBezTo>
                  <a:pt x="130820" y="23812"/>
                  <a:pt x="160734" y="39067"/>
                  <a:pt x="179338" y="6481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4368800"/>
            <a:ext cx="281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情感(交流)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000" y="47244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晚餐分享劳动、餐桌沟通工具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7600" y="41656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8275" y="448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105147"/>
                </a:moveTo>
                <a:lnTo>
                  <a:pt x="190500" y="335310"/>
                </a:lnTo>
                <a:lnTo>
                  <a:pt x="190872" y="335161"/>
                </a:lnTo>
                <a:cubicBezTo>
                  <a:pt x="231502" y="318269"/>
                  <a:pt x="275109" y="309563"/>
                  <a:pt x="319088" y="309563"/>
                </a:cubicBezTo>
                <a:lnTo>
                  <a:pt x="333375" y="309563"/>
                </a:lnTo>
                <a:lnTo>
                  <a:pt x="333375" y="71438"/>
                </a:lnTo>
                <a:lnTo>
                  <a:pt x="319088" y="71438"/>
                </a:lnTo>
                <a:cubicBezTo>
                  <a:pt x="287685" y="71438"/>
                  <a:pt x="256505" y="77688"/>
                  <a:pt x="227484" y="89743"/>
                </a:cubicBezTo>
                <a:cubicBezTo>
                  <a:pt x="214982" y="94952"/>
                  <a:pt x="202629" y="100087"/>
                  <a:pt x="190500" y="105147"/>
                </a:cubicBezTo>
                <a:close/>
                <a:moveTo>
                  <a:pt x="171822" y="45765"/>
                </a:moveTo>
                <a:lnTo>
                  <a:pt x="190500" y="53578"/>
                </a:lnTo>
                <a:lnTo>
                  <a:pt x="209178" y="45765"/>
                </a:lnTo>
                <a:cubicBezTo>
                  <a:pt x="244004" y="31254"/>
                  <a:pt x="281360" y="23812"/>
                  <a:pt x="319088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321469"/>
                </a:lnTo>
                <a:cubicBezTo>
                  <a:pt x="381000" y="341188"/>
                  <a:pt x="365001" y="357188"/>
                  <a:pt x="345281" y="357188"/>
                </a:cubicBezTo>
                <a:lnTo>
                  <a:pt x="319088" y="357188"/>
                </a:lnTo>
                <a:cubicBezTo>
                  <a:pt x="281360" y="357188"/>
                  <a:pt x="244004" y="364629"/>
                  <a:pt x="209178" y="379140"/>
                </a:cubicBezTo>
                <a:lnTo>
                  <a:pt x="199653" y="383084"/>
                </a:lnTo>
                <a:cubicBezTo>
                  <a:pt x="193774" y="385539"/>
                  <a:pt x="187226" y="385539"/>
                  <a:pt x="181347" y="383084"/>
                </a:cubicBezTo>
                <a:lnTo>
                  <a:pt x="171822" y="379140"/>
                </a:lnTo>
                <a:cubicBezTo>
                  <a:pt x="136996" y="364629"/>
                  <a:pt x="99640" y="357188"/>
                  <a:pt x="61913" y="357188"/>
                </a:cubicBezTo>
                <a:lnTo>
                  <a:pt x="35719" y="357188"/>
                </a:lnTo>
                <a:cubicBezTo>
                  <a:pt x="15999" y="357188"/>
                  <a:pt x="0" y="341188"/>
                  <a:pt x="0" y="321469"/>
                </a:cubicBezTo>
                <a:lnTo>
                  <a:pt x="0" y="59531"/>
                </a:lnTo>
                <a:cubicBezTo>
                  <a:pt x="0" y="39812"/>
                  <a:pt x="15999" y="23812"/>
                  <a:pt x="35719" y="23812"/>
                </a:cubicBezTo>
                <a:lnTo>
                  <a:pt x="61913" y="23812"/>
                </a:lnTo>
                <a:cubicBezTo>
                  <a:pt x="99640" y="23812"/>
                  <a:pt x="136996" y="31254"/>
                  <a:pt x="171822" y="45765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213600" y="4368800"/>
            <a:ext cx="281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文化(习惯)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13600" y="47244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餐桌文化用品、中式快餐服务</a:t>
            </a:r>
            <a:endParaRPr lang="en-US" sz="16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889000"/>
            <a:ext cx="4673600" cy="5080000"/>
          </a:xfrm>
          <a:prstGeom prst="roundRect">
            <a:avLst>
              <a:gd name="adj" fmla="val 2174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435600" y="2209800"/>
            <a:ext cx="701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全家齐“偷”欢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35600" y="3022600"/>
            <a:ext cx="650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研究总结中产饮食状态为：“优越感与压力感并存，闲暇不似幸福更像偷来的欢乐。”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35600" y="3937000"/>
            <a:ext cx="650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设计主题应围绕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“发展”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</a:t>
            </a: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“跟随”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，产品需帮助用户在忙碌中创造可共享的“微偷欢”时刻。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概念输出：五大主题方案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288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co-cook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384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增进交流的厨房空间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0478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针对厨房孤岛化，提出开放式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co-cook岛台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，让备餐者面向客厅与家人互动。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962245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通过高度差与滑轨系统，同时满足切配与吧台功能，将‘背对家人’改为‘面对面’，情感价值大于功能价值。</a:t>
            </a:r>
            <a:endParaRPr lang="en-US" sz="1600" dirty="0"/>
          </a:p>
        </p:txBody>
      </p:sp>
      <p:pic>
        <p:nvPicPr>
          <p:cNvPr id="6" name="Image 0" descr="https://kimi-web-img.moonshot.cn/img/img.freepik.com/acd8d2d628202524067d70a6d02a251de9368ece.jpg"/>
          <p:cNvPicPr>
            <a:picLocks noChangeAspect="1"/>
          </p:cNvPicPr>
          <p:nvPr/>
        </p:nvPicPr>
        <p:blipFill>
          <a:blip r:embed="rId3"/>
          <a:srcRect l="19540" r="19540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puxiang.com/17cdc82ec828e8fe08b6d0f81f2bda30c64a5c84.jpeg-photo_sp"/>
          <p:cNvPicPr>
            <a:picLocks noChangeAspect="1"/>
          </p:cNvPicPr>
          <p:nvPr/>
        </p:nvPicPr>
        <p:blipFill>
          <a:blip r:embed="rId3"/>
          <a:srcRect l="20964" r="20964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006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cool-cook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616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健康微气候终端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2256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解决中式爆炒油烟与炎热问题，集成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局部空调与空气净化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模块。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2400" y="4140045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在灶台上方形成洁净冷风幕，降低厨师体感温度并减少PM2.5，健康诉求可转化为高端溢价。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68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cookbar：社区自助厨房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778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把共享概念引入住宅，从卖产品转向卖服务与体验。</a:t>
            </a:r>
            <a:endParaRPr lang="en-US" sz="1600" dirty="0"/>
          </a:p>
        </p:txBody>
      </p:sp>
      <p:pic>
        <p:nvPicPr>
          <p:cNvPr id="4" name="Image 0" descr="https://kimi-web-img.moonshot.cn/img/pic4.zhimg.com/2b45b76dfa09061387b21b11ce01458983863414.jpg"/>
          <p:cNvPicPr>
            <a:picLocks noChangeAspect="1"/>
          </p:cNvPicPr>
          <p:nvPr/>
        </p:nvPicPr>
        <p:blipFill>
          <a:blip r:embed="rId3"/>
          <a:srcRect t="27143" b="27143"/>
          <a:stretch/>
        </p:blipFill>
        <p:spPr>
          <a:xfrm>
            <a:off x="254000" y="2438400"/>
            <a:ext cx="5689600" cy="3251200"/>
          </a:xfrm>
          <a:prstGeom prst="roundRect">
            <a:avLst>
              <a:gd name="adj" fmla="val 3125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248400" y="34290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在住宅底层提供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按时段租用的专业厨房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与食材零售。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48400" y="3987800"/>
            <a:ext cx="5689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年轻夫妻可在此举办主题晚宴，既解决空间不足又创造社交资产，为商业模式创新提供蓝本。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雅筑家居：广东中产居住研究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06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甲方困境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不知道30岁要什么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225639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“雅筑家居”立志做广东版IKEA，却摸不清30-40岁、家庭月收入万元级人群的家居偏好。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4140039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在供过于求时代，厂商必须从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生产导向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转为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需求导向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，研究潜在需求成为商业成功的关键。</a:t>
            </a:r>
            <a:endParaRPr lang="en-US" sz="1600" dirty="0"/>
          </a:p>
        </p:txBody>
      </p:sp>
      <p:pic>
        <p:nvPicPr>
          <p:cNvPr id="6" name="Image 0" descr="https://kimi-web-img.moonshot.cn/img/gd-hbimg.huaban.com/c543a924fe07a86050b5644f621f7e6ac1fcf6d3"/>
          <p:cNvPicPr>
            <a:picLocks noChangeAspect="1"/>
          </p:cNvPicPr>
          <p:nvPr/>
        </p:nvPicPr>
        <p:blipFill>
          <a:blip r:embed="rId3"/>
          <a:srcRect l="4274" r="4274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0828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视觉测评：用图片说话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7940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让81名被试从80张图片中选出最爱并打分，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用形象直抵偏好，避免语言失真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708400"/>
            <a:ext cx="5435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高频选择图片可聚类人群，为后续生活方式四分法提供量化入口，是一种绕过理性防御、直达感性认知的有效方法。</a:t>
            </a:r>
            <a:endParaRPr lang="en-US" sz="1600" dirty="0"/>
          </a:p>
        </p:txBody>
      </p:sp>
      <p:pic>
        <p:nvPicPr>
          <p:cNvPr id="5" name="Image 0" descr="https://kimi-web-img.moonshot.cn/img/img-blog.csdnimg.cn/dd87c14f9212bb699b6c08efc8476d710666299b.png"/>
          <p:cNvPicPr>
            <a:picLocks noChangeAspect="1"/>
          </p:cNvPicPr>
          <p:nvPr/>
        </p:nvPicPr>
        <p:blipFill>
          <a:blip r:embed="rId3"/>
          <a:srcRect l="38079" r="38079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462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多元分类：避开语言陷阱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9558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让被试自由分类24幅家具图，发现其潜意识中的关注点排序。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7178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9972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2130" y="29210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31.6%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48400" y="27178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1600" y="29972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6530" y="29210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24.0%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39370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164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色彩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2130" y="41402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20.3%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400" y="3937000"/>
            <a:ext cx="5689600" cy="914400"/>
          </a:xfrm>
          <a:custGeom>
            <a:avLst/>
            <a:gdLst/>
            <a:ahLst/>
            <a:cxnLst/>
            <a:rect l="l" t="t" r="r" b="b"/>
            <a:pathLst>
              <a:path w="5689600" h="914400">
                <a:moveTo>
                  <a:pt x="101599" y="0"/>
                </a:moveTo>
                <a:lnTo>
                  <a:pt x="5588001" y="0"/>
                </a:lnTo>
                <a:cubicBezTo>
                  <a:pt x="5644113" y="0"/>
                  <a:pt x="5689600" y="45487"/>
                  <a:pt x="5689600" y="101599"/>
                </a:cubicBezTo>
                <a:lnTo>
                  <a:pt x="5689600" y="812801"/>
                </a:lnTo>
                <a:cubicBezTo>
                  <a:pt x="5689600" y="868913"/>
                  <a:pt x="5644113" y="914400"/>
                  <a:pt x="558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1600" y="42164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6530" y="4140200"/>
            <a:ext cx="19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15.0%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4000" y="51562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结论：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整体性氛围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（风格+感觉）是首要关注点，远大于局部细节。</a:t>
            </a:r>
            <a:endParaRPr lang="en-US" sz="16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人群四分：生活方式画像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0fe1431f7e3771960f547d252e3ca1693af518d7.jpg"/>
          <p:cNvPicPr>
            <a:picLocks noChangeAspect="1"/>
          </p:cNvPicPr>
          <p:nvPr/>
        </p:nvPicPr>
        <p:blipFill>
          <a:blip r:embed="rId3"/>
          <a:srcRect l="16409" r="16409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1: 经典类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偏好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深色实木、对称布局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，关键词为传统、稳重、亲切。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群体多为公务员或传统企业中层，重视耐用与身份认同。卖场可通过胡桃木+暖光营造信赖感。</a:t>
            </a:r>
            <a:endParaRPr lang="en-US" sz="1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2: 唯理类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简洁线条、中性色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，关键词为现代、克制、高科技。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群体以工程师、医生为主，关注收纳效率与易清洁。模块化与可扩展成为核心卖点。</a:t>
            </a:r>
            <a:endParaRPr lang="en-US" sz="1600" dirty="0"/>
          </a:p>
        </p:txBody>
      </p:sp>
      <p:pic>
        <p:nvPicPr>
          <p:cNvPr id="5" name="Image 0" descr="https://kimi-web-img.moonshot.cn/img/thumbs.dreamstime.com/8a06f397e7aa3a5a57d4f5aebfaddf9f7f767204.jpg"/>
          <p:cNvPicPr>
            <a:picLocks noChangeAspect="1"/>
          </p:cNvPicPr>
          <p:nvPr/>
        </p:nvPicPr>
        <p:blipFill>
          <a:blip r:embed="rId3"/>
          <a:srcRect l="21307" r="21307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2.bigstockphoto.com/fcf66ee58a79e21e6cb842f3fc47bc451f3caaa7.jpg"/>
          <p:cNvPicPr>
            <a:picLocks noChangeAspect="1"/>
          </p:cNvPicPr>
          <p:nvPr/>
        </p:nvPicPr>
        <p:blipFill>
          <a:blip r:embed="rId3"/>
          <a:srcRect l="15858" r="15858"/>
          <a:stretch/>
        </p:blipFill>
        <p:spPr>
          <a:xfrm>
            <a:off x="457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2606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3: 小康类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29718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偏爱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浅色板式、圆角造型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，关键词为温馨、实惠、明快。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02400" y="388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群体多为年轻三口之家，预算有限但追求情调。卖场可通过场景套餐降低决策成本。</a:t>
            </a:r>
            <a:endParaRPr lang="en-US" sz="16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4384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人群画像 4: 创意类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314960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倾向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跳色混搭、工业风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，关键词为前卫、个性、酷。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7084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群体含自由职业者、广告人，愿为设计支付溢价。限量版与跨界合作可制造话题。</a:t>
            </a:r>
            <a:endParaRPr lang="en-US" sz="1600" dirty="0"/>
          </a:p>
        </p:txBody>
      </p:sp>
      <p:pic>
        <p:nvPicPr>
          <p:cNvPr id="5" name="Image 0" descr="https://kimi-web-img.moonshot.cn/img/www.tkhomedeco.com/392d518a22766a7cd1d486e6e6ad158eb2d9950d.jpg"/>
          <p:cNvPicPr>
            <a:picLocks noChangeAspect="1"/>
          </p:cNvPicPr>
          <p:nvPr/>
        </p:nvPicPr>
        <p:blipFill>
          <a:blip r:embed="rId3"/>
          <a:srcRect l="4274" r="4274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方法总结：事理学实战要诀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72070" y="1823085"/>
            <a:ext cx="187452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pic>
        <p:nvPicPr>
          <p:cNvPr id="8" name="Image 0" descr="https://kimi-img.moonshot.cn/pub/slides/slides_tmpl/image/25-09-05-12:04:52-d2t62p61bb2p4onbqp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09-05-12:04:52-d2t62p61bb2p4onbqpmg.png"/>
          <p:cNvPicPr>
            <a:picLocks noChangeAspect="1"/>
          </p:cNvPicPr>
          <p:nvPr/>
        </p:nvPicPr>
        <p:blipFill>
          <a:blip r:embed="rId4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5-12:04:52-d2t62p61bb2p4onbq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370" y="2077085"/>
            <a:ext cx="2712720" cy="2670175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01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方法总结：超以象外，得其圜中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413000"/>
            <a:ext cx="975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两案例共同验证：要定义物，先绕到物外，把人群、时间、空间、行为、意义五张网织好，物自然浮现。事理学把‘灵感驱动’转为‘关系驱动’，让创新可追踪、可验证。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489200" y="35306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C8C8C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813050" y="3911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Text 4"/>
          <p:cNvSpPr/>
          <p:nvPr/>
        </p:nvSpPr>
        <p:spPr>
          <a:xfrm>
            <a:off x="2641600" y="4851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8800" y="40894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35306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C8C8C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10250" y="3911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638800" y="4851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66000" y="4089400"/>
            <a:ext cx="96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83600" y="3530600"/>
            <a:ext cx="1117600" cy="1117600"/>
          </a:xfrm>
          <a:custGeom>
            <a:avLst/>
            <a:gdLst/>
            <a:ahLst/>
            <a:cxnLst/>
            <a:rect l="l" t="t" r="r" b="b"/>
            <a:pathLst>
              <a:path w="1117600" h="1117600">
                <a:moveTo>
                  <a:pt x="558800" y="0"/>
                </a:moveTo>
                <a:lnTo>
                  <a:pt x="558800" y="0"/>
                </a:lnTo>
                <a:cubicBezTo>
                  <a:pt x="867210" y="0"/>
                  <a:pt x="1117600" y="250390"/>
                  <a:pt x="1117600" y="558800"/>
                </a:cubicBezTo>
                <a:lnTo>
                  <a:pt x="1117600" y="558800"/>
                </a:lnTo>
                <a:cubicBezTo>
                  <a:pt x="1117600" y="867210"/>
                  <a:pt x="867210" y="1117600"/>
                  <a:pt x="558800" y="1117600"/>
                </a:cubicBezTo>
                <a:lnTo>
                  <a:pt x="558800" y="1117600"/>
                </a:lnTo>
                <a:cubicBezTo>
                  <a:pt x="250390" y="1117600"/>
                  <a:pt x="0" y="867210"/>
                  <a:pt x="0" y="558800"/>
                </a:cubicBezTo>
                <a:lnTo>
                  <a:pt x="0" y="558800"/>
                </a:lnTo>
                <a:cubicBezTo>
                  <a:pt x="0" y="250390"/>
                  <a:pt x="250390" y="0"/>
                  <a:pt x="558800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8C8C8C"/>
            </a:solidFill>
            <a:prstDash val="solid"/>
          </a:ln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64600" y="391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293" y="-2232"/>
                </a:moveTo>
                <a:cubicBezTo>
                  <a:pt x="217974" y="-12412"/>
                  <a:pt x="239762" y="-12412"/>
                  <a:pt x="257443" y="-2232"/>
                </a:cubicBezTo>
                <a:lnTo>
                  <a:pt x="414516" y="88404"/>
                </a:lnTo>
                <a:cubicBezTo>
                  <a:pt x="432197" y="98584"/>
                  <a:pt x="443091" y="117515"/>
                  <a:pt x="443091" y="137874"/>
                </a:cubicBezTo>
                <a:lnTo>
                  <a:pt x="443091" y="319147"/>
                </a:lnTo>
                <a:cubicBezTo>
                  <a:pt x="443091" y="339596"/>
                  <a:pt x="432197" y="358438"/>
                  <a:pt x="414516" y="368617"/>
                </a:cubicBezTo>
                <a:lnTo>
                  <a:pt x="257443" y="459432"/>
                </a:lnTo>
                <a:cubicBezTo>
                  <a:pt x="239762" y="469612"/>
                  <a:pt x="217974" y="469612"/>
                  <a:pt x="200293" y="459432"/>
                </a:cubicBezTo>
                <a:lnTo>
                  <a:pt x="43309" y="368796"/>
                </a:lnTo>
                <a:cubicBezTo>
                  <a:pt x="25628" y="358616"/>
                  <a:pt x="14734" y="339685"/>
                  <a:pt x="14734" y="319326"/>
                </a:cubicBezTo>
                <a:lnTo>
                  <a:pt x="14734" y="138053"/>
                </a:lnTo>
                <a:cubicBezTo>
                  <a:pt x="14734" y="117604"/>
                  <a:pt x="25628" y="98762"/>
                  <a:pt x="43309" y="88583"/>
                </a:cubicBezTo>
                <a:lnTo>
                  <a:pt x="200293" y="-2232"/>
                </a:lnTo>
                <a:close/>
                <a:moveTo>
                  <a:pt x="385852" y="319236"/>
                </a:moveTo>
                <a:lnTo>
                  <a:pt x="385852" y="170914"/>
                </a:lnTo>
                <a:lnTo>
                  <a:pt x="257443" y="245031"/>
                </a:lnTo>
                <a:lnTo>
                  <a:pt x="257443" y="393353"/>
                </a:lnTo>
                <a:lnTo>
                  <a:pt x="385852" y="319236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48514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造物</a:t>
            </a:r>
            <a:endParaRPr lang="en-US" sz="16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050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资源重组：知识即新品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5435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创新不是发明新元素，而是对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硬件与软件资源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进行再编排。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3530600"/>
            <a:ext cx="54356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筷子项目把旧厨房重新导演成交流剧场，雅筑项目把既有风格重新排序成四幕商品。事理学让设计从造型技巧升级为</a:t>
            </a:r>
            <a:r>
              <a:rPr lang="en-US" sz="1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知识管理</a:t>
            </a:r>
            <a:r>
              <a:rPr lang="en-US" sz="18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，为企业持续创造市场提供可复制引擎。</a:t>
            </a:r>
            <a:endParaRPr lang="en-US" sz="1600" dirty="0"/>
          </a:p>
        </p:txBody>
      </p:sp>
      <p:pic>
        <p:nvPicPr>
          <p:cNvPr id="5" name="Image 0" descr="https://kimi-web-img.moonshot.cn/img/lars-sudmann.com/af2d5c8f7b94cce368e1349da1d1d9ee52c86333.jpg"/>
          <p:cNvPicPr>
            <a:picLocks noChangeAspect="1"/>
          </p:cNvPicPr>
          <p:nvPr/>
        </p:nvPicPr>
        <p:blipFill>
          <a:blip r:embed="rId3"/>
          <a:srcRect l="22564" r="22564"/>
          <a:stretch/>
        </p:blipFill>
        <p:spPr>
          <a:xfrm>
            <a:off x="6299200" y="457200"/>
            <a:ext cx="5435600" cy="5943600"/>
          </a:xfrm>
          <a:prstGeom prst="roundRect">
            <a:avLst>
              <a:gd name="adj" fmla="val 1869"/>
            </a:avLst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04:59-d2t62qu1bb2p4onbqq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85" y="0"/>
            <a:ext cx="1227518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3195320"/>
            <a:ext cx="533082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5-12:04:58-d2t62qm1bb2p4onbqq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55" y="304800"/>
            <a:ext cx="5005070" cy="2639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24265" y="5219065"/>
            <a:ext cx="406400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丁光恩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724265" y="5678170"/>
            <a:ext cx="406400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汇报时间：2025/09/19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3841</Words>
  <Application>Microsoft Office PowerPoint</Application>
  <PresentationFormat>宽屏</PresentationFormat>
  <Paragraphs>1101</Paragraphs>
  <Slides>171</Slides>
  <Notes>171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171</vt:i4>
      </vt:variant>
    </vt:vector>
  </HeadingPairs>
  <TitlesOfParts>
    <vt:vector size="175" baseType="lpstr">
      <vt:lpstr>MiSans</vt:lpstr>
      <vt:lpstr>Arial</vt:lpstr>
      <vt:lpstr>Noto Sans SC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设计本体论：溯源·元思·演化</dc:title>
  <dc:subject>设计本体论：溯源·元思·演化</dc:subject>
  <dc:creator>Kimi</dc:creator>
  <cp:lastModifiedBy>光恩 丁</cp:lastModifiedBy>
  <cp:revision>4</cp:revision>
  <dcterms:created xsi:type="dcterms:W3CDTF">2025-09-18T15:23:39Z</dcterms:created>
  <dcterms:modified xsi:type="dcterms:W3CDTF">2025-09-18T16:17:07Z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{"Label":"设计本体论：溯源·元思·演化","ContentProducer":"001191110108MACG2KBH8F10000","ProduceID":"d360tp4pm1tevltr3me0","ReservedCode1":"","ContentPropagator":"001191110108MACG2KBH8F20000","PropagateID":"d360tp4pm1tevltr3me0","ReservedCode2":""}</vt:lpwstr>
  </property>
</Properties>
</file>