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embeddedFontLst>
    <p:embeddedFont>
      <p:font typeface="MiSans" charset="-122" pitchFamily="34"/>
      <p:regular r:id="rId4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4.png"/><Relationship Id="rId3" Type="http://schemas.openxmlformats.org/officeDocument/2006/relationships/image" Target="../media/image-2-5.png"/><Relationship Id="rId4" Type="http://schemas.openxmlformats.org/officeDocument/2006/relationships/image" Target="../media/image-2-3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设计认识论：目标系统与思维方法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208135" y="5678805"/>
            <a:ext cx="22155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95335" y="6047105"/>
            <a:ext cx="3028315" cy="276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汇报时间</a:t>
            </a:r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m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2:04:52-d2t62p61bb2p4onbqpl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内外因素：设计问题的界面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目标系统：从抽象到具体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使用意义：动作与结构的共创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方式与合理：系统的评价坐标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生态观：从单向到循环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共生美学：多元反馈的新审美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1-d2t62ou1bb2p4onbqp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135" y="3959225"/>
            <a:ext cx="701040" cy="6826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2:04:51-d2t62ou1bb2p4onbqpf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845" y="5082540"/>
            <a:ext cx="701040" cy="6826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h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865" y="4791075"/>
            <a:ext cx="3218815" cy="184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56885" y="410337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有限理性与适应性：设计原则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6885" y="5222240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设计思维六步法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内外因素：设计问题的界面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7856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设计生于关系：内外因素的界面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889760"/>
            <a:ext cx="975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设计是外部因素（目的与限定）与内部因素（可能与选择）的交界面，是两者相互适应的动态过程。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-254000" y="3708400"/>
            <a:ext cx="4102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外部因素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216241"/>
            <a:ext cx="359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人的目的</a:t>
            </a:r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环境限定</a:t>
            </a:r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社会文化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8614" y="3007360"/>
            <a:ext cx="3898900" cy="50800"/>
          </a:xfrm>
          <a:custGeom>
            <a:avLst/>
            <a:gdLst/>
            <a:ahLst/>
            <a:cxnLst/>
            <a:rect l="l" t="t" r="r" b="b"/>
            <a:pathLst>
              <a:path w="3898900" h="50800">
                <a:moveTo>
                  <a:pt x="0" y="0"/>
                </a:moveTo>
                <a:lnTo>
                  <a:pt x="3898900" y="0"/>
                </a:lnTo>
                <a:lnTo>
                  <a:pt x="38989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7" name="Shape 5"/>
          <p:cNvSpPr/>
          <p:nvPr/>
        </p:nvSpPr>
        <p:spPr>
          <a:xfrm>
            <a:off x="6089491" y="305816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8" name="Shape 6"/>
          <p:cNvSpPr/>
          <p:nvPr/>
        </p:nvSpPr>
        <p:spPr>
          <a:xfrm>
            <a:off x="5586571" y="3870960"/>
            <a:ext cx="977900" cy="901700"/>
          </a:xfrm>
          <a:custGeom>
            <a:avLst/>
            <a:gdLst/>
            <a:ahLst/>
            <a:cxnLst/>
            <a:rect l="l" t="t" r="r" b="b"/>
            <a:pathLst>
              <a:path w="977900" h="901700">
                <a:moveTo>
                  <a:pt x="101604" y="0"/>
                </a:moveTo>
                <a:lnTo>
                  <a:pt x="876296" y="0"/>
                </a:lnTo>
                <a:cubicBezTo>
                  <a:pt x="932411" y="0"/>
                  <a:pt x="977900" y="45489"/>
                  <a:pt x="977900" y="101604"/>
                </a:cubicBezTo>
                <a:lnTo>
                  <a:pt x="977900" y="800096"/>
                </a:lnTo>
                <a:cubicBezTo>
                  <a:pt x="977900" y="856211"/>
                  <a:pt x="932411" y="901700"/>
                  <a:pt x="876296" y="901700"/>
                </a:cubicBezTo>
                <a:lnTo>
                  <a:pt x="101604" y="901700"/>
                </a:lnTo>
                <a:cubicBezTo>
                  <a:pt x="45489" y="901700"/>
                  <a:pt x="0" y="856211"/>
                  <a:pt x="0" y="8000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10091" y="40944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57150"/>
                </a:moveTo>
                <a:lnTo>
                  <a:pt x="514350" y="57150"/>
                </a:lnTo>
                <a:lnTo>
                  <a:pt x="514350" y="157163"/>
                </a:lnTo>
                <a:cubicBezTo>
                  <a:pt x="480774" y="165556"/>
                  <a:pt x="457200" y="195739"/>
                  <a:pt x="457200" y="230386"/>
                </a:cubicBezTo>
                <a:lnTo>
                  <a:pt x="457200" y="298609"/>
                </a:lnTo>
                <a:cubicBezTo>
                  <a:pt x="438448" y="289947"/>
                  <a:pt x="418356" y="285661"/>
                  <a:pt x="398264" y="285750"/>
                </a:cubicBezTo>
                <a:cubicBezTo>
                  <a:pt x="389334" y="285839"/>
                  <a:pt x="380315" y="286732"/>
                  <a:pt x="371475" y="288518"/>
                </a:cubicBezTo>
                <a:lnTo>
                  <a:pt x="371475" y="257175"/>
                </a:lnTo>
                <a:cubicBezTo>
                  <a:pt x="371475" y="209848"/>
                  <a:pt x="333077" y="171450"/>
                  <a:pt x="285750" y="171450"/>
                </a:cubicBezTo>
                <a:cubicBezTo>
                  <a:pt x="238423" y="171450"/>
                  <a:pt x="200025" y="209848"/>
                  <a:pt x="200025" y="257175"/>
                </a:cubicBezTo>
                <a:lnTo>
                  <a:pt x="200025" y="286375"/>
                </a:lnTo>
                <a:cubicBezTo>
                  <a:pt x="195292" y="285929"/>
                  <a:pt x="190470" y="285661"/>
                  <a:pt x="185738" y="285750"/>
                </a:cubicBezTo>
                <a:cubicBezTo>
                  <a:pt x="161002" y="285929"/>
                  <a:pt x="136267" y="292715"/>
                  <a:pt x="114300" y="306288"/>
                </a:cubicBezTo>
                <a:lnTo>
                  <a:pt x="114300" y="230386"/>
                </a:lnTo>
                <a:cubicBezTo>
                  <a:pt x="114300" y="195739"/>
                  <a:pt x="90726" y="165556"/>
                  <a:pt x="57150" y="157163"/>
                </a:cubicBezTo>
                <a:lnTo>
                  <a:pt x="57150" y="57150"/>
                </a:lnTo>
                <a:close/>
                <a:moveTo>
                  <a:pt x="360224" y="396567"/>
                </a:moveTo>
                <a:cubicBezTo>
                  <a:pt x="338524" y="412819"/>
                  <a:pt x="313521" y="428625"/>
                  <a:pt x="285750" y="428625"/>
                </a:cubicBezTo>
                <a:cubicBezTo>
                  <a:pt x="257979" y="428625"/>
                  <a:pt x="232976" y="412819"/>
                  <a:pt x="211276" y="396567"/>
                </a:cubicBezTo>
                <a:cubicBezTo>
                  <a:pt x="192256" y="382191"/>
                  <a:pt x="166717" y="382191"/>
                  <a:pt x="147697" y="396567"/>
                </a:cubicBezTo>
                <a:cubicBezTo>
                  <a:pt x="126444" y="412552"/>
                  <a:pt x="99387" y="428268"/>
                  <a:pt x="69026" y="428089"/>
                </a:cubicBezTo>
                <a:cubicBezTo>
                  <a:pt x="50810" y="428000"/>
                  <a:pt x="32683" y="422106"/>
                  <a:pt x="15627" y="409248"/>
                </a:cubicBezTo>
                <a:cubicBezTo>
                  <a:pt x="6161" y="402104"/>
                  <a:pt x="4286" y="388709"/>
                  <a:pt x="11430" y="379244"/>
                </a:cubicBezTo>
                <a:cubicBezTo>
                  <a:pt x="18574" y="369778"/>
                  <a:pt x="31968" y="367903"/>
                  <a:pt x="41434" y="375047"/>
                </a:cubicBezTo>
                <a:cubicBezTo>
                  <a:pt x="51524" y="382637"/>
                  <a:pt x="60722" y="385227"/>
                  <a:pt x="69294" y="385316"/>
                </a:cubicBezTo>
                <a:cubicBezTo>
                  <a:pt x="85011" y="385405"/>
                  <a:pt x="102602" y="376922"/>
                  <a:pt x="121890" y="362367"/>
                </a:cubicBezTo>
                <a:cubicBezTo>
                  <a:pt x="156180" y="336471"/>
                  <a:pt x="202704" y="336471"/>
                  <a:pt x="237083" y="362367"/>
                </a:cubicBezTo>
                <a:cubicBezTo>
                  <a:pt x="258514" y="378529"/>
                  <a:pt x="273427" y="385852"/>
                  <a:pt x="285750" y="385852"/>
                </a:cubicBezTo>
                <a:cubicBezTo>
                  <a:pt x="298073" y="385852"/>
                  <a:pt x="312986" y="378529"/>
                  <a:pt x="334417" y="362367"/>
                </a:cubicBezTo>
                <a:cubicBezTo>
                  <a:pt x="368707" y="336471"/>
                  <a:pt x="415230" y="336471"/>
                  <a:pt x="449610" y="362367"/>
                </a:cubicBezTo>
                <a:cubicBezTo>
                  <a:pt x="464701" y="373707"/>
                  <a:pt x="478988" y="381566"/>
                  <a:pt x="492294" y="384334"/>
                </a:cubicBezTo>
                <a:cubicBezTo>
                  <a:pt x="504527" y="386834"/>
                  <a:pt x="516761" y="385137"/>
                  <a:pt x="530066" y="375136"/>
                </a:cubicBezTo>
                <a:cubicBezTo>
                  <a:pt x="539532" y="367992"/>
                  <a:pt x="552926" y="369868"/>
                  <a:pt x="560070" y="379333"/>
                </a:cubicBezTo>
                <a:cubicBezTo>
                  <a:pt x="567214" y="388799"/>
                  <a:pt x="565339" y="402193"/>
                  <a:pt x="555873" y="409337"/>
                </a:cubicBezTo>
                <a:cubicBezTo>
                  <a:pt x="532299" y="427107"/>
                  <a:pt x="507474" y="431125"/>
                  <a:pt x="483810" y="426393"/>
                </a:cubicBezTo>
                <a:cubicBezTo>
                  <a:pt x="461218" y="421838"/>
                  <a:pt x="440859" y="409515"/>
                  <a:pt x="423803" y="396657"/>
                </a:cubicBezTo>
                <a:cubicBezTo>
                  <a:pt x="404783" y="382280"/>
                  <a:pt x="379244" y="382280"/>
                  <a:pt x="360224" y="396657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491" y="481584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11" name="Shape 9"/>
          <p:cNvSpPr/>
          <p:nvPr/>
        </p:nvSpPr>
        <p:spPr>
          <a:xfrm>
            <a:off x="4148614" y="5628640"/>
            <a:ext cx="3898900" cy="50800"/>
          </a:xfrm>
          <a:custGeom>
            <a:avLst/>
            <a:gdLst/>
            <a:ahLst/>
            <a:cxnLst/>
            <a:rect l="l" t="t" r="r" b="b"/>
            <a:pathLst>
              <a:path w="3898900" h="50800">
                <a:moveTo>
                  <a:pt x="0" y="0"/>
                </a:moveTo>
                <a:lnTo>
                  <a:pt x="3898900" y="0"/>
                </a:lnTo>
                <a:lnTo>
                  <a:pt x="38989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12" name="Text 10"/>
          <p:cNvSpPr/>
          <p:nvPr/>
        </p:nvSpPr>
        <p:spPr>
          <a:xfrm>
            <a:off x="8348028" y="3708400"/>
            <a:ext cx="4102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内部因素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48028" y="4216241"/>
            <a:ext cx="359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技术选择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材料工艺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结构形态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986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适应性系统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574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人为事物的存在逻辑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6162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人为事物是人的目的与环境之间的界面，其功能是在环境允许下达到人的目的。设计即通过调整内部系统以适应外部环境的变化。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83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46075" y="392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3886200"/>
            <a:ext cx="280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人的目的：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充饥、移动、通信...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439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317500" y="4483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" y="4445000"/>
            <a:ext cx="280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内部系统：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石斧、网银、手机...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075" y="504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5003800"/>
            <a:ext cx="280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外部环境：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动物肉、商业交易...</a:t>
            </a:r>
            <a:endParaRPr lang="en-US" sz="1600" dirty="0"/>
          </a:p>
        </p:txBody>
      </p:sp>
      <p:pic>
        <p:nvPicPr>
          <p:cNvPr id="14" name="Image 0" descr="https://kimi-web-img.moonshot.cn/img/as2.ftcdn.net/dc7fbb3b54d76602490157ca652b3c1727fd88c3.jpg">    </p:cNvPr>
          <p:cNvPicPr>
            <a:picLocks noChangeAspect="1"/>
          </p:cNvPicPr>
          <p:nvPr/>
        </p:nvPicPr>
        <p:blipFill>
          <a:blip r:embed="rId1"/>
          <a:srcRect l="13837" r="13837" t="0" b="0"/>
          <a:stretch/>
        </p:blipFill>
        <p:spPr>
          <a:xfrm>
            <a:off x="5334000" y="783114"/>
            <a:ext cx="6604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7452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双向适应：目的与手段的循环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3332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设计是目的与手段相互适应的结果，通过循环往复的反馈与调整，在内外因素间寻找最佳契合点。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766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0975" y="36728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明确目标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87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调研需求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24200" y="41910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41484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8963" y="3672841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762" y="72256"/>
                </a:moveTo>
                <a:lnTo>
                  <a:pt x="166762" y="109165"/>
                </a:lnTo>
                <a:lnTo>
                  <a:pt x="167134" y="109537"/>
                </a:lnTo>
                <a:cubicBezTo>
                  <a:pt x="171971" y="48220"/>
                  <a:pt x="223242" y="0"/>
                  <a:pt x="285824" y="0"/>
                </a:cubicBezTo>
                <a:cubicBezTo>
                  <a:pt x="300782" y="0"/>
                  <a:pt x="315144" y="2753"/>
                  <a:pt x="328315" y="7813"/>
                </a:cubicBezTo>
                <a:cubicBezTo>
                  <a:pt x="335756" y="10641"/>
                  <a:pt x="337096" y="20092"/>
                  <a:pt x="331515" y="25747"/>
                </a:cubicBezTo>
                <a:lnTo>
                  <a:pt x="265509" y="91753"/>
                </a:lnTo>
                <a:cubicBezTo>
                  <a:pt x="263277" y="93985"/>
                  <a:pt x="262012" y="97036"/>
                  <a:pt x="262012" y="100161"/>
                </a:cubicBezTo>
                <a:lnTo>
                  <a:pt x="262012" y="130969"/>
                </a:lnTo>
                <a:cubicBezTo>
                  <a:pt x="262012" y="137517"/>
                  <a:pt x="267370" y="142875"/>
                  <a:pt x="273918" y="142875"/>
                </a:cubicBezTo>
                <a:lnTo>
                  <a:pt x="304726" y="142875"/>
                </a:lnTo>
                <a:cubicBezTo>
                  <a:pt x="307851" y="142875"/>
                  <a:pt x="310902" y="141610"/>
                  <a:pt x="313134" y="139378"/>
                </a:cubicBezTo>
                <a:lnTo>
                  <a:pt x="379140" y="73372"/>
                </a:lnTo>
                <a:cubicBezTo>
                  <a:pt x="384795" y="67717"/>
                  <a:pt x="394246" y="69131"/>
                  <a:pt x="397073" y="76572"/>
                </a:cubicBezTo>
                <a:cubicBezTo>
                  <a:pt x="402134" y="89743"/>
                  <a:pt x="404887" y="104105"/>
                  <a:pt x="404887" y="119063"/>
                </a:cubicBezTo>
                <a:cubicBezTo>
                  <a:pt x="404887" y="164157"/>
                  <a:pt x="379809" y="203448"/>
                  <a:pt x="342751" y="223614"/>
                </a:cubicBezTo>
                <a:lnTo>
                  <a:pt x="403399" y="284262"/>
                </a:lnTo>
                <a:cubicBezTo>
                  <a:pt x="417314" y="298177"/>
                  <a:pt x="417314" y="320799"/>
                  <a:pt x="403399" y="334789"/>
                </a:cubicBezTo>
                <a:lnTo>
                  <a:pt x="358676" y="379512"/>
                </a:lnTo>
                <a:cubicBezTo>
                  <a:pt x="344760" y="393427"/>
                  <a:pt x="322138" y="393427"/>
                  <a:pt x="308149" y="379512"/>
                </a:cubicBezTo>
                <a:lnTo>
                  <a:pt x="214387" y="285750"/>
                </a:lnTo>
                <a:cubicBezTo>
                  <a:pt x="193997" y="265361"/>
                  <a:pt x="189384" y="235223"/>
                  <a:pt x="200620" y="210369"/>
                </a:cubicBezTo>
                <a:lnTo>
                  <a:pt x="133127" y="142875"/>
                </a:lnTo>
                <a:lnTo>
                  <a:pt x="96217" y="142875"/>
                </a:lnTo>
                <a:cubicBezTo>
                  <a:pt x="88255" y="142875"/>
                  <a:pt x="80814" y="138931"/>
                  <a:pt x="76423" y="132308"/>
                </a:cubicBezTo>
                <a:lnTo>
                  <a:pt x="17413" y="43830"/>
                </a:lnTo>
                <a:cubicBezTo>
                  <a:pt x="14288" y="39142"/>
                  <a:pt x="14883" y="32817"/>
                  <a:pt x="18901" y="28798"/>
                </a:cubicBezTo>
                <a:lnTo>
                  <a:pt x="52685" y="-4986"/>
                </a:lnTo>
                <a:cubicBezTo>
                  <a:pt x="56704" y="-9004"/>
                  <a:pt x="62954" y="-9599"/>
                  <a:pt x="67717" y="-6474"/>
                </a:cubicBezTo>
                <a:lnTo>
                  <a:pt x="156195" y="52462"/>
                </a:lnTo>
                <a:cubicBezTo>
                  <a:pt x="162818" y="56852"/>
                  <a:pt x="166762" y="64294"/>
                  <a:pt x="166762" y="72256"/>
                </a:cubicBezTo>
                <a:close/>
                <a:moveTo>
                  <a:pt x="160437" y="220712"/>
                </a:moveTo>
                <a:cubicBezTo>
                  <a:pt x="155749" y="248245"/>
                  <a:pt x="162223" y="277341"/>
                  <a:pt x="180082" y="300633"/>
                </a:cubicBezTo>
                <a:lnTo>
                  <a:pt x="109389" y="371252"/>
                </a:lnTo>
                <a:cubicBezTo>
                  <a:pt x="88478" y="392162"/>
                  <a:pt x="54546" y="392162"/>
                  <a:pt x="33635" y="371252"/>
                </a:cubicBezTo>
                <a:cubicBezTo>
                  <a:pt x="12725" y="350341"/>
                  <a:pt x="12725" y="316409"/>
                  <a:pt x="33635" y="295498"/>
                </a:cubicBezTo>
                <a:lnTo>
                  <a:pt x="134392" y="194742"/>
                </a:lnTo>
                <a:lnTo>
                  <a:pt x="160437" y="220787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9497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构筑手段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005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组织内部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41910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71202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763" y="3672841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85750" y="107156"/>
                </a:moveTo>
                <a:cubicBezTo>
                  <a:pt x="285750" y="179487"/>
                  <a:pt x="221754" y="238125"/>
                  <a:pt x="142875" y="238125"/>
                </a:cubicBezTo>
                <a:cubicBezTo>
                  <a:pt x="123006" y="238125"/>
                  <a:pt x="104105" y="234404"/>
                  <a:pt x="86916" y="227707"/>
                </a:cubicBezTo>
                <a:lnTo>
                  <a:pt x="26194" y="259854"/>
                </a:lnTo>
                <a:cubicBezTo>
                  <a:pt x="19273" y="263500"/>
                  <a:pt x="10790" y="262235"/>
                  <a:pt x="5209" y="256729"/>
                </a:cubicBezTo>
                <a:cubicBezTo>
                  <a:pt x="-372" y="251222"/>
                  <a:pt x="-1637" y="242664"/>
                  <a:pt x="2084" y="235744"/>
                </a:cubicBezTo>
                <a:lnTo>
                  <a:pt x="28575" y="185738"/>
                </a:lnTo>
                <a:cubicBezTo>
                  <a:pt x="10641" y="163860"/>
                  <a:pt x="0" y="136624"/>
                  <a:pt x="0" y="107156"/>
                </a:cubicBezTo>
                <a:cubicBezTo>
                  <a:pt x="0" y="34826"/>
                  <a:pt x="63996" y="-23812"/>
                  <a:pt x="142875" y="-23812"/>
                </a:cubicBezTo>
                <a:cubicBezTo>
                  <a:pt x="221754" y="-23812"/>
                  <a:pt x="285750" y="34826"/>
                  <a:pt x="285750" y="107156"/>
                </a:cubicBezTo>
                <a:close/>
                <a:moveTo>
                  <a:pt x="285750" y="381000"/>
                </a:moveTo>
                <a:cubicBezTo>
                  <a:pt x="215726" y="381000"/>
                  <a:pt x="157460" y="334789"/>
                  <a:pt x="145256" y="273844"/>
                </a:cubicBezTo>
                <a:cubicBezTo>
                  <a:pt x="234553" y="272728"/>
                  <a:pt x="312167" y="209178"/>
                  <a:pt x="320725" y="123006"/>
                </a:cubicBezTo>
                <a:cubicBezTo>
                  <a:pt x="382712" y="137294"/>
                  <a:pt x="428625" y="188714"/>
                  <a:pt x="428625" y="250031"/>
                </a:cubicBezTo>
                <a:cubicBezTo>
                  <a:pt x="428625" y="279499"/>
                  <a:pt x="417984" y="306735"/>
                  <a:pt x="400050" y="328613"/>
                </a:cubicBezTo>
                <a:lnTo>
                  <a:pt x="426541" y="378619"/>
                </a:lnTo>
                <a:cubicBezTo>
                  <a:pt x="430188" y="385539"/>
                  <a:pt x="428923" y="394022"/>
                  <a:pt x="423416" y="399604"/>
                </a:cubicBezTo>
                <a:cubicBezTo>
                  <a:pt x="417909" y="405185"/>
                  <a:pt x="409352" y="406450"/>
                  <a:pt x="402431" y="402729"/>
                </a:cubicBezTo>
                <a:lnTo>
                  <a:pt x="341709" y="370582"/>
                </a:lnTo>
                <a:cubicBezTo>
                  <a:pt x="324520" y="377279"/>
                  <a:pt x="305619" y="381000"/>
                  <a:pt x="285750" y="3810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9215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外部评估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723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获取反馈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67800" y="41910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920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6375" y="36728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8933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修改完善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441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循环往复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目标系统：从抽象到具体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27200"/>
            <a:ext cx="604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从抽象到具体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86000"/>
            <a:ext cx="604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目标与目标系统的转化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8448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目标是抽象的，而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目标系统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是抽象目标在具体时空、文化、社会背景下的适应性选择。它是设计定位的具体化，是评价体系的基础。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4064000"/>
            <a:ext cx="5537200" cy="1066800"/>
          </a:xfrm>
          <a:custGeom>
            <a:avLst/>
            <a:gdLst/>
            <a:ahLst/>
            <a:cxnLst/>
            <a:rect l="l" t="t" r="r" b="b"/>
            <a:pathLst>
              <a:path w="5537200" h="10668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965198"/>
                </a:lnTo>
                <a:cubicBezTo>
                  <a:pt x="5537200" y="1021311"/>
                  <a:pt x="5491711" y="1066800"/>
                  <a:pt x="54355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03200" y="4267200"/>
            <a:ext cx="563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抽象目标 + 外部因素 = 具体目标系统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" y="4673600"/>
            <a:ext cx="563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(人、环境、条件等)</a:t>
            </a:r>
            <a:endParaRPr lang="en-US" sz="1600" dirty="0"/>
          </a:p>
        </p:txBody>
      </p:sp>
      <p:pic>
        <p:nvPicPr>
          <p:cNvPr id="8" name="Image 0" descr="https://kimi-web-img.moonshot.cn/img/img.freepik.com/f55a98491e43d746153ed92a4c1001e837d9db7e.jpg">    </p:cNvPr>
          <p:cNvPicPr>
            <a:picLocks noChangeAspect="1"/>
          </p:cNvPicPr>
          <p:nvPr/>
        </p:nvPicPr>
        <p:blipFill>
          <a:blip r:embed="rId1"/>
          <a:srcRect l="20957" r="20957" t="0" b="0"/>
          <a:stretch/>
        </p:blipFill>
        <p:spPr>
          <a:xfrm>
            <a:off x="6400800" y="254000"/>
            <a:ext cx="5537200" cy="6350000"/>
          </a:xfrm>
          <a:prstGeom prst="roundRect">
            <a:avLst>
              <a:gd name="adj" fmla="val 1835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74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计时目标的多元裂变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133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同一抽象目标“计时”，在不同人群、情境、动机下，衍生出截然不同的具体目标系统，决定了设计的巨大差异。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400" y="31496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588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9473" y="20122"/>
                </a:moveTo>
                <a:cubicBezTo>
                  <a:pt x="72152" y="16490"/>
                  <a:pt x="76438" y="14287"/>
                  <a:pt x="80962" y="14287"/>
                </a:cubicBezTo>
                <a:lnTo>
                  <a:pt x="223838" y="14287"/>
                </a:lnTo>
                <a:cubicBezTo>
                  <a:pt x="228362" y="14287"/>
                  <a:pt x="232648" y="16431"/>
                  <a:pt x="235327" y="20122"/>
                </a:cubicBezTo>
                <a:lnTo>
                  <a:pt x="302002" y="110609"/>
                </a:lnTo>
                <a:cubicBezTo>
                  <a:pt x="306050" y="116086"/>
                  <a:pt x="305633" y="123646"/>
                  <a:pt x="301109" y="128707"/>
                </a:cubicBezTo>
                <a:lnTo>
                  <a:pt x="162997" y="281107"/>
                </a:lnTo>
                <a:cubicBezTo>
                  <a:pt x="160318" y="284083"/>
                  <a:pt x="156448" y="285810"/>
                  <a:pt x="152400" y="285810"/>
                </a:cubicBezTo>
                <a:cubicBezTo>
                  <a:pt x="148352" y="285810"/>
                  <a:pt x="144542" y="284083"/>
                  <a:pt x="141803" y="281107"/>
                </a:cubicBezTo>
                <a:lnTo>
                  <a:pt x="3691" y="128707"/>
                </a:lnTo>
                <a:cubicBezTo>
                  <a:pt x="-893" y="123646"/>
                  <a:pt x="-1250" y="116086"/>
                  <a:pt x="2798" y="110609"/>
                </a:cubicBezTo>
                <a:lnTo>
                  <a:pt x="69473" y="20122"/>
                </a:lnTo>
                <a:close/>
                <a:moveTo>
                  <a:pt x="92393" y="43815"/>
                </a:moveTo>
                <a:cubicBezTo>
                  <a:pt x="90428" y="45303"/>
                  <a:pt x="89892" y="47982"/>
                  <a:pt x="91142" y="50066"/>
                </a:cubicBezTo>
                <a:lnTo>
                  <a:pt x="125313" y="107037"/>
                </a:lnTo>
                <a:lnTo>
                  <a:pt x="37683" y="114300"/>
                </a:lnTo>
                <a:cubicBezTo>
                  <a:pt x="35243" y="114479"/>
                  <a:pt x="33338" y="116562"/>
                  <a:pt x="33338" y="119062"/>
                </a:cubicBezTo>
                <a:cubicBezTo>
                  <a:pt x="33338" y="121563"/>
                  <a:pt x="35243" y="123587"/>
                  <a:pt x="37683" y="123825"/>
                </a:cubicBezTo>
                <a:lnTo>
                  <a:pt x="151983" y="133350"/>
                </a:lnTo>
                <a:cubicBezTo>
                  <a:pt x="152221" y="133350"/>
                  <a:pt x="152519" y="133350"/>
                  <a:pt x="152757" y="133350"/>
                </a:cubicBezTo>
                <a:lnTo>
                  <a:pt x="267057" y="123825"/>
                </a:lnTo>
                <a:cubicBezTo>
                  <a:pt x="269498" y="123646"/>
                  <a:pt x="271403" y="121563"/>
                  <a:pt x="271403" y="119062"/>
                </a:cubicBezTo>
                <a:cubicBezTo>
                  <a:pt x="271403" y="116562"/>
                  <a:pt x="269498" y="114538"/>
                  <a:pt x="267057" y="114300"/>
                </a:cubicBezTo>
                <a:lnTo>
                  <a:pt x="179427" y="106978"/>
                </a:lnTo>
                <a:lnTo>
                  <a:pt x="213598" y="50066"/>
                </a:lnTo>
                <a:cubicBezTo>
                  <a:pt x="214848" y="47982"/>
                  <a:pt x="214313" y="45244"/>
                  <a:pt x="212348" y="43815"/>
                </a:cubicBezTo>
                <a:cubicBezTo>
                  <a:pt x="210383" y="42386"/>
                  <a:pt x="207645" y="42624"/>
                  <a:pt x="205978" y="44410"/>
                </a:cubicBezTo>
                <a:lnTo>
                  <a:pt x="152400" y="102513"/>
                </a:lnTo>
                <a:lnTo>
                  <a:pt x="98762" y="44410"/>
                </a:lnTo>
                <a:cubicBezTo>
                  <a:pt x="97095" y="42624"/>
                  <a:pt x="94357" y="42386"/>
                  <a:pt x="92393" y="438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327400"/>
            <a:ext cx="353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劳力士：身份象征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632200"/>
            <a:ext cx="353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计时功能弱化，彰显社会地位与财富。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9200" y="31496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516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66040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64400" y="3327400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Swatch：时尚配饰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4400" y="3632200"/>
            <a:ext cx="370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计时退居次席，成为个性与潮流的表达。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400" y="43688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58800" y="452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11200" y="467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698" y="0"/>
                </a:moveTo>
                <a:cubicBezTo>
                  <a:pt x="161449" y="0"/>
                  <a:pt x="169485" y="4822"/>
                  <a:pt x="173653" y="12502"/>
                </a:cubicBezTo>
                <a:lnTo>
                  <a:pt x="302240" y="250627"/>
                </a:lnTo>
                <a:cubicBezTo>
                  <a:pt x="306229" y="258008"/>
                  <a:pt x="306050" y="266938"/>
                  <a:pt x="301764" y="274141"/>
                </a:cubicBezTo>
                <a:cubicBezTo>
                  <a:pt x="297478" y="281345"/>
                  <a:pt x="289679" y="285750"/>
                  <a:pt x="281345" y="285750"/>
                </a:cubicBezTo>
                <a:lnTo>
                  <a:pt x="24170" y="285750"/>
                </a:lnTo>
                <a:cubicBezTo>
                  <a:pt x="15776" y="285750"/>
                  <a:pt x="8037" y="281345"/>
                  <a:pt x="3750" y="274141"/>
                </a:cubicBezTo>
                <a:cubicBezTo>
                  <a:pt x="-536" y="266938"/>
                  <a:pt x="-714" y="258008"/>
                  <a:pt x="3274" y="250627"/>
                </a:cubicBezTo>
                <a:lnTo>
                  <a:pt x="131862" y="12502"/>
                </a:lnTo>
                <a:lnTo>
                  <a:pt x="133588" y="9763"/>
                </a:lnTo>
                <a:cubicBezTo>
                  <a:pt x="137934" y="3691"/>
                  <a:pt x="145018" y="0"/>
                  <a:pt x="152698" y="0"/>
                </a:cubicBezTo>
                <a:close/>
                <a:moveTo>
                  <a:pt x="101441" y="148769"/>
                </a:moveTo>
                <a:lnTo>
                  <a:pt x="117396" y="164723"/>
                </a:lnTo>
                <a:cubicBezTo>
                  <a:pt x="121087" y="168414"/>
                  <a:pt x="127159" y="168414"/>
                  <a:pt x="130850" y="164723"/>
                </a:cubicBezTo>
                <a:lnTo>
                  <a:pt x="156627" y="138946"/>
                </a:lnTo>
                <a:cubicBezTo>
                  <a:pt x="160199" y="135374"/>
                  <a:pt x="165021" y="133350"/>
                  <a:pt x="170081" y="133350"/>
                </a:cubicBezTo>
                <a:lnTo>
                  <a:pt x="195560" y="133350"/>
                </a:lnTo>
                <a:lnTo>
                  <a:pt x="152638" y="53876"/>
                </a:lnTo>
                <a:lnTo>
                  <a:pt x="101382" y="1487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5466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登山表：专业工具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514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集成高度、气压计，是户外探险的可靠伙伴。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99200" y="43688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1600" y="452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4950" y="4673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64400" y="454660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老怀表：情感寄托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4400" y="4851400"/>
            <a:ext cx="388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计时功能被替代，承载回忆、怀旧与情感。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9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目标系统驱动创新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574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Dyson旋风吸尘器案例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6162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在“清除尘土”的共同目标下，Dyson通过革新内部因素——应用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二元离心技术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，解决了传统吸尘器吸力衰减的问题，创造了全新的产品品类，重塑了用户期待。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83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3924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38354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内部革新: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抛弃尘袋，采用离心力分离灰尘。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439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Shape 7"/>
          <p:cNvSpPr/>
          <p:nvPr/>
        </p:nvSpPr>
        <p:spPr>
          <a:xfrm>
            <a:off x="346075" y="448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" y="439420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技术突破: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持续强劲吸力，解决用户痛点。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075" y="504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4953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重塑期待: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技术突破反向定义了新的目标系统。</a:t>
            </a:r>
            <a:endParaRPr lang="en-US" sz="1600" dirty="0"/>
          </a:p>
        </p:txBody>
      </p:sp>
      <p:pic>
        <p:nvPicPr>
          <p:cNvPr id="14" name="Image 0" descr="https://kimi-web-img.moonshot.cn/img/kjsx.oss-cn-hangzhou.aliyuncs.com/b5dd5fef557adc2f9d224e5d0678c29414916d3b.jpg">    </p:cNvPr>
          <p:cNvPicPr>
            <a:picLocks noChangeAspect="1"/>
          </p:cNvPicPr>
          <p:nvPr/>
        </p:nvPicPr>
        <p:blipFill>
          <a:blip r:embed="rId1"/>
          <a:srcRect l="19266" r="19266" t="0" b="0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使用意义：动作与结构的共创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71321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使用即对话：人与物的双向动作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30121"/>
            <a:ext cx="1026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使用是连接人与物的桥梁，是动作的发出与反馈，是经验的积累与文明的创造。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52855" y="2941321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7175" y="31648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23812"/>
                </a:moveTo>
                <a:cubicBezTo>
                  <a:pt x="214313" y="10641"/>
                  <a:pt x="203671" y="0"/>
                  <a:pt x="190500" y="0"/>
                </a:cubicBezTo>
                <a:cubicBezTo>
                  <a:pt x="177329" y="0"/>
                  <a:pt x="166688" y="10641"/>
                  <a:pt x="166688" y="23812"/>
                </a:cubicBezTo>
                <a:lnTo>
                  <a:pt x="166688" y="178594"/>
                </a:lnTo>
                <a:cubicBezTo>
                  <a:pt x="166688" y="185142"/>
                  <a:pt x="161330" y="190500"/>
                  <a:pt x="154781" y="190500"/>
                </a:cubicBezTo>
                <a:cubicBezTo>
                  <a:pt x="148233" y="190500"/>
                  <a:pt x="142875" y="185142"/>
                  <a:pt x="142875" y="178594"/>
                </a:cubicBezTo>
                <a:lnTo>
                  <a:pt x="142875" y="47625"/>
                </a:lnTo>
                <a:cubicBezTo>
                  <a:pt x="142875" y="34454"/>
                  <a:pt x="132234" y="23812"/>
                  <a:pt x="119063" y="23812"/>
                </a:cubicBezTo>
                <a:cubicBezTo>
                  <a:pt x="105891" y="23812"/>
                  <a:pt x="95250" y="34454"/>
                  <a:pt x="95250" y="47625"/>
                </a:cubicBezTo>
                <a:lnTo>
                  <a:pt x="95250" y="250031"/>
                </a:lnTo>
                <a:cubicBezTo>
                  <a:pt x="95250" y="251147"/>
                  <a:pt x="95250" y="252338"/>
                  <a:pt x="95324" y="253454"/>
                </a:cubicBezTo>
                <a:lnTo>
                  <a:pt x="50304" y="210592"/>
                </a:lnTo>
                <a:cubicBezTo>
                  <a:pt x="38398" y="199281"/>
                  <a:pt x="19571" y="199727"/>
                  <a:pt x="8186" y="211634"/>
                </a:cubicBezTo>
                <a:cubicBezTo>
                  <a:pt x="-3200" y="223540"/>
                  <a:pt x="-2679" y="242367"/>
                  <a:pt x="9227" y="253752"/>
                </a:cubicBezTo>
                <a:lnTo>
                  <a:pt x="92869" y="333375"/>
                </a:lnTo>
                <a:cubicBezTo>
                  <a:pt x="124941" y="363959"/>
                  <a:pt x="167580" y="381000"/>
                  <a:pt x="211931" y="381000"/>
                </a:cubicBezTo>
                <a:lnTo>
                  <a:pt x="226219" y="381000"/>
                </a:lnTo>
                <a:cubicBezTo>
                  <a:pt x="298549" y="381000"/>
                  <a:pt x="357188" y="322362"/>
                  <a:pt x="357188" y="250031"/>
                </a:cubicBezTo>
                <a:lnTo>
                  <a:pt x="357188" y="95250"/>
                </a:lnTo>
                <a:cubicBezTo>
                  <a:pt x="357188" y="82079"/>
                  <a:pt x="346546" y="71438"/>
                  <a:pt x="333375" y="71438"/>
                </a:cubicBezTo>
                <a:cubicBezTo>
                  <a:pt x="320204" y="71438"/>
                  <a:pt x="309563" y="82079"/>
                  <a:pt x="309563" y="95250"/>
                </a:cubicBezTo>
                <a:lnTo>
                  <a:pt x="309563" y="178594"/>
                </a:lnTo>
                <a:cubicBezTo>
                  <a:pt x="309563" y="185142"/>
                  <a:pt x="304205" y="190500"/>
                  <a:pt x="297656" y="190500"/>
                </a:cubicBezTo>
                <a:cubicBezTo>
                  <a:pt x="291108" y="190500"/>
                  <a:pt x="285750" y="185142"/>
                  <a:pt x="285750" y="178594"/>
                </a:cubicBezTo>
                <a:lnTo>
                  <a:pt x="285750" y="47625"/>
                </a:lnTo>
                <a:cubicBezTo>
                  <a:pt x="285750" y="34454"/>
                  <a:pt x="275109" y="23812"/>
                  <a:pt x="261938" y="23812"/>
                </a:cubicBezTo>
                <a:cubicBezTo>
                  <a:pt x="248766" y="23812"/>
                  <a:pt x="238125" y="34454"/>
                  <a:pt x="238125" y="47625"/>
                </a:cubicBezTo>
                <a:lnTo>
                  <a:pt x="238125" y="178594"/>
                </a:lnTo>
                <a:cubicBezTo>
                  <a:pt x="238125" y="185142"/>
                  <a:pt x="232767" y="190500"/>
                  <a:pt x="226219" y="190500"/>
                </a:cubicBezTo>
                <a:cubicBezTo>
                  <a:pt x="219670" y="190500"/>
                  <a:pt x="214313" y="185142"/>
                  <a:pt x="214313" y="178594"/>
                </a:cubicBezTo>
                <a:lnTo>
                  <a:pt x="214313" y="23812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3916682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人的动作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4221482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生理延伸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6600" y="3683000"/>
            <a:ext cx="1257300" cy="50800"/>
          </a:xfrm>
          <a:custGeom>
            <a:avLst/>
            <a:gdLst/>
            <a:ahLst/>
            <a:cxnLst/>
            <a:rect l="l" t="t" r="r" b="b"/>
            <a:pathLst>
              <a:path w="1257300" h="50800">
                <a:moveTo>
                  <a:pt x="0" y="0"/>
                </a:moveTo>
                <a:lnTo>
                  <a:pt x="1257300" y="0"/>
                </a:lnTo>
                <a:lnTo>
                  <a:pt x="1257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5634355" y="2941321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1050" y="3164839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83728" y="13618"/>
                </a:moveTo>
                <a:lnTo>
                  <a:pt x="201662" y="2828"/>
                </a:lnTo>
                <a:cubicBezTo>
                  <a:pt x="217736" y="-6846"/>
                  <a:pt x="236116" y="-11906"/>
                  <a:pt x="254868" y="-11906"/>
                </a:cubicBezTo>
                <a:cubicBezTo>
                  <a:pt x="282253" y="-11906"/>
                  <a:pt x="308595" y="-1042"/>
                  <a:pt x="327943" y="18380"/>
                </a:cubicBezTo>
                <a:lnTo>
                  <a:pt x="375493" y="65931"/>
                </a:lnTo>
                <a:cubicBezTo>
                  <a:pt x="386655" y="77093"/>
                  <a:pt x="392906" y="92273"/>
                  <a:pt x="392906" y="108049"/>
                </a:cubicBezTo>
                <a:lnTo>
                  <a:pt x="392906" y="131043"/>
                </a:lnTo>
                <a:lnTo>
                  <a:pt x="407566" y="145703"/>
                </a:lnTo>
                <a:lnTo>
                  <a:pt x="407566" y="145703"/>
                </a:lnTo>
                <a:cubicBezTo>
                  <a:pt x="419174" y="134094"/>
                  <a:pt x="438001" y="134094"/>
                  <a:pt x="449684" y="145703"/>
                </a:cubicBezTo>
                <a:cubicBezTo>
                  <a:pt x="461367" y="157311"/>
                  <a:pt x="461293" y="176138"/>
                  <a:pt x="449684" y="187821"/>
                </a:cubicBezTo>
                <a:lnTo>
                  <a:pt x="402059" y="235446"/>
                </a:lnTo>
                <a:cubicBezTo>
                  <a:pt x="390451" y="247055"/>
                  <a:pt x="371624" y="247055"/>
                  <a:pt x="359941" y="235446"/>
                </a:cubicBezTo>
                <a:cubicBezTo>
                  <a:pt x="348258" y="223837"/>
                  <a:pt x="348332" y="205011"/>
                  <a:pt x="359941" y="193328"/>
                </a:cubicBezTo>
                <a:lnTo>
                  <a:pt x="345281" y="178594"/>
                </a:lnTo>
                <a:lnTo>
                  <a:pt x="322287" y="178594"/>
                </a:lnTo>
                <a:cubicBezTo>
                  <a:pt x="306512" y="178594"/>
                  <a:pt x="291331" y="172343"/>
                  <a:pt x="280169" y="161181"/>
                </a:cubicBezTo>
                <a:lnTo>
                  <a:pt x="243632" y="124644"/>
                </a:lnTo>
                <a:cubicBezTo>
                  <a:pt x="232470" y="113481"/>
                  <a:pt x="226219" y="98301"/>
                  <a:pt x="226219" y="82525"/>
                </a:cubicBezTo>
                <a:lnTo>
                  <a:pt x="226219" y="73075"/>
                </a:lnTo>
                <a:cubicBezTo>
                  <a:pt x="226219" y="64740"/>
                  <a:pt x="221828" y="56927"/>
                  <a:pt x="214685" y="52685"/>
                </a:cubicBezTo>
                <a:lnTo>
                  <a:pt x="183728" y="34082"/>
                </a:lnTo>
                <a:cubicBezTo>
                  <a:pt x="175989" y="29468"/>
                  <a:pt x="175989" y="18306"/>
                  <a:pt x="183728" y="13692"/>
                </a:cubicBezTo>
                <a:close/>
                <a:moveTo>
                  <a:pt x="37728" y="299665"/>
                </a:moveTo>
                <a:lnTo>
                  <a:pt x="203002" y="134392"/>
                </a:lnTo>
                <a:lnTo>
                  <a:pt x="270346" y="201737"/>
                </a:lnTo>
                <a:lnTo>
                  <a:pt x="105073" y="367010"/>
                </a:lnTo>
                <a:cubicBezTo>
                  <a:pt x="86469" y="385614"/>
                  <a:pt x="56331" y="385614"/>
                  <a:pt x="37728" y="367010"/>
                </a:cubicBezTo>
                <a:cubicBezTo>
                  <a:pt x="19124" y="348407"/>
                  <a:pt x="19124" y="318269"/>
                  <a:pt x="37728" y="29966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35600" y="3916682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物的反应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7500" y="4221482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变形与反馈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58100" y="3683000"/>
            <a:ext cx="1257300" cy="50800"/>
          </a:xfrm>
          <a:custGeom>
            <a:avLst/>
            <a:gdLst/>
            <a:ahLst/>
            <a:cxnLst/>
            <a:rect l="l" t="t" r="r" b="b"/>
            <a:pathLst>
              <a:path w="1257300" h="50800">
                <a:moveTo>
                  <a:pt x="0" y="0"/>
                </a:moveTo>
                <a:lnTo>
                  <a:pt x="1257300" y="0"/>
                </a:lnTo>
                <a:lnTo>
                  <a:pt x="1257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15855" y="2941321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90175" y="31648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817100" y="3916682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经验积累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67900" y="4221482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文化器官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000" y="4881882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以投石狩猎为例，人的动作驱动石头改进，物的反馈形成经验，最终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生理器官演化为文化器官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，设计由此萌动。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41270d862849a0aeafa8c2cc0e0dafd0ae26630.jpg">    </p:cNvPr>
          <p:cNvPicPr>
            <a:picLocks noChangeAspect="1"/>
          </p:cNvPicPr>
          <p:nvPr/>
        </p:nvPicPr>
        <p:blipFill>
          <a:blip r:embed="rId1"/>
          <a:srcRect l="0" r="0" t="18850" b="18850"/>
          <a:stretch/>
        </p:blipFill>
        <p:spPr>
          <a:xfrm>
            <a:off x="254000" y="254000"/>
            <a:ext cx="6604000" cy="6350000"/>
          </a:xfrm>
          <a:prstGeom prst="roundRect">
            <a:avLst>
              <a:gd name="adj" fmla="val 16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7264400" y="16002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结构的诞生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644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材料技术的秩序化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64400" y="27178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结构是由不同材料成形的元件，在一定构造形式下组成的有序、有效、经济的有机整体。它是材料、技术、工艺、原理的最终统一。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64400" y="3937000"/>
            <a:ext cx="4673600" cy="1320800"/>
          </a:xfrm>
          <a:custGeom>
            <a:avLst/>
            <a:gdLst/>
            <a:ahLst/>
            <a:cxnLst/>
            <a:rect l="l" t="t" r="r" b="b"/>
            <a:pathLst>
              <a:path w="4673600" h="1320800">
                <a:moveTo>
                  <a:pt x="101596" y="0"/>
                </a:moveTo>
                <a:lnTo>
                  <a:pt x="4572004" y="0"/>
                </a:lnTo>
                <a:cubicBezTo>
                  <a:pt x="4628114" y="0"/>
                  <a:pt x="4673600" y="45486"/>
                  <a:pt x="4673600" y="101596"/>
                </a:cubicBezTo>
                <a:lnTo>
                  <a:pt x="4673600" y="1219204"/>
                </a:lnTo>
                <a:cubicBezTo>
                  <a:pt x="4673600" y="1275314"/>
                  <a:pt x="4628114" y="1320800"/>
                  <a:pt x="4572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467600" y="41402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 = 灵魂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67600" y="45466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再先进的技术，若不能构成有效秩序，便失去了价值。结构使产品成为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“对象化了的人”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47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使用研究：设计的起点与动力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082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“使用”的意义不仅在于验证，更在于它是发现问题、启发创造的源头。研究使用过程是理解物与人、环境关系的最佳途径。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327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3454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3327400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观察动作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36322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研究动作的顺序、力量、频率。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4089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Shape 7"/>
          <p:cNvSpPr/>
          <p:nvPr/>
        </p:nvSpPr>
        <p:spPr>
          <a:xfrm>
            <a:off x="412750" y="4216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408940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43942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发现结构缺陷与隐藏需求。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4851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1000" y="4978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4851400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驱动创造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51562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诱发改进动机，形成创造循环。</a:t>
            </a:r>
            <a:endParaRPr lang="en-US" sz="1600" dirty="0"/>
          </a:p>
        </p:txBody>
      </p:sp>
      <p:pic>
        <p:nvPicPr>
          <p:cNvPr id="16" name="Image 0" descr="https://kimi-web-img.moonshot.cn/img/gozerbot.org/ba4236c7c530e87a71ce0fd52e6fc316b54d736c.jpg">    </p:cNvPr>
          <p:cNvPicPr>
            <a:picLocks noChangeAspect="1"/>
          </p:cNvPicPr>
          <p:nvPr/>
        </p:nvPicPr>
        <p:blipFill>
          <a:blip r:embed="rId1"/>
          <a:srcRect l="23471" r="23471" t="0" b="0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方式与合理：系统的评价坐标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方式：动作与环境的系统耦合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0828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方式是连贯动作与对应物环境的总和，是具有一定方向性和重点的系统。变更任一要素，都将重塑整个系统的意义。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39891" y="3098800"/>
            <a:ext cx="1828800" cy="1524000"/>
          </a:xfrm>
          <a:custGeom>
            <a:avLst/>
            <a:gdLst/>
            <a:ahLst/>
            <a:cxnLst/>
            <a:rect l="l" t="t" r="r" b="b"/>
            <a:pathLst>
              <a:path w="1828800" h="1524000">
                <a:moveTo>
                  <a:pt x="101605" y="0"/>
                </a:moveTo>
                <a:lnTo>
                  <a:pt x="1727195" y="0"/>
                </a:lnTo>
                <a:cubicBezTo>
                  <a:pt x="1783310" y="0"/>
                  <a:pt x="1828800" y="45490"/>
                  <a:pt x="1828800" y="101605"/>
                </a:cubicBezTo>
                <a:lnTo>
                  <a:pt x="1828800" y="1422395"/>
                </a:lnTo>
                <a:cubicBezTo>
                  <a:pt x="1828800" y="1478510"/>
                  <a:pt x="1783310" y="1524000"/>
                  <a:pt x="1727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4266" y="330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9046" y="-28575"/>
                </a:moveTo>
                <a:cubicBezTo>
                  <a:pt x="256646" y="-28575"/>
                  <a:pt x="279053" y="-6168"/>
                  <a:pt x="279053" y="21431"/>
                </a:cubicBezTo>
                <a:cubicBezTo>
                  <a:pt x="279053" y="49030"/>
                  <a:pt x="256646" y="71438"/>
                  <a:pt x="229046" y="71438"/>
                </a:cubicBezTo>
                <a:cubicBezTo>
                  <a:pt x="201447" y="71438"/>
                  <a:pt x="179040" y="49030"/>
                  <a:pt x="179040" y="21431"/>
                </a:cubicBezTo>
                <a:cubicBezTo>
                  <a:pt x="179040" y="-6168"/>
                  <a:pt x="201447" y="-28575"/>
                  <a:pt x="229046" y="-28575"/>
                </a:cubicBezTo>
                <a:close/>
                <a:moveTo>
                  <a:pt x="110371" y="157163"/>
                </a:moveTo>
                <a:cubicBezTo>
                  <a:pt x="107424" y="157163"/>
                  <a:pt x="104835" y="158948"/>
                  <a:pt x="103763" y="161627"/>
                </a:cubicBezTo>
                <a:lnTo>
                  <a:pt x="84118" y="210651"/>
                </a:lnTo>
                <a:cubicBezTo>
                  <a:pt x="78224" y="225296"/>
                  <a:pt x="61615" y="232440"/>
                  <a:pt x="46970" y="226546"/>
                </a:cubicBezTo>
                <a:cubicBezTo>
                  <a:pt x="32325" y="220653"/>
                  <a:pt x="25182" y="204043"/>
                  <a:pt x="31075" y="189399"/>
                </a:cubicBezTo>
                <a:lnTo>
                  <a:pt x="50631" y="140375"/>
                </a:lnTo>
                <a:cubicBezTo>
                  <a:pt x="60454" y="115997"/>
                  <a:pt x="84028" y="100013"/>
                  <a:pt x="110371" y="100013"/>
                </a:cubicBezTo>
                <a:lnTo>
                  <a:pt x="197257" y="100013"/>
                </a:lnTo>
                <a:cubicBezTo>
                  <a:pt x="222706" y="100013"/>
                  <a:pt x="246191" y="113496"/>
                  <a:pt x="258961" y="135463"/>
                </a:cubicBezTo>
                <a:lnTo>
                  <a:pt x="288250" y="185738"/>
                </a:lnTo>
                <a:lnTo>
                  <a:pt x="343257" y="185738"/>
                </a:lnTo>
                <a:cubicBezTo>
                  <a:pt x="359063" y="185738"/>
                  <a:pt x="371832" y="198507"/>
                  <a:pt x="371832" y="214313"/>
                </a:cubicBezTo>
                <a:cubicBezTo>
                  <a:pt x="371832" y="230118"/>
                  <a:pt x="359063" y="242888"/>
                  <a:pt x="343257" y="242888"/>
                </a:cubicBezTo>
                <a:lnTo>
                  <a:pt x="288250" y="242888"/>
                </a:lnTo>
                <a:cubicBezTo>
                  <a:pt x="267891" y="242888"/>
                  <a:pt x="249138" y="232083"/>
                  <a:pt x="238869" y="214491"/>
                </a:cubicBezTo>
                <a:lnTo>
                  <a:pt x="229939" y="199221"/>
                </a:lnTo>
                <a:lnTo>
                  <a:pt x="211455" y="262086"/>
                </a:lnTo>
                <a:lnTo>
                  <a:pt x="278785" y="282267"/>
                </a:lnTo>
                <a:cubicBezTo>
                  <a:pt x="303520" y="289679"/>
                  <a:pt x="316111" y="317093"/>
                  <a:pt x="305663" y="340757"/>
                </a:cubicBezTo>
                <a:lnTo>
                  <a:pt x="255121" y="454521"/>
                </a:lnTo>
                <a:cubicBezTo>
                  <a:pt x="248692" y="468987"/>
                  <a:pt x="231815" y="475417"/>
                  <a:pt x="217438" y="468987"/>
                </a:cubicBezTo>
                <a:cubicBezTo>
                  <a:pt x="203061" y="462558"/>
                  <a:pt x="196542" y="445681"/>
                  <a:pt x="202972" y="431304"/>
                </a:cubicBezTo>
                <a:lnTo>
                  <a:pt x="246906" y="332363"/>
                </a:lnTo>
                <a:lnTo>
                  <a:pt x="161270" y="306645"/>
                </a:lnTo>
                <a:cubicBezTo>
                  <a:pt x="132070" y="297894"/>
                  <a:pt x="114836" y="267623"/>
                  <a:pt x="122247" y="238065"/>
                </a:cubicBezTo>
                <a:lnTo>
                  <a:pt x="142518" y="157163"/>
                </a:lnTo>
                <a:lnTo>
                  <a:pt x="110460" y="157163"/>
                </a:lnTo>
                <a:close/>
                <a:moveTo>
                  <a:pt x="103227" y="318790"/>
                </a:moveTo>
                <a:cubicBezTo>
                  <a:pt x="115104" y="332095"/>
                  <a:pt x="130641" y="342275"/>
                  <a:pt x="148947" y="347722"/>
                </a:cubicBezTo>
                <a:lnTo>
                  <a:pt x="153144" y="348972"/>
                </a:lnTo>
                <a:lnTo>
                  <a:pt x="146983" y="366206"/>
                </a:lnTo>
                <a:cubicBezTo>
                  <a:pt x="141803" y="380762"/>
                  <a:pt x="132695" y="393710"/>
                  <a:pt x="120819" y="403533"/>
                </a:cubicBezTo>
                <a:lnTo>
                  <a:pt x="47238" y="464165"/>
                </a:lnTo>
                <a:cubicBezTo>
                  <a:pt x="35094" y="474166"/>
                  <a:pt x="17056" y="472470"/>
                  <a:pt x="7054" y="460325"/>
                </a:cubicBezTo>
                <a:cubicBezTo>
                  <a:pt x="-2947" y="448181"/>
                  <a:pt x="-1250" y="430143"/>
                  <a:pt x="10894" y="420142"/>
                </a:cubicBezTo>
                <a:lnTo>
                  <a:pt x="84475" y="359509"/>
                </a:lnTo>
                <a:cubicBezTo>
                  <a:pt x="88493" y="356205"/>
                  <a:pt x="91440" y="351919"/>
                  <a:pt x="93226" y="347097"/>
                </a:cubicBezTo>
                <a:lnTo>
                  <a:pt x="103227" y="31879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3193891" y="3860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连贯动作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9091" y="41656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行为的方向与重点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71891" y="36068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3375" y="3098800"/>
            <a:ext cx="1651000" cy="1524000"/>
          </a:xfrm>
          <a:custGeom>
            <a:avLst/>
            <a:gdLst/>
            <a:ahLst/>
            <a:cxnLst/>
            <a:rect l="l" t="t" r="r" b="b"/>
            <a:pathLst>
              <a:path w="1651000" h="1524000">
                <a:moveTo>
                  <a:pt x="101605" y="0"/>
                </a:moveTo>
                <a:lnTo>
                  <a:pt x="1549395" y="0"/>
                </a:lnTo>
                <a:cubicBezTo>
                  <a:pt x="1605510" y="0"/>
                  <a:pt x="1651000" y="45490"/>
                  <a:pt x="1651000" y="101605"/>
                </a:cubicBezTo>
                <a:lnTo>
                  <a:pt x="1651000" y="1422395"/>
                </a:lnTo>
                <a:cubicBezTo>
                  <a:pt x="1651000" y="1478510"/>
                  <a:pt x="1605510" y="1524000"/>
                  <a:pt x="1549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10275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3603" y="-1161"/>
                </a:moveTo>
                <a:cubicBezTo>
                  <a:pt x="238155" y="-10091"/>
                  <a:pt x="219045" y="-10091"/>
                  <a:pt x="203597" y="-1161"/>
                </a:cubicBezTo>
                <a:lnTo>
                  <a:pt x="128409" y="42237"/>
                </a:lnTo>
                <a:cubicBezTo>
                  <a:pt x="112961" y="51167"/>
                  <a:pt x="103406" y="67687"/>
                  <a:pt x="103406" y="85546"/>
                </a:cubicBezTo>
                <a:lnTo>
                  <a:pt x="103406" y="176540"/>
                </a:lnTo>
                <a:lnTo>
                  <a:pt x="24557" y="222081"/>
                </a:lnTo>
                <a:cubicBezTo>
                  <a:pt x="9108" y="231011"/>
                  <a:pt x="-446" y="247531"/>
                  <a:pt x="-446" y="265390"/>
                </a:cubicBezTo>
                <a:lnTo>
                  <a:pt x="-446" y="352276"/>
                </a:lnTo>
                <a:cubicBezTo>
                  <a:pt x="-446" y="370136"/>
                  <a:pt x="9108" y="386655"/>
                  <a:pt x="24557" y="395585"/>
                </a:cubicBezTo>
                <a:lnTo>
                  <a:pt x="99834" y="438983"/>
                </a:lnTo>
                <a:cubicBezTo>
                  <a:pt x="115282" y="447913"/>
                  <a:pt x="134392" y="447913"/>
                  <a:pt x="149840" y="438983"/>
                </a:cubicBezTo>
                <a:lnTo>
                  <a:pt x="228689" y="393442"/>
                </a:lnTo>
                <a:lnTo>
                  <a:pt x="307538" y="438983"/>
                </a:lnTo>
                <a:cubicBezTo>
                  <a:pt x="322987" y="447913"/>
                  <a:pt x="342096" y="447913"/>
                  <a:pt x="357545" y="438983"/>
                </a:cubicBezTo>
                <a:lnTo>
                  <a:pt x="432643" y="395585"/>
                </a:lnTo>
                <a:cubicBezTo>
                  <a:pt x="448092" y="386655"/>
                  <a:pt x="457646" y="370136"/>
                  <a:pt x="457646" y="352276"/>
                </a:cubicBezTo>
                <a:lnTo>
                  <a:pt x="457646" y="265390"/>
                </a:lnTo>
                <a:cubicBezTo>
                  <a:pt x="457646" y="247531"/>
                  <a:pt x="448092" y="231011"/>
                  <a:pt x="432643" y="222081"/>
                </a:cubicBezTo>
                <a:lnTo>
                  <a:pt x="353794" y="176540"/>
                </a:lnTo>
                <a:lnTo>
                  <a:pt x="353794" y="85546"/>
                </a:lnTo>
                <a:cubicBezTo>
                  <a:pt x="353794" y="67687"/>
                  <a:pt x="344239" y="51167"/>
                  <a:pt x="328791" y="42237"/>
                </a:cubicBezTo>
                <a:lnTo>
                  <a:pt x="253603" y="-1161"/>
                </a:lnTo>
                <a:close/>
                <a:moveTo>
                  <a:pt x="207169" y="261283"/>
                </a:moveTo>
                <a:lnTo>
                  <a:pt x="207169" y="356384"/>
                </a:lnTo>
                <a:lnTo>
                  <a:pt x="128320" y="401925"/>
                </a:lnTo>
                <a:cubicBezTo>
                  <a:pt x="127248" y="402550"/>
                  <a:pt x="125998" y="402908"/>
                  <a:pt x="124748" y="402908"/>
                </a:cubicBezTo>
                <a:lnTo>
                  <a:pt x="124748" y="308878"/>
                </a:lnTo>
                <a:lnTo>
                  <a:pt x="207169" y="261283"/>
                </a:lnTo>
                <a:close/>
                <a:moveTo>
                  <a:pt x="413802" y="261818"/>
                </a:moveTo>
                <a:cubicBezTo>
                  <a:pt x="414427" y="262890"/>
                  <a:pt x="414784" y="264140"/>
                  <a:pt x="414784" y="265390"/>
                </a:cubicBezTo>
                <a:lnTo>
                  <a:pt x="414784" y="352276"/>
                </a:lnTo>
                <a:cubicBezTo>
                  <a:pt x="414784" y="354866"/>
                  <a:pt x="413445" y="357188"/>
                  <a:pt x="411212" y="358438"/>
                </a:cubicBezTo>
                <a:lnTo>
                  <a:pt x="335935" y="401836"/>
                </a:lnTo>
                <a:cubicBezTo>
                  <a:pt x="334863" y="402461"/>
                  <a:pt x="333613" y="402818"/>
                  <a:pt x="332363" y="402818"/>
                </a:cubicBezTo>
                <a:lnTo>
                  <a:pt x="332363" y="308789"/>
                </a:lnTo>
                <a:lnTo>
                  <a:pt x="413802" y="261818"/>
                </a:lnTo>
                <a:close/>
                <a:moveTo>
                  <a:pt x="311021" y="85546"/>
                </a:moveTo>
                <a:lnTo>
                  <a:pt x="311021" y="176540"/>
                </a:lnTo>
                <a:lnTo>
                  <a:pt x="228600" y="224135"/>
                </a:lnTo>
                <a:lnTo>
                  <a:pt x="228600" y="129034"/>
                </a:lnTo>
                <a:lnTo>
                  <a:pt x="310039" y="82064"/>
                </a:lnTo>
                <a:cubicBezTo>
                  <a:pt x="310664" y="83135"/>
                  <a:pt x="311021" y="84386"/>
                  <a:pt x="311021" y="85636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578475" y="3860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物与环境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62575" y="41656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有序组合的整体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7575" y="36068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09059" y="3098800"/>
            <a:ext cx="1549400" cy="1524000"/>
          </a:xfrm>
          <a:custGeom>
            <a:avLst/>
            <a:gdLst/>
            <a:ahLst/>
            <a:cxnLst/>
            <a:rect l="l" t="t" r="r" b="b"/>
            <a:pathLst>
              <a:path w="1549400" h="1524000">
                <a:moveTo>
                  <a:pt x="101605" y="0"/>
                </a:moveTo>
                <a:lnTo>
                  <a:pt x="1447795" y="0"/>
                </a:lnTo>
                <a:cubicBezTo>
                  <a:pt x="1503910" y="0"/>
                  <a:pt x="1549400" y="45490"/>
                  <a:pt x="1549400" y="101605"/>
                </a:cubicBezTo>
                <a:lnTo>
                  <a:pt x="1549400" y="1422395"/>
                </a:lnTo>
                <a:cubicBezTo>
                  <a:pt x="1549400" y="1478510"/>
                  <a:pt x="1503910" y="1524000"/>
                  <a:pt x="14477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51984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7820184" y="3860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方式系统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58259" y="41656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生产/生活方式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000" y="50292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彩陶文化不仅是器物造型，更是那个时代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生产方式、生活方式和文明观念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的缩影。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52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合理：真与善的统一标准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13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合理是合乎客观规律、时代观念、社会准则与人类理想的动态标准，是主客观的统一，是真与善的统一，也是美的本质与根源。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06500" y="3632200"/>
            <a:ext cx="774700" cy="774700"/>
          </a:xfrm>
          <a:custGeom>
            <a:avLst/>
            <a:gdLst/>
            <a:ahLst/>
            <a:cxnLst/>
            <a:rect l="l" t="t" r="r" b="b"/>
            <a:pathLst>
              <a:path w="774700" h="774700">
                <a:moveTo>
                  <a:pt x="387350" y="0"/>
                </a:moveTo>
                <a:lnTo>
                  <a:pt x="387350" y="0"/>
                </a:lnTo>
                <a:cubicBezTo>
                  <a:pt x="601134" y="0"/>
                  <a:pt x="774700" y="173566"/>
                  <a:pt x="774700" y="387350"/>
                </a:cubicBezTo>
                <a:lnTo>
                  <a:pt x="774700" y="387350"/>
                </a:lnTo>
                <a:cubicBezTo>
                  <a:pt x="774700" y="601134"/>
                  <a:pt x="601134" y="774700"/>
                  <a:pt x="387350" y="774700"/>
                </a:cubicBezTo>
                <a:lnTo>
                  <a:pt x="387350" y="774700"/>
                </a:lnTo>
                <a:cubicBezTo>
                  <a:pt x="173566" y="774700"/>
                  <a:pt x="0" y="601134"/>
                  <a:pt x="0" y="387350"/>
                </a:cubicBezTo>
                <a:lnTo>
                  <a:pt x="0" y="387350"/>
                </a:lnTo>
                <a:cubicBezTo>
                  <a:pt x="0" y="173566"/>
                  <a:pt x="173566" y="0"/>
                  <a:pt x="3873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200" y="3848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85961" y="49709"/>
                </a:moveTo>
                <a:cubicBezTo>
                  <a:pt x="193700" y="39067"/>
                  <a:pt x="191319" y="24185"/>
                  <a:pt x="180677" y="16446"/>
                </a:cubicBezTo>
                <a:cubicBezTo>
                  <a:pt x="170036" y="8706"/>
                  <a:pt x="155153" y="11088"/>
                  <a:pt x="147414" y="21729"/>
                </a:cubicBezTo>
                <a:lnTo>
                  <a:pt x="68535" y="130150"/>
                </a:lnTo>
                <a:lnTo>
                  <a:pt x="40630" y="102245"/>
                </a:lnTo>
                <a:cubicBezTo>
                  <a:pt x="31328" y="92943"/>
                  <a:pt x="16222" y="92943"/>
                  <a:pt x="6921" y="102245"/>
                </a:cubicBezTo>
                <a:cubicBezTo>
                  <a:pt x="-2381" y="111547"/>
                  <a:pt x="-2381" y="126653"/>
                  <a:pt x="6921" y="135954"/>
                </a:cubicBezTo>
                <a:lnTo>
                  <a:pt x="54546" y="183579"/>
                </a:lnTo>
                <a:cubicBezTo>
                  <a:pt x="59457" y="188491"/>
                  <a:pt x="66303" y="191021"/>
                  <a:pt x="73223" y="190500"/>
                </a:cubicBezTo>
                <a:cubicBezTo>
                  <a:pt x="80144" y="189979"/>
                  <a:pt x="86544" y="186407"/>
                  <a:pt x="90636" y="180752"/>
                </a:cubicBezTo>
                <a:lnTo>
                  <a:pt x="185886" y="49783"/>
                </a:lnTo>
                <a:close/>
                <a:moveTo>
                  <a:pt x="281211" y="150912"/>
                </a:moveTo>
                <a:cubicBezTo>
                  <a:pt x="288950" y="140271"/>
                  <a:pt x="286569" y="125388"/>
                  <a:pt x="275927" y="117649"/>
                </a:cubicBezTo>
                <a:cubicBezTo>
                  <a:pt x="265286" y="109910"/>
                  <a:pt x="250403" y="112291"/>
                  <a:pt x="242664" y="122932"/>
                </a:cubicBezTo>
                <a:lnTo>
                  <a:pt x="116160" y="296838"/>
                </a:lnTo>
                <a:lnTo>
                  <a:pt x="64443" y="245120"/>
                </a:lnTo>
                <a:cubicBezTo>
                  <a:pt x="55141" y="235818"/>
                  <a:pt x="40035" y="235818"/>
                  <a:pt x="30733" y="245120"/>
                </a:cubicBezTo>
                <a:cubicBezTo>
                  <a:pt x="21431" y="254422"/>
                  <a:pt x="21431" y="269528"/>
                  <a:pt x="30733" y="278829"/>
                </a:cubicBezTo>
                <a:lnTo>
                  <a:pt x="102171" y="350267"/>
                </a:lnTo>
                <a:cubicBezTo>
                  <a:pt x="107082" y="355178"/>
                  <a:pt x="113928" y="357708"/>
                  <a:pt x="120848" y="357188"/>
                </a:cubicBezTo>
                <a:cubicBezTo>
                  <a:pt x="127769" y="356667"/>
                  <a:pt x="134169" y="353095"/>
                  <a:pt x="138261" y="347439"/>
                </a:cubicBezTo>
                <a:lnTo>
                  <a:pt x="281136" y="150986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546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合乎规律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4851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24300" y="3632200"/>
            <a:ext cx="774700" cy="774700"/>
          </a:xfrm>
          <a:custGeom>
            <a:avLst/>
            <a:gdLst/>
            <a:ahLst/>
            <a:cxnLst/>
            <a:rect l="l" t="t" r="r" b="b"/>
            <a:pathLst>
              <a:path w="774700" h="774700">
                <a:moveTo>
                  <a:pt x="387350" y="0"/>
                </a:moveTo>
                <a:lnTo>
                  <a:pt x="387350" y="0"/>
                </a:lnTo>
                <a:cubicBezTo>
                  <a:pt x="601134" y="0"/>
                  <a:pt x="774700" y="173566"/>
                  <a:pt x="774700" y="387350"/>
                </a:cubicBezTo>
                <a:lnTo>
                  <a:pt x="774700" y="387350"/>
                </a:lnTo>
                <a:cubicBezTo>
                  <a:pt x="774700" y="601134"/>
                  <a:pt x="601134" y="774700"/>
                  <a:pt x="387350" y="774700"/>
                </a:cubicBezTo>
                <a:lnTo>
                  <a:pt x="387350" y="774700"/>
                </a:lnTo>
                <a:cubicBezTo>
                  <a:pt x="173566" y="774700"/>
                  <a:pt x="0" y="601134"/>
                  <a:pt x="0" y="387350"/>
                </a:cubicBezTo>
                <a:lnTo>
                  <a:pt x="0" y="387350"/>
                </a:lnTo>
                <a:cubicBezTo>
                  <a:pt x="0" y="173566"/>
                  <a:pt x="173566" y="0"/>
                  <a:pt x="3873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4337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670300" y="4546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合乎理想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70300" y="4851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善</a:t>
            </a:r>
            <a:endParaRPr lang="en-US" sz="1600" dirty="0"/>
          </a:p>
        </p:txBody>
      </p:sp>
      <p:pic>
        <p:nvPicPr>
          <p:cNvPr id="12" name="Image 0" descr="https://kimi-web-img.moonshot.cn/img/img.freepik.com/4079c5eb20421a1f464dfaede6ac48c3e0b2e33d.jpg">    </p:cNvPr>
          <p:cNvPicPr>
            <a:picLocks noChangeAspect="1"/>
          </p:cNvPicPr>
          <p:nvPr/>
        </p:nvPicPr>
        <p:blipFill>
          <a:blip r:embed="rId1"/>
          <a:srcRect l="18003" r="18003" t="0" b="0"/>
          <a:stretch/>
        </p:blipFill>
        <p:spPr>
          <a:xfrm>
            <a:off x="6502400" y="1047750"/>
            <a:ext cx="54356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843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工业设计的最高原则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095500"/>
            <a:ext cx="11684000" cy="812800"/>
          </a:xfrm>
          <a:custGeom>
            <a:avLst/>
            <a:gdLst/>
            <a:ahLst/>
            <a:cxnLst/>
            <a:rect l="l" t="t" r="r" b="b"/>
            <a:pathLst>
              <a:path w="11684000" h="8128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711200"/>
                </a:lnTo>
                <a:cubicBezTo>
                  <a:pt x="11684000" y="767275"/>
                  <a:pt x="11638475" y="812800"/>
                  <a:pt x="11582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095500"/>
            <a:ext cx="12192000" cy="8128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创造更合理的生存（使用）方式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3111345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方式是主客观的暂时谐调，合理是评价的控制阀。设计必须兼顾制造、商业、使用、环境，形成多元反馈网络，实现真、善、美的统一。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412875" y="42797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23812"/>
                </a:moveTo>
                <a:cubicBezTo>
                  <a:pt x="10641" y="23812"/>
                  <a:pt x="0" y="34454"/>
                  <a:pt x="0" y="47625"/>
                </a:cubicBezTo>
                <a:lnTo>
                  <a:pt x="0" y="321469"/>
                </a:lnTo>
                <a:cubicBezTo>
                  <a:pt x="0" y="341188"/>
                  <a:pt x="15999" y="357188"/>
                  <a:pt x="35719" y="357188"/>
                </a:cubicBezTo>
                <a:lnTo>
                  <a:pt x="345281" y="357188"/>
                </a:lnTo>
                <a:cubicBezTo>
                  <a:pt x="365001" y="357188"/>
                  <a:pt x="381000" y="341188"/>
                  <a:pt x="381000" y="321469"/>
                </a:cubicBezTo>
                <a:lnTo>
                  <a:pt x="381000" y="113258"/>
                </a:lnTo>
                <a:cubicBezTo>
                  <a:pt x="381000" y="99715"/>
                  <a:pt x="366564" y="91157"/>
                  <a:pt x="354657" y="97557"/>
                </a:cubicBezTo>
                <a:lnTo>
                  <a:pt x="238125" y="160288"/>
                </a:lnTo>
                <a:lnTo>
                  <a:pt x="238125" y="113258"/>
                </a:lnTo>
                <a:cubicBezTo>
                  <a:pt x="238125" y="99715"/>
                  <a:pt x="223689" y="91157"/>
                  <a:pt x="211782" y="97557"/>
                </a:cubicBezTo>
                <a:lnTo>
                  <a:pt x="95250" y="160288"/>
                </a:lnTo>
                <a:lnTo>
                  <a:pt x="95250" y="47625"/>
                </a:lnTo>
                <a:cubicBezTo>
                  <a:pt x="95250" y="34454"/>
                  <a:pt x="84609" y="23812"/>
                  <a:pt x="71438" y="23812"/>
                </a:cubicBezTo>
                <a:lnTo>
                  <a:pt x="23812" y="23812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可行高效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496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850" y="427974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7859" y="-11906"/>
                </a:moveTo>
                <a:cubicBezTo>
                  <a:pt x="7962" y="-11906"/>
                  <a:pt x="0" y="-3944"/>
                  <a:pt x="0" y="5953"/>
                </a:cubicBezTo>
                <a:cubicBezTo>
                  <a:pt x="0" y="15850"/>
                  <a:pt x="7962" y="23812"/>
                  <a:pt x="17859" y="23812"/>
                </a:cubicBezTo>
                <a:lnTo>
                  <a:pt x="51569" y="23812"/>
                </a:lnTo>
                <a:cubicBezTo>
                  <a:pt x="54471" y="23812"/>
                  <a:pt x="56927" y="25896"/>
                  <a:pt x="57448" y="28724"/>
                </a:cubicBezTo>
                <a:lnTo>
                  <a:pt x="96217" y="241771"/>
                </a:lnTo>
                <a:cubicBezTo>
                  <a:pt x="100831" y="267221"/>
                  <a:pt x="123006" y="285750"/>
                  <a:pt x="148903" y="285750"/>
                </a:cubicBezTo>
                <a:lnTo>
                  <a:pt x="339328" y="285750"/>
                </a:lnTo>
                <a:cubicBezTo>
                  <a:pt x="349225" y="285750"/>
                  <a:pt x="357188" y="277788"/>
                  <a:pt x="357188" y="267891"/>
                </a:cubicBezTo>
                <a:cubicBezTo>
                  <a:pt x="357188" y="257994"/>
                  <a:pt x="349225" y="250031"/>
                  <a:pt x="339328" y="250031"/>
                </a:cubicBezTo>
                <a:lnTo>
                  <a:pt x="148903" y="250031"/>
                </a:lnTo>
                <a:cubicBezTo>
                  <a:pt x="140271" y="250031"/>
                  <a:pt x="132904" y="243855"/>
                  <a:pt x="131341" y="235372"/>
                </a:cubicBezTo>
                <a:lnTo>
                  <a:pt x="127546" y="214313"/>
                </a:lnTo>
                <a:lnTo>
                  <a:pt x="353467" y="214313"/>
                </a:lnTo>
                <a:cubicBezTo>
                  <a:pt x="376386" y="214313"/>
                  <a:pt x="396032" y="198016"/>
                  <a:pt x="400273" y="175468"/>
                </a:cubicBezTo>
                <a:lnTo>
                  <a:pt x="423342" y="52015"/>
                </a:lnTo>
                <a:cubicBezTo>
                  <a:pt x="426095" y="37356"/>
                  <a:pt x="414858" y="23812"/>
                  <a:pt x="399901" y="23812"/>
                </a:cubicBezTo>
                <a:lnTo>
                  <a:pt x="92794" y="23812"/>
                </a:lnTo>
                <a:lnTo>
                  <a:pt x="92497" y="22324"/>
                </a:lnTo>
                <a:cubicBezTo>
                  <a:pt x="88925" y="2530"/>
                  <a:pt x="71661" y="-11906"/>
                  <a:pt x="51495" y="-11906"/>
                </a:cubicBezTo>
                <a:lnTo>
                  <a:pt x="17859" y="-11906"/>
                </a:lnTo>
                <a:close/>
                <a:moveTo>
                  <a:pt x="154781" y="381000"/>
                </a:moveTo>
                <a:cubicBezTo>
                  <a:pt x="174495" y="381000"/>
                  <a:pt x="190500" y="364995"/>
                  <a:pt x="190500" y="345281"/>
                </a:cubicBezTo>
                <a:cubicBezTo>
                  <a:pt x="190500" y="325568"/>
                  <a:pt x="174495" y="309563"/>
                  <a:pt x="154781" y="309563"/>
                </a:cubicBezTo>
                <a:cubicBezTo>
                  <a:pt x="135068" y="309563"/>
                  <a:pt x="119063" y="325568"/>
                  <a:pt x="119063" y="345281"/>
                </a:cubicBezTo>
                <a:cubicBezTo>
                  <a:pt x="119063" y="364995"/>
                  <a:pt x="135068" y="381000"/>
                  <a:pt x="154781" y="381000"/>
                </a:cubicBezTo>
                <a:close/>
                <a:moveTo>
                  <a:pt x="321469" y="381000"/>
                </a:moveTo>
                <a:cubicBezTo>
                  <a:pt x="341182" y="381000"/>
                  <a:pt x="357188" y="364995"/>
                  <a:pt x="357188" y="345281"/>
                </a:cubicBezTo>
                <a:cubicBezTo>
                  <a:pt x="357188" y="325568"/>
                  <a:pt x="341182" y="309563"/>
                  <a:pt x="321469" y="309563"/>
                </a:cubicBezTo>
                <a:cubicBezTo>
                  <a:pt x="301755" y="309563"/>
                  <a:pt x="285750" y="325568"/>
                  <a:pt x="285750" y="345281"/>
                </a:cubicBezTo>
                <a:cubicBezTo>
                  <a:pt x="285750" y="364995"/>
                  <a:pt x="301755" y="381000"/>
                  <a:pt x="321469" y="3810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0386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流通销售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452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6450" y="427974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01203" y="95250"/>
                </a:moveTo>
                <a:cubicBezTo>
                  <a:pt x="101203" y="45966"/>
                  <a:pt x="141216" y="5953"/>
                  <a:pt x="190500" y="5953"/>
                </a:cubicBezTo>
                <a:cubicBezTo>
                  <a:pt x="239784" y="5953"/>
                  <a:pt x="279797" y="45966"/>
                  <a:pt x="279797" y="95250"/>
                </a:cubicBezTo>
                <a:cubicBezTo>
                  <a:pt x="279797" y="144534"/>
                  <a:pt x="239784" y="184547"/>
                  <a:pt x="190500" y="184547"/>
                </a:cubicBezTo>
                <a:cubicBezTo>
                  <a:pt x="141216" y="184547"/>
                  <a:pt x="101203" y="144534"/>
                  <a:pt x="101203" y="95250"/>
                </a:cubicBezTo>
                <a:close/>
                <a:moveTo>
                  <a:pt x="35719" y="358899"/>
                </a:moveTo>
                <a:cubicBezTo>
                  <a:pt x="35719" y="285601"/>
                  <a:pt x="95101" y="226219"/>
                  <a:pt x="168399" y="226219"/>
                </a:cubicBezTo>
                <a:lnTo>
                  <a:pt x="212601" y="226219"/>
                </a:lnTo>
                <a:cubicBezTo>
                  <a:pt x="285899" y="226219"/>
                  <a:pt x="345281" y="285601"/>
                  <a:pt x="345281" y="358899"/>
                </a:cubicBezTo>
                <a:cubicBezTo>
                  <a:pt x="345281" y="371103"/>
                  <a:pt x="335384" y="381000"/>
                  <a:pt x="323180" y="381000"/>
                </a:cubicBezTo>
                <a:lnTo>
                  <a:pt x="57820" y="381000"/>
                </a:lnTo>
                <a:cubicBezTo>
                  <a:pt x="45616" y="381000"/>
                  <a:pt x="35719" y="371103"/>
                  <a:pt x="35719" y="358899"/>
                </a:cubicBezTo>
                <a:close/>
                <a:moveTo>
                  <a:pt x="455712" y="98747"/>
                </a:moveTo>
                <a:lnTo>
                  <a:pt x="396180" y="193997"/>
                </a:lnTo>
                <a:cubicBezTo>
                  <a:pt x="393055" y="198983"/>
                  <a:pt x="387697" y="202109"/>
                  <a:pt x="381819" y="202406"/>
                </a:cubicBezTo>
                <a:cubicBezTo>
                  <a:pt x="375940" y="202704"/>
                  <a:pt x="370284" y="200025"/>
                  <a:pt x="366787" y="195262"/>
                </a:cubicBezTo>
                <a:lnTo>
                  <a:pt x="331068" y="147637"/>
                </a:lnTo>
                <a:cubicBezTo>
                  <a:pt x="325115" y="139750"/>
                  <a:pt x="326752" y="128588"/>
                  <a:pt x="334640" y="122634"/>
                </a:cubicBezTo>
                <a:cubicBezTo>
                  <a:pt x="342528" y="116681"/>
                  <a:pt x="353690" y="118318"/>
                  <a:pt x="359643" y="126206"/>
                </a:cubicBezTo>
                <a:lnTo>
                  <a:pt x="379735" y="152995"/>
                </a:lnTo>
                <a:lnTo>
                  <a:pt x="425425" y="79846"/>
                </a:lnTo>
                <a:cubicBezTo>
                  <a:pt x="430634" y="71512"/>
                  <a:pt x="441647" y="68907"/>
                  <a:pt x="450056" y="74191"/>
                </a:cubicBezTo>
                <a:cubicBezTo>
                  <a:pt x="458465" y="79474"/>
                  <a:pt x="460995" y="90413"/>
                  <a:pt x="455712" y="9882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9342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18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舒适耐用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408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99675" y="42797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0713" y="4986"/>
                </a:moveTo>
                <a:cubicBezTo>
                  <a:pt x="355476" y="446"/>
                  <a:pt x="362396" y="-1191"/>
                  <a:pt x="368796" y="893"/>
                </a:cubicBezTo>
                <a:cubicBezTo>
                  <a:pt x="376089" y="3349"/>
                  <a:pt x="381000" y="10195"/>
                  <a:pt x="381000" y="17859"/>
                </a:cubicBezTo>
                <a:lnTo>
                  <a:pt x="381000" y="156939"/>
                </a:lnTo>
                <a:cubicBezTo>
                  <a:pt x="381000" y="254571"/>
                  <a:pt x="300558" y="333375"/>
                  <a:pt x="203299" y="333375"/>
                </a:cubicBezTo>
                <a:cubicBezTo>
                  <a:pt x="146000" y="333375"/>
                  <a:pt x="96589" y="296540"/>
                  <a:pt x="78656" y="245046"/>
                </a:cubicBezTo>
                <a:cubicBezTo>
                  <a:pt x="52313" y="267965"/>
                  <a:pt x="35719" y="301675"/>
                  <a:pt x="35719" y="339328"/>
                </a:cubicBezTo>
                <a:cubicBezTo>
                  <a:pt x="35719" y="349225"/>
                  <a:pt x="27756" y="357188"/>
                  <a:pt x="17859" y="357188"/>
                </a:cubicBezTo>
                <a:cubicBezTo>
                  <a:pt x="7962" y="357188"/>
                  <a:pt x="0" y="349225"/>
                  <a:pt x="0" y="339328"/>
                </a:cubicBezTo>
                <a:cubicBezTo>
                  <a:pt x="0" y="283592"/>
                  <a:pt x="28426" y="234479"/>
                  <a:pt x="71512" y="205606"/>
                </a:cubicBezTo>
                <a:cubicBezTo>
                  <a:pt x="97780" y="188044"/>
                  <a:pt x="129108" y="178594"/>
                  <a:pt x="160734" y="178594"/>
                </a:cubicBezTo>
                <a:lnTo>
                  <a:pt x="220266" y="178594"/>
                </a:lnTo>
                <a:cubicBezTo>
                  <a:pt x="230163" y="178594"/>
                  <a:pt x="238125" y="170631"/>
                  <a:pt x="238125" y="160734"/>
                </a:cubicBezTo>
                <a:cubicBezTo>
                  <a:pt x="238125" y="150837"/>
                  <a:pt x="230163" y="142875"/>
                  <a:pt x="220266" y="142875"/>
                </a:cubicBezTo>
                <a:lnTo>
                  <a:pt x="160734" y="142875"/>
                </a:lnTo>
                <a:cubicBezTo>
                  <a:pt x="131192" y="142875"/>
                  <a:pt x="103212" y="149423"/>
                  <a:pt x="78135" y="161106"/>
                </a:cubicBezTo>
                <a:cubicBezTo>
                  <a:pt x="95473" y="109017"/>
                  <a:pt x="144512" y="71438"/>
                  <a:pt x="202406" y="71438"/>
                </a:cubicBezTo>
                <a:cubicBezTo>
                  <a:pt x="251817" y="71438"/>
                  <a:pt x="288578" y="54992"/>
                  <a:pt x="313060" y="38695"/>
                </a:cubicBezTo>
                <a:cubicBezTo>
                  <a:pt x="327347" y="29170"/>
                  <a:pt x="339477" y="17785"/>
                  <a:pt x="350788" y="4986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774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友好循环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生态观：从单向到循环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自然生态闭环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590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一个无废物的世界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7178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自然系统是一个封闭的、可自足的有机生态系统。它不出产绝对的废品，任何物质都可被分解吸收，物质生产与再生产处于永恒的循环状态。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9370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402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设计启示：模仿自然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466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将废品变为资源，使销毁成为制造的开始，构建循环式设计生态链。</a:t>
            </a:r>
            <a:endParaRPr lang="en-US" sz="1600" dirty="0"/>
          </a:p>
        </p:txBody>
      </p:sp>
      <p:pic>
        <p:nvPicPr>
          <p:cNvPr id="8" name="Image 0" descr="https://kimi-web-img.moonshot.cn/img/static.wixstatic.com/31373ddf90b336fc39d142755f3d9e5be0cb6de9.jpg">    </p:cNvPr>
          <p:cNvPicPr>
            <a:picLocks noChangeAspect="1"/>
          </p:cNvPicPr>
          <p:nvPr/>
        </p:nvPicPr>
        <p:blipFill>
          <a:blip r:embed="rId1"/>
          <a:srcRect l="11836" r="11836" t="0" b="0"/>
          <a:stretch/>
        </p:blipFill>
        <p:spPr>
          <a:xfrm>
            <a:off x="6502400" y="1047750"/>
            <a:ext cx="54356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923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资本单向度：不可持续的危机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66800" y="2451100"/>
            <a:ext cx="1005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资本以增殖为唯一目的，催生高速生产与快速废弃，导致资源枯竭与废品堆积，地球自然资本正急剧减少。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190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975100" y="331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23812"/>
                </a:moveTo>
                <a:cubicBezTo>
                  <a:pt x="10641" y="23812"/>
                  <a:pt x="0" y="34454"/>
                  <a:pt x="0" y="47625"/>
                </a:cubicBezTo>
                <a:lnTo>
                  <a:pt x="0" y="321469"/>
                </a:lnTo>
                <a:cubicBezTo>
                  <a:pt x="0" y="341188"/>
                  <a:pt x="15999" y="357188"/>
                  <a:pt x="35719" y="357188"/>
                </a:cubicBezTo>
                <a:lnTo>
                  <a:pt x="345281" y="357188"/>
                </a:lnTo>
                <a:cubicBezTo>
                  <a:pt x="365001" y="357188"/>
                  <a:pt x="381000" y="341188"/>
                  <a:pt x="381000" y="321469"/>
                </a:cubicBezTo>
                <a:lnTo>
                  <a:pt x="381000" y="113258"/>
                </a:lnTo>
                <a:cubicBezTo>
                  <a:pt x="381000" y="99715"/>
                  <a:pt x="366564" y="91157"/>
                  <a:pt x="354657" y="97557"/>
                </a:cubicBezTo>
                <a:lnTo>
                  <a:pt x="238125" y="160288"/>
                </a:lnTo>
                <a:lnTo>
                  <a:pt x="238125" y="113258"/>
                </a:lnTo>
                <a:cubicBezTo>
                  <a:pt x="238125" y="99715"/>
                  <a:pt x="223689" y="91157"/>
                  <a:pt x="211782" y="97557"/>
                </a:cubicBezTo>
                <a:lnTo>
                  <a:pt x="95250" y="160288"/>
                </a:lnTo>
                <a:lnTo>
                  <a:pt x="95250" y="47625"/>
                </a:lnTo>
                <a:cubicBezTo>
                  <a:pt x="95250" y="34454"/>
                  <a:pt x="84609" y="23812"/>
                  <a:pt x="71438" y="23812"/>
                </a:cubicBezTo>
                <a:lnTo>
                  <a:pt x="23812" y="23812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370522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5455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6095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287963" y="3314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19063" y="59531"/>
                </a:moveTo>
                <a:cubicBezTo>
                  <a:pt x="119063" y="33263"/>
                  <a:pt x="140419" y="11906"/>
                  <a:pt x="166688" y="11906"/>
                </a:cubicBezTo>
                <a:cubicBezTo>
                  <a:pt x="192956" y="11906"/>
                  <a:pt x="214313" y="33263"/>
                  <a:pt x="214313" y="59531"/>
                </a:cubicBezTo>
                <a:lnTo>
                  <a:pt x="214313" y="95250"/>
                </a:lnTo>
                <a:lnTo>
                  <a:pt x="119063" y="95250"/>
                </a:lnTo>
                <a:lnTo>
                  <a:pt x="119063" y="59531"/>
                </a:lnTo>
                <a:close/>
                <a:moveTo>
                  <a:pt x="83344" y="95250"/>
                </a:moveTo>
                <a:lnTo>
                  <a:pt x="35719" y="95250"/>
                </a:lnTo>
                <a:cubicBezTo>
                  <a:pt x="15999" y="95250"/>
                  <a:pt x="0" y="111249"/>
                  <a:pt x="0" y="130969"/>
                </a:cubicBezTo>
                <a:lnTo>
                  <a:pt x="0" y="285750"/>
                </a:lnTo>
                <a:cubicBezTo>
                  <a:pt x="0" y="325189"/>
                  <a:pt x="31998" y="357188"/>
                  <a:pt x="71438" y="357188"/>
                </a:cubicBezTo>
                <a:lnTo>
                  <a:pt x="261938" y="357188"/>
                </a:lnTo>
                <a:cubicBezTo>
                  <a:pt x="301377" y="357188"/>
                  <a:pt x="333375" y="325189"/>
                  <a:pt x="333375" y="285750"/>
                </a:cubicBezTo>
                <a:lnTo>
                  <a:pt x="333375" y="130969"/>
                </a:lnTo>
                <a:cubicBezTo>
                  <a:pt x="333375" y="111249"/>
                  <a:pt x="317376" y="95250"/>
                  <a:pt x="297656" y="95250"/>
                </a:cubicBezTo>
                <a:lnTo>
                  <a:pt x="250031" y="95250"/>
                </a:lnTo>
                <a:lnTo>
                  <a:pt x="250031" y="59531"/>
                </a:lnTo>
                <a:cubicBezTo>
                  <a:pt x="250031" y="13469"/>
                  <a:pt x="212750" y="-23812"/>
                  <a:pt x="166688" y="-23812"/>
                </a:cubicBezTo>
                <a:cubicBezTo>
                  <a:pt x="120625" y="-23812"/>
                  <a:pt x="83344" y="13469"/>
                  <a:pt x="83344" y="59531"/>
                </a:cubicBezTo>
                <a:lnTo>
                  <a:pt x="83344" y="95250"/>
                </a:lnTo>
                <a:close/>
                <a:moveTo>
                  <a:pt x="101203" y="130969"/>
                </a:moveTo>
                <a:cubicBezTo>
                  <a:pt x="111060" y="130969"/>
                  <a:pt x="119063" y="138971"/>
                  <a:pt x="119063" y="148828"/>
                </a:cubicBezTo>
                <a:cubicBezTo>
                  <a:pt x="119063" y="158685"/>
                  <a:pt x="111060" y="166688"/>
                  <a:pt x="101203" y="166688"/>
                </a:cubicBezTo>
                <a:cubicBezTo>
                  <a:pt x="91346" y="166688"/>
                  <a:pt x="83344" y="158685"/>
                  <a:pt x="83344" y="148828"/>
                </a:cubicBezTo>
                <a:cubicBezTo>
                  <a:pt x="83344" y="138971"/>
                  <a:pt x="91346" y="130969"/>
                  <a:pt x="101203" y="130969"/>
                </a:cubicBezTo>
                <a:close/>
                <a:moveTo>
                  <a:pt x="214313" y="148828"/>
                </a:moveTo>
                <a:cubicBezTo>
                  <a:pt x="214313" y="138971"/>
                  <a:pt x="222315" y="130969"/>
                  <a:pt x="232172" y="130969"/>
                </a:cubicBezTo>
                <a:cubicBezTo>
                  <a:pt x="242029" y="130969"/>
                  <a:pt x="250031" y="138971"/>
                  <a:pt x="250031" y="148828"/>
                </a:cubicBezTo>
                <a:cubicBezTo>
                  <a:pt x="250031" y="158685"/>
                  <a:pt x="242029" y="166688"/>
                  <a:pt x="232172" y="166688"/>
                </a:cubicBezTo>
                <a:cubicBezTo>
                  <a:pt x="222315" y="166688"/>
                  <a:pt x="214313" y="158685"/>
                  <a:pt x="214313" y="148828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99427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7013" y="3314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01724" y="4390"/>
                </a:moveTo>
                <a:cubicBezTo>
                  <a:pt x="104998" y="-5358"/>
                  <a:pt x="114077" y="-11906"/>
                  <a:pt x="124346" y="-11906"/>
                </a:cubicBezTo>
                <a:lnTo>
                  <a:pt x="209104" y="-11906"/>
                </a:lnTo>
                <a:cubicBezTo>
                  <a:pt x="219373" y="-11906"/>
                  <a:pt x="228451" y="-5358"/>
                  <a:pt x="231725" y="4390"/>
                </a:cubicBezTo>
                <a:lnTo>
                  <a:pt x="238125" y="23812"/>
                </a:lnTo>
                <a:lnTo>
                  <a:pt x="309563" y="23812"/>
                </a:lnTo>
                <a:cubicBezTo>
                  <a:pt x="322734" y="23812"/>
                  <a:pt x="333375" y="34454"/>
                  <a:pt x="333375" y="47625"/>
                </a:cubicBezTo>
                <a:cubicBezTo>
                  <a:pt x="333375" y="60796"/>
                  <a:pt x="322734" y="71438"/>
                  <a:pt x="309563" y="71438"/>
                </a:cubicBezTo>
                <a:lnTo>
                  <a:pt x="23812" y="71438"/>
                </a:lnTo>
                <a:cubicBezTo>
                  <a:pt x="10641" y="71438"/>
                  <a:pt x="0" y="60796"/>
                  <a:pt x="0" y="47625"/>
                </a:cubicBezTo>
                <a:cubicBezTo>
                  <a:pt x="0" y="34454"/>
                  <a:pt x="10641" y="23812"/>
                  <a:pt x="23812" y="23812"/>
                </a:cubicBezTo>
                <a:lnTo>
                  <a:pt x="95250" y="23812"/>
                </a:lnTo>
                <a:lnTo>
                  <a:pt x="101724" y="4390"/>
                </a:lnTo>
                <a:close/>
                <a:moveTo>
                  <a:pt x="23812" y="107156"/>
                </a:moveTo>
                <a:lnTo>
                  <a:pt x="309563" y="107156"/>
                </a:lnTo>
                <a:lnTo>
                  <a:pt x="309563" y="333375"/>
                </a:lnTo>
                <a:cubicBezTo>
                  <a:pt x="309563" y="359643"/>
                  <a:pt x="288206" y="381000"/>
                  <a:pt x="261938" y="381000"/>
                </a:cubicBezTo>
                <a:lnTo>
                  <a:pt x="71438" y="381000"/>
                </a:lnTo>
                <a:cubicBezTo>
                  <a:pt x="45169" y="381000"/>
                  <a:pt x="23812" y="359643"/>
                  <a:pt x="23812" y="333375"/>
                </a:cubicBezTo>
                <a:lnTo>
                  <a:pt x="23812" y="107156"/>
                </a:lnTo>
                <a:close/>
                <a:moveTo>
                  <a:pt x="89297" y="154781"/>
                </a:moveTo>
                <a:cubicBezTo>
                  <a:pt x="79400" y="154781"/>
                  <a:pt x="71438" y="162744"/>
                  <a:pt x="71438" y="172641"/>
                </a:cubicBezTo>
                <a:lnTo>
                  <a:pt x="71438" y="315516"/>
                </a:lnTo>
                <a:cubicBezTo>
                  <a:pt x="71438" y="325413"/>
                  <a:pt x="79400" y="333375"/>
                  <a:pt x="89297" y="333375"/>
                </a:cubicBezTo>
                <a:cubicBezTo>
                  <a:pt x="99194" y="333375"/>
                  <a:pt x="107156" y="325413"/>
                  <a:pt x="107156" y="315516"/>
                </a:cubicBezTo>
                <a:lnTo>
                  <a:pt x="107156" y="172641"/>
                </a:lnTo>
                <a:cubicBezTo>
                  <a:pt x="107156" y="162744"/>
                  <a:pt x="99194" y="154781"/>
                  <a:pt x="89297" y="154781"/>
                </a:cubicBezTo>
                <a:close/>
                <a:moveTo>
                  <a:pt x="166688" y="154781"/>
                </a:moveTo>
                <a:cubicBezTo>
                  <a:pt x="156790" y="154781"/>
                  <a:pt x="148828" y="162744"/>
                  <a:pt x="148828" y="172641"/>
                </a:cubicBezTo>
                <a:lnTo>
                  <a:pt x="148828" y="315516"/>
                </a:lnTo>
                <a:cubicBezTo>
                  <a:pt x="148828" y="325413"/>
                  <a:pt x="156790" y="333375"/>
                  <a:pt x="166688" y="333375"/>
                </a:cubicBezTo>
                <a:cubicBezTo>
                  <a:pt x="176585" y="333375"/>
                  <a:pt x="184547" y="325413"/>
                  <a:pt x="184547" y="315516"/>
                </a:cubicBezTo>
                <a:lnTo>
                  <a:pt x="184547" y="172641"/>
                </a:lnTo>
                <a:cubicBezTo>
                  <a:pt x="184547" y="162744"/>
                  <a:pt x="176585" y="154781"/>
                  <a:pt x="166688" y="154781"/>
                </a:cubicBezTo>
                <a:close/>
                <a:moveTo>
                  <a:pt x="244078" y="154781"/>
                </a:moveTo>
                <a:cubicBezTo>
                  <a:pt x="234181" y="154781"/>
                  <a:pt x="226219" y="162744"/>
                  <a:pt x="226219" y="172641"/>
                </a:cubicBezTo>
                <a:lnTo>
                  <a:pt x="226219" y="315516"/>
                </a:lnTo>
                <a:cubicBezTo>
                  <a:pt x="226219" y="325413"/>
                  <a:pt x="234181" y="333375"/>
                  <a:pt x="244078" y="333375"/>
                </a:cubicBezTo>
                <a:cubicBezTo>
                  <a:pt x="253975" y="333375"/>
                  <a:pt x="261938" y="325413"/>
                  <a:pt x="261938" y="315516"/>
                </a:cubicBezTo>
                <a:lnTo>
                  <a:pt x="261938" y="172641"/>
                </a:lnTo>
                <a:cubicBezTo>
                  <a:pt x="261938" y="162744"/>
                  <a:pt x="253975" y="154781"/>
                  <a:pt x="244078" y="154781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28332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废品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265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3905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42250" y="331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57237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危机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4000" y="46609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设计师必须同时回应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生产者、消费者、使用者、自然环境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的四重凝视，构建新的设计伦理。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4130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设计生态链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9718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四品循环模型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30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同一物在不同阶段扮演不同角色，设计要求也随之变化。设计需前置考虑回收再造，以闭环思维平衡各方需求。</a:t>
            </a:r>
            <a:endParaRPr lang="en-US" sz="1600" dirty="0"/>
          </a:p>
        </p:txBody>
      </p:sp>
      <p:pic>
        <p:nvPicPr>
          <p:cNvPr id="5" name="Image 0" descr="https://kimi-web-img.moonshot.cn/img/www.zaafdesign.com/e1c937504a2c209732e42cb2591e1165c291704b.jpeg">    </p:cNvPr>
          <p:cNvPicPr>
            <a:picLocks noChangeAspect="1"/>
          </p:cNvPicPr>
          <p:nvPr/>
        </p:nvPicPr>
        <p:blipFill>
          <a:blip r:embed="rId1"/>
          <a:srcRect l="3237" r="3237" t="0" b="0"/>
          <a:stretch/>
        </p:blipFill>
        <p:spPr>
          <a:xfrm>
            <a:off x="5334000" y="783115"/>
            <a:ext cx="6604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共生美学：多元反馈的新审美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美学演进：从再现到共生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260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人类文明的美学观经历了从模仿自然、到张扬自我、再到多元并存的演进，当代设计美学是多种美学观的重叠、并行与综合。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276600"/>
            <a:ext cx="3759200" cy="1879600"/>
          </a:xfrm>
          <a:custGeom>
            <a:avLst/>
            <a:gdLst/>
            <a:ahLst/>
            <a:cxnLst/>
            <a:rect l="l" t="t" r="r" b="b"/>
            <a:pathLst>
              <a:path w="3759200" h="1879600">
                <a:moveTo>
                  <a:pt x="101592" y="0"/>
                </a:moveTo>
                <a:lnTo>
                  <a:pt x="3657608" y="0"/>
                </a:lnTo>
                <a:cubicBezTo>
                  <a:pt x="3713716" y="0"/>
                  <a:pt x="3759200" y="45484"/>
                  <a:pt x="3759200" y="101592"/>
                </a:cubicBezTo>
                <a:lnTo>
                  <a:pt x="3759200" y="1778008"/>
                </a:lnTo>
                <a:cubicBezTo>
                  <a:pt x="3759200" y="1834116"/>
                  <a:pt x="3713716" y="1879600"/>
                  <a:pt x="36576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34798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古典主义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987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再现美学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44839"/>
            <a:ext cx="335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机械反映论，单向、纵深、一次元的模仿。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16400" y="3530600"/>
            <a:ext cx="3759200" cy="1625600"/>
          </a:xfrm>
          <a:custGeom>
            <a:avLst/>
            <a:gdLst/>
            <a:ahLst/>
            <a:cxnLst/>
            <a:rect l="l" t="t" r="r" b="b"/>
            <a:pathLst>
              <a:path w="3759200" h="16256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1524000"/>
                </a:lnTo>
                <a:cubicBezTo>
                  <a:pt x="3759200" y="1580075"/>
                  <a:pt x="3713675" y="1625600"/>
                  <a:pt x="36576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32400" y="37338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现代主义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0" y="4241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表现美学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8500" y="4698839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逆向、否定、排他性的自我表现。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78800" y="3530600"/>
            <a:ext cx="3759200" cy="1625600"/>
          </a:xfrm>
          <a:custGeom>
            <a:avLst/>
            <a:gdLst/>
            <a:ahLst/>
            <a:cxnLst/>
            <a:rect l="l" t="t" r="r" b="b"/>
            <a:pathLst>
              <a:path w="3759200" h="16256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1524000"/>
                </a:lnTo>
                <a:cubicBezTo>
                  <a:pt x="3759200" y="1580075"/>
                  <a:pt x="3713675" y="1625600"/>
                  <a:pt x="36576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499600" y="3733800"/>
            <a:ext cx="111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6400" y="4241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共生美学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4698839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开放、网络式、多次元的兼容并蓄。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7404" y="2209800"/>
            <a:ext cx="4673600" cy="2438400"/>
          </a:xfrm>
          <a:custGeom>
            <a:avLst/>
            <a:gdLst/>
            <a:ahLst/>
            <a:cxnLst/>
            <a:rect l="l" t="t" r="r" b="b"/>
            <a:pathLst>
              <a:path w="4673600" h="2438400">
                <a:moveTo>
                  <a:pt x="101608" y="0"/>
                </a:moveTo>
                <a:lnTo>
                  <a:pt x="4571992" y="0"/>
                </a:lnTo>
                <a:cubicBezTo>
                  <a:pt x="4628108" y="0"/>
                  <a:pt x="4673600" y="45492"/>
                  <a:pt x="4673600" y="101608"/>
                </a:cubicBezTo>
                <a:lnTo>
                  <a:pt x="4673600" y="2336792"/>
                </a:lnTo>
                <a:cubicBezTo>
                  <a:pt x="4673600" y="2392908"/>
                  <a:pt x="4628108" y="2438400"/>
                  <a:pt x="45719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849404" y="251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868204" y="3327400"/>
            <a:ext cx="457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合目的性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2204" y="3835239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以目标使用者的目的为依据创造美，满足人的需求与理想。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97404" y="3048000"/>
            <a:ext cx="90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0000"/>
              </a:lnSpc>
              <a:buNone/>
            </a:pPr>
            <a:r>
              <a:rPr lang="en-US" sz="6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00838" y="2209800"/>
            <a:ext cx="4673600" cy="2438400"/>
          </a:xfrm>
          <a:custGeom>
            <a:avLst/>
            <a:gdLst/>
            <a:ahLst/>
            <a:cxnLst/>
            <a:rect l="l" t="t" r="r" b="b"/>
            <a:pathLst>
              <a:path w="4673600" h="2438400">
                <a:moveTo>
                  <a:pt x="101608" y="0"/>
                </a:moveTo>
                <a:lnTo>
                  <a:pt x="4571992" y="0"/>
                </a:lnTo>
                <a:cubicBezTo>
                  <a:pt x="4628108" y="0"/>
                  <a:pt x="4673600" y="45492"/>
                  <a:pt x="4673600" y="101608"/>
                </a:cubicBezTo>
                <a:lnTo>
                  <a:pt x="4673600" y="2336792"/>
                </a:lnTo>
                <a:cubicBezTo>
                  <a:pt x="4673600" y="2392908"/>
                  <a:pt x="4628108" y="2438400"/>
                  <a:pt x="45719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56638" y="2514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6751638" y="3327400"/>
            <a:ext cx="457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合规律性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05638" y="3835239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符合技术、制造、材料的客观规律，是美的客观基础。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4000" y="5689600"/>
            <a:ext cx="9144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101603" y="0"/>
                </a:moveTo>
                <a:lnTo>
                  <a:pt x="9042397" y="0"/>
                </a:lnTo>
                <a:cubicBezTo>
                  <a:pt x="9098511" y="0"/>
                  <a:pt x="9144000" y="45489"/>
                  <a:pt x="9144000" y="101603"/>
                </a:cubicBezTo>
                <a:lnTo>
                  <a:pt x="9144000" y="558797"/>
                </a:lnTo>
                <a:cubicBezTo>
                  <a:pt x="9144000" y="614911"/>
                  <a:pt x="9098511" y="660400"/>
                  <a:pt x="90423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5842000"/>
            <a:ext cx="934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设计美的本质：主客观的统一，真与善的统一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79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多元反馈：开放系统的审美机制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400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共生美学鼓励观者、用者参与再创造，形成多向比较、补充、竞争的连锁反应，激发更丰富的新信息产生。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454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3543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35052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开放参与: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还给民众参与艺术和设计的权利。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01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Shape 6"/>
          <p:cNvSpPr/>
          <p:nvPr/>
        </p:nvSpPr>
        <p:spPr>
          <a:xfrm>
            <a:off x="331788" y="410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4064000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交流感应: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启发联想，达到相互交流、补充、再创造。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457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360363" y="4660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12800" y="4622800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连锁反应: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如原子核裂变，释放无与伦比的创造能量。</a:t>
            </a:r>
            <a:endParaRPr lang="en-US" sz="1600" dirty="0"/>
          </a:p>
        </p:txBody>
      </p:sp>
      <p:pic>
        <p:nvPicPr>
          <p:cNvPr id="13" name="Image 0" descr="https://kimi-web-img.moonshot.cn/img/img-blog.csdnimg.cn/c12a3c52c7b8d040453d0c307d971aa39a54d738.png">    </p:cNvPr>
          <p:cNvPicPr>
            <a:picLocks noChangeAspect="1"/>
          </p:cNvPicPr>
          <p:nvPr/>
        </p:nvPicPr>
        <p:blipFill>
          <a:blip r:embed="rId1"/>
          <a:srcRect l="29118" r="29118" t="0" b="0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有限理性与适应性：设计原则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95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有限理性原则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06600"/>
            <a:ext cx="1219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“满意即好” (Satisficing)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616039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设计的目的并非寻找虚幻的“最优解”，而是在复杂的内外部因素限制下，获得一个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“满意解”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。美是相对的，只存在于具体人的具体实践中。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93800" y="3759039"/>
            <a:ext cx="977900" cy="977900"/>
          </a:xfrm>
          <a:custGeom>
            <a:avLst/>
            <a:gdLst/>
            <a:ahLst/>
            <a:cxnLst/>
            <a:rect l="l" t="t" r="r" b="b"/>
            <a:pathLst>
              <a:path w="977900" h="977900">
                <a:moveTo>
                  <a:pt x="488950" y="0"/>
                </a:moveTo>
                <a:lnTo>
                  <a:pt x="488950" y="0"/>
                </a:lnTo>
                <a:cubicBezTo>
                  <a:pt x="758809" y="0"/>
                  <a:pt x="977900" y="219091"/>
                  <a:pt x="977900" y="488950"/>
                </a:cubicBezTo>
                <a:lnTo>
                  <a:pt x="977900" y="488950"/>
                </a:lnTo>
                <a:cubicBezTo>
                  <a:pt x="977900" y="758809"/>
                  <a:pt x="758809" y="977900"/>
                  <a:pt x="488950" y="977900"/>
                </a:cubicBezTo>
                <a:lnTo>
                  <a:pt x="488950" y="977900"/>
                </a:lnTo>
                <a:cubicBezTo>
                  <a:pt x="219091" y="977900"/>
                  <a:pt x="0" y="758809"/>
                  <a:pt x="0" y="488950"/>
                </a:cubicBezTo>
                <a:lnTo>
                  <a:pt x="0" y="488950"/>
                </a:lnTo>
                <a:cubicBezTo>
                  <a:pt x="0" y="219091"/>
                  <a:pt x="219091" y="0"/>
                  <a:pt x="4889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0350" y="403843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49203" y="65544"/>
                </a:moveTo>
                <a:cubicBezTo>
                  <a:pt x="38040" y="54382"/>
                  <a:pt x="19913" y="54382"/>
                  <a:pt x="8751" y="65544"/>
                </a:cubicBezTo>
                <a:cubicBezTo>
                  <a:pt x="-2411" y="76706"/>
                  <a:pt x="-2411" y="94833"/>
                  <a:pt x="8751" y="105995"/>
                </a:cubicBezTo>
                <a:lnTo>
                  <a:pt x="131445" y="228600"/>
                </a:lnTo>
                <a:lnTo>
                  <a:pt x="8840" y="351294"/>
                </a:lnTo>
                <a:cubicBezTo>
                  <a:pt x="-2322" y="362456"/>
                  <a:pt x="-2322" y="380583"/>
                  <a:pt x="8840" y="391745"/>
                </a:cubicBezTo>
                <a:cubicBezTo>
                  <a:pt x="20003" y="402908"/>
                  <a:pt x="38130" y="402908"/>
                  <a:pt x="49292" y="391745"/>
                </a:cubicBezTo>
                <a:lnTo>
                  <a:pt x="171896" y="269051"/>
                </a:lnTo>
                <a:lnTo>
                  <a:pt x="294590" y="391656"/>
                </a:lnTo>
                <a:cubicBezTo>
                  <a:pt x="305753" y="402818"/>
                  <a:pt x="323880" y="402818"/>
                  <a:pt x="335042" y="391656"/>
                </a:cubicBezTo>
                <a:cubicBezTo>
                  <a:pt x="346204" y="380494"/>
                  <a:pt x="346204" y="362367"/>
                  <a:pt x="335042" y="351205"/>
                </a:cubicBezTo>
                <a:lnTo>
                  <a:pt x="212348" y="228600"/>
                </a:lnTo>
                <a:lnTo>
                  <a:pt x="334953" y="105906"/>
                </a:lnTo>
                <a:cubicBezTo>
                  <a:pt x="346115" y="94744"/>
                  <a:pt x="346115" y="76617"/>
                  <a:pt x="334953" y="65455"/>
                </a:cubicBezTo>
                <a:cubicBezTo>
                  <a:pt x="323790" y="54293"/>
                  <a:pt x="305663" y="54293"/>
                  <a:pt x="294501" y="65455"/>
                </a:cubicBezTo>
                <a:lnTo>
                  <a:pt x="171896" y="188149"/>
                </a:lnTo>
                <a:lnTo>
                  <a:pt x="49203" y="65544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939800" y="4876639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最优解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" y="5181439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不现实的神话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4292439"/>
            <a:ext cx="111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3632039"/>
            <a:ext cx="1155700" cy="1155700"/>
          </a:xfrm>
          <a:custGeom>
            <a:avLst/>
            <a:gdLst/>
            <a:ahLst/>
            <a:cxnLst/>
            <a:rect l="l" t="t" r="r" b="b"/>
            <a:pathLst>
              <a:path w="1155700" h="1155700">
                <a:moveTo>
                  <a:pt x="577850" y="0"/>
                </a:moveTo>
                <a:lnTo>
                  <a:pt x="577850" y="0"/>
                </a:lnTo>
                <a:cubicBezTo>
                  <a:pt x="896774" y="0"/>
                  <a:pt x="1155700" y="258926"/>
                  <a:pt x="1155700" y="577850"/>
                </a:cubicBezTo>
                <a:lnTo>
                  <a:pt x="1155700" y="577850"/>
                </a:lnTo>
                <a:cubicBezTo>
                  <a:pt x="1155700" y="896774"/>
                  <a:pt x="896774" y="1155700"/>
                  <a:pt x="577850" y="1155700"/>
                </a:cubicBezTo>
                <a:lnTo>
                  <a:pt x="577850" y="1155700"/>
                </a:lnTo>
                <a:cubicBezTo>
                  <a:pt x="258926" y="1155700"/>
                  <a:pt x="0" y="896774"/>
                  <a:pt x="0" y="577850"/>
                </a:cubicBezTo>
                <a:lnTo>
                  <a:pt x="0" y="577850"/>
                </a:lnTo>
                <a:cubicBezTo>
                  <a:pt x="0" y="258926"/>
                  <a:pt x="258926" y="0"/>
                  <a:pt x="577850" y="0"/>
                </a:cubicBezTo>
                <a:close/>
              </a:path>
            </a:pathLst>
          </a:custGeom>
          <a:solidFill>
            <a:srgbClr val="FFFFFF"/>
          </a:solidFill>
          <a:ln w="30480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2300" y="3936839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17684" y="83463"/>
                </a:moveTo>
                <a:cubicBezTo>
                  <a:pt x="534710" y="95845"/>
                  <a:pt x="538520" y="119658"/>
                  <a:pt x="526137" y="136684"/>
                </a:cubicBezTo>
                <a:lnTo>
                  <a:pt x="221337" y="555784"/>
                </a:lnTo>
                <a:cubicBezTo>
                  <a:pt x="214789" y="564833"/>
                  <a:pt x="204668" y="570428"/>
                  <a:pt x="193477" y="571381"/>
                </a:cubicBezTo>
                <a:cubicBezTo>
                  <a:pt x="182285" y="572333"/>
                  <a:pt x="171450" y="568166"/>
                  <a:pt x="163592" y="560308"/>
                </a:cubicBezTo>
                <a:lnTo>
                  <a:pt x="11192" y="407908"/>
                </a:lnTo>
                <a:cubicBezTo>
                  <a:pt x="-3691" y="393025"/>
                  <a:pt x="-3691" y="368856"/>
                  <a:pt x="11192" y="353973"/>
                </a:cubicBezTo>
                <a:cubicBezTo>
                  <a:pt x="26075" y="339090"/>
                  <a:pt x="50244" y="339090"/>
                  <a:pt x="65127" y="353973"/>
                </a:cubicBezTo>
                <a:lnTo>
                  <a:pt x="185976" y="474821"/>
                </a:lnTo>
                <a:lnTo>
                  <a:pt x="464582" y="91797"/>
                </a:lnTo>
                <a:cubicBezTo>
                  <a:pt x="476964" y="74771"/>
                  <a:pt x="500777" y="70961"/>
                  <a:pt x="517803" y="83344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4952839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满意解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5400" y="5308439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现实的追求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img.com/030334309be16fe83bdb35a16296bae385f7f0f0.png">    </p:cNvPr>
          <p:cNvPicPr>
            <a:picLocks noChangeAspect="1"/>
          </p:cNvPicPr>
          <p:nvPr/>
        </p:nvPicPr>
        <p:blipFill>
          <a:blip r:embed="rId1"/>
          <a:srcRect l="17900" r="17900" t="0" b="0"/>
          <a:stretch/>
        </p:blipFill>
        <p:spPr>
          <a:xfrm>
            <a:off x="254000" y="254000"/>
            <a:ext cx="5435600" cy="63500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适应性原则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1590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内外环境的动态匹配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27178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设计创造的人为世界是一个“适应性系统”，需通过调整内部元素关系，来适配变化的外部环境与多元目的，实现主观与客观的统一。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39370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41402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以汽车为例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45466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其作为交通工具的目的，只有在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平坦路面（外因）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正常运转（内因）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都协调时才能实现。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54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设计即搜索：满意驱动的创造过程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3200" y="2413000"/>
            <a:ext cx="924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设计过程是不断生成备选方案，并以“满意原则”进行选择和调整的搜索链。搜索本身即是创造。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892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16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23368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020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24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28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308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32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9784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归纳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16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2100" y="3378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2992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44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48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232" y="7263"/>
                </a:moveTo>
                <a:lnTo>
                  <a:pt x="184725" y="59769"/>
                </a:lnTo>
                <a:lnTo>
                  <a:pt x="245031" y="120075"/>
                </a:lnTo>
                <a:lnTo>
                  <a:pt x="297537" y="67568"/>
                </a:lnTo>
                <a:cubicBezTo>
                  <a:pt x="302181" y="62865"/>
                  <a:pt x="304800" y="56555"/>
                  <a:pt x="304800" y="50006"/>
                </a:cubicBezTo>
                <a:cubicBezTo>
                  <a:pt x="304800" y="43458"/>
                  <a:pt x="302181" y="37148"/>
                  <a:pt x="297537" y="32445"/>
                </a:cubicBezTo>
                <a:lnTo>
                  <a:pt x="272355" y="7263"/>
                </a:lnTo>
                <a:cubicBezTo>
                  <a:pt x="267653" y="2619"/>
                  <a:pt x="261342" y="0"/>
                  <a:pt x="254794" y="0"/>
                </a:cubicBezTo>
                <a:cubicBezTo>
                  <a:pt x="248245" y="0"/>
                  <a:pt x="241935" y="2619"/>
                  <a:pt x="237232" y="7263"/>
                </a:cubicBezTo>
                <a:close/>
                <a:moveTo>
                  <a:pt x="164544" y="79950"/>
                </a:moveTo>
                <a:lnTo>
                  <a:pt x="7263" y="237232"/>
                </a:lnTo>
                <a:cubicBezTo>
                  <a:pt x="2619" y="241935"/>
                  <a:pt x="0" y="248245"/>
                  <a:pt x="0" y="254794"/>
                </a:cubicBezTo>
                <a:cubicBezTo>
                  <a:pt x="0" y="261342"/>
                  <a:pt x="2619" y="267653"/>
                  <a:pt x="7263" y="272355"/>
                </a:cubicBezTo>
                <a:lnTo>
                  <a:pt x="32445" y="297537"/>
                </a:lnTo>
                <a:cubicBezTo>
                  <a:pt x="37148" y="302181"/>
                  <a:pt x="43458" y="304800"/>
                  <a:pt x="50006" y="304800"/>
                </a:cubicBezTo>
                <a:cubicBezTo>
                  <a:pt x="56555" y="304800"/>
                  <a:pt x="62865" y="302181"/>
                  <a:pt x="67568" y="297537"/>
                </a:cubicBezTo>
                <a:lnTo>
                  <a:pt x="224850" y="140256"/>
                </a:lnTo>
                <a:lnTo>
                  <a:pt x="164544" y="7995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52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932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7500" y="3378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9408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4000" y="46990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整个过程需结合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文化性、社会性、技术性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进行综合创造，缺乏主动创造将导致机械适应，无法获得满意解。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rotWithShape="1" flip="none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设计思维六步法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>    </p:cNvPr>
          <p:cNvPicPr>
            <a:picLocks noChangeAspect="1"/>
          </p:cNvPicPr>
          <p:nvPr/>
        </p:nvPicPr>
        <p:blipFill>
          <a:blip r:embed="rId2"/>
          <a:srcRect l="20534" r="0" t="0" b="0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51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观察：发现问题的入口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311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观察是设计思维的第一步，是发现问题、收集信息为目的的过程。内行才能看出门道，需要正确的方法和知识经验。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2258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目的明确: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从现象到本质，形而上地抽象。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3683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忠实对象: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感官体验+思考反馈，用各种视角。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4000" y="41402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扩延比较: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搜寻同类目之“物”进行比较，形而下。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" y="4597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由表及里: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从整体到局部再回到整体，把握细节与目的一致。</a:t>
            </a:r>
            <a:endParaRPr lang="en-US" sz="1600" dirty="0"/>
          </a:p>
        </p:txBody>
      </p:sp>
      <p:pic>
        <p:nvPicPr>
          <p:cNvPr id="8" name="Image 0" descr="https://kimi-web-img.moonshot.cn/img/img.alicdn.com/72baf8ed70ed8dc55654896aeb41921f443db7e2.jpg">    </p:cNvPr>
          <p:cNvPicPr>
            <a:picLocks noChangeAspect="1"/>
          </p:cNvPicPr>
          <p:nvPr/>
        </p:nvPicPr>
        <p:blipFill>
          <a:blip r:embed="rId1"/>
          <a:srcRect l="5600" r="5600" t="0" b="0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-blog.csdnimg.cn/759d1ecc7ecb53a07569f11bd97998c555be80f9.png">    </p:cNvPr>
          <p:cNvPicPr>
            <a:picLocks noChangeAspect="1"/>
          </p:cNvPicPr>
          <p:nvPr/>
        </p:nvPicPr>
        <p:blipFill>
          <a:blip r:embed="rId1"/>
          <a:srcRect l="25245" r="25245" t="0" b="0"/>
          <a:stretch/>
        </p:blipFill>
        <p:spPr>
          <a:xfrm>
            <a:off x="254000" y="254000"/>
            <a:ext cx="5638800" cy="6350000"/>
          </a:xfrm>
          <a:prstGeom prst="roundRect">
            <a:avLst>
              <a:gd name="adj" fmla="val 180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52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分析与归纳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0828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从拆解到定位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02400" y="2641600"/>
            <a:ext cx="5435600" cy="1117600"/>
          </a:xfrm>
          <a:custGeom>
            <a:avLst/>
            <a:gdLst/>
            <a:ahLst/>
            <a:cxnLst/>
            <a:rect l="l" t="t" r="r" b="b"/>
            <a:pathLst>
              <a:path w="5435600" h="1117600">
                <a:moveTo>
                  <a:pt x="101601" y="0"/>
                </a:moveTo>
                <a:lnTo>
                  <a:pt x="5333999" y="0"/>
                </a:lnTo>
                <a:cubicBezTo>
                  <a:pt x="5390112" y="0"/>
                  <a:pt x="5435600" y="45488"/>
                  <a:pt x="5435600" y="101601"/>
                </a:cubicBezTo>
                <a:lnTo>
                  <a:pt x="5435600" y="1015999"/>
                </a:lnTo>
                <a:cubicBezTo>
                  <a:pt x="5435600" y="1072112"/>
                  <a:pt x="5390112" y="1117600"/>
                  <a:pt x="5333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05600" y="28448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 (Analysis)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05600" y="3302000"/>
            <a:ext cx="553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析出“物”的内因与外因的逻辑关系，透析共性基础上的个性。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02400" y="39624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705600" y="41656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归纳 (Induction)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46228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将目的与限制归纳成“目标系统”，形成“实事求是”的“设计定位”。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397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联想与创造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9558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在限制下扩散方案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5146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178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联想 (Association)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750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在“关系”限制下，举一反三，搜寻并研究“其他物”，形成创意。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0894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26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 (Creation)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7498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用“目标系统”评价“创意”，组织“内因”以支撑、完善方案。</a:t>
            </a:r>
            <a:endParaRPr lang="en-US" sz="1600" dirty="0"/>
          </a:p>
        </p:txBody>
      </p:sp>
      <p:pic>
        <p:nvPicPr>
          <p:cNvPr id="10" name="Image 0" descr="https://kimi-web-img.moonshot.cn/img/gozerbot.org/ba4236c7c530e87a71ce0fd52e6fc316b54d736c.jpg">    </p:cNvPr>
          <p:cNvPicPr>
            <a:picLocks noChangeAspect="1"/>
          </p:cNvPicPr>
          <p:nvPr/>
        </p:nvPicPr>
        <p:blipFill>
          <a:blip r:embed="rId1"/>
          <a:srcRect l="23471" r="23471" t="0" b="0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70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评价：系统视角下的持续验证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9812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评价贯穿设计思维全过程，以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适应性 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为准绳，检验方案是否满足特定时空人群需求，并可制造、流通、使用、回收。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997200"/>
            <a:ext cx="8534400" cy="1320800"/>
          </a:xfrm>
          <a:custGeom>
            <a:avLst/>
            <a:gdLst/>
            <a:ahLst/>
            <a:cxnLst/>
            <a:rect l="l" t="t" r="r" b="b"/>
            <a:pathLst>
              <a:path w="8534400" h="1320800">
                <a:moveTo>
                  <a:pt x="101596" y="0"/>
                </a:moveTo>
                <a:lnTo>
                  <a:pt x="8432804" y="0"/>
                </a:lnTo>
                <a:cubicBezTo>
                  <a:pt x="8488914" y="0"/>
                  <a:pt x="8534400" y="45486"/>
                  <a:pt x="8534400" y="101596"/>
                </a:cubicBezTo>
                <a:lnTo>
                  <a:pt x="8534400" y="1219204"/>
                </a:lnTo>
                <a:cubicBezTo>
                  <a:pt x="8534400" y="1275314"/>
                  <a:pt x="8488914" y="1320800"/>
                  <a:pt x="84328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" y="3302000"/>
            <a:ext cx="843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“事理学”思维方法的统一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" y="3759200"/>
            <a:ext cx="843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基于设计“本体论”、“认识论”与“方法论”的统一，相互依存，“实事求是”。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6291" y="462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Shape 6"/>
          <p:cNvSpPr/>
          <p:nvPr/>
        </p:nvSpPr>
        <p:spPr>
          <a:xfrm>
            <a:off x="4768691" y="477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529" y="-1488"/>
                </a:moveTo>
                <a:cubicBezTo>
                  <a:pt x="145316" y="-8275"/>
                  <a:pt x="159841" y="-8275"/>
                  <a:pt x="171629" y="-1488"/>
                </a:cubicBezTo>
                <a:lnTo>
                  <a:pt x="276344" y="58936"/>
                </a:lnTo>
                <a:cubicBezTo>
                  <a:pt x="288131" y="65723"/>
                  <a:pt x="295394" y="78343"/>
                  <a:pt x="295394" y="91916"/>
                </a:cubicBezTo>
                <a:lnTo>
                  <a:pt x="295394" y="212765"/>
                </a:lnTo>
                <a:cubicBezTo>
                  <a:pt x="295394" y="226397"/>
                  <a:pt x="288131" y="238958"/>
                  <a:pt x="276344" y="245745"/>
                </a:cubicBezTo>
                <a:lnTo>
                  <a:pt x="171629" y="306288"/>
                </a:lnTo>
                <a:cubicBezTo>
                  <a:pt x="159841" y="313075"/>
                  <a:pt x="145316" y="313075"/>
                  <a:pt x="133529" y="306288"/>
                </a:cubicBezTo>
                <a:lnTo>
                  <a:pt x="28873" y="245864"/>
                </a:lnTo>
                <a:cubicBezTo>
                  <a:pt x="17085" y="239078"/>
                  <a:pt x="9823" y="226457"/>
                  <a:pt x="9823" y="212884"/>
                </a:cubicBezTo>
                <a:lnTo>
                  <a:pt x="9823" y="92035"/>
                </a:lnTo>
                <a:cubicBezTo>
                  <a:pt x="9823" y="78403"/>
                  <a:pt x="17085" y="65842"/>
                  <a:pt x="28873" y="59055"/>
                </a:cubicBezTo>
                <a:lnTo>
                  <a:pt x="133529" y="-1488"/>
                </a:lnTo>
                <a:close/>
                <a:moveTo>
                  <a:pt x="257235" y="212824"/>
                </a:moveTo>
                <a:lnTo>
                  <a:pt x="257235" y="113943"/>
                </a:lnTo>
                <a:lnTo>
                  <a:pt x="171629" y="163354"/>
                </a:lnTo>
                <a:lnTo>
                  <a:pt x="171629" y="262235"/>
                </a:lnTo>
                <a:lnTo>
                  <a:pt x="257235" y="21282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362291" y="528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本体论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75091" y="4902200"/>
            <a:ext cx="67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0" y="462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4550" y="4775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537200" y="528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认识论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000" y="4902200"/>
            <a:ext cx="67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66109" y="462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0409" y="4775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12109" y="528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方法论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9-d2t62qu1bb2p4onbqqk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685" y="0"/>
            <a:ext cx="1227518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3195320"/>
            <a:ext cx="533082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</a:t>
            </a:r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观看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8-d2t62qm1bb2p4onbqq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5" y="304800"/>
            <a:ext cx="5005070" cy="2639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24265" y="5219065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：Kimi AI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724265" y="5678170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：2025/08/05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设计认识论：目标系统与思维方法</dc:title>
  <dc:subject>设计认识论：目标系统与思维方法</dc:subject>
  <dc:creator>Kimi</dc:creator>
  <cp:lastModifiedBy>Kimi</cp:lastModifiedBy>
  <cp:revision>1</cp:revision>
  <dcterms:created xsi:type="dcterms:W3CDTF">2025-09-18T15:24:00Z</dcterms:created>
  <dcterms:modified xsi:type="dcterms:W3CDTF">2025-09-18T15:24:00Z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{"Label":"设计认识论：目标系统与思维方法","ContentProducer":"001191110108MACG2KBH8F10000","ProduceID":"d361fuumcu0pubk647fg","ReservedCode1":"","ContentPropagator":"001191110108MACG2KBH8F20000","PropagateID":"d361fuumcu0pubk647fg","ReservedCode2":""}</vt:lpwstr>
  </property>
</Properties>
</file>