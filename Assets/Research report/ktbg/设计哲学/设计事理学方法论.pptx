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862e8f41e18889540f3bb2b90df642f599d63dc1" ContentType="image/862e8f41e18889540f3bb2b90df642f599d63dc1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embeddedFontLst>
    <p:embeddedFont>
      <p:font typeface="Mi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862e8f41e18889540f3bb2b90df642f599d63dc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设计事理学方法论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事的结构：时间空间行为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事物情理：关系场与合情合理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从造物到造事：体验经济转向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设计事理学：方法论框架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生活方式形态模型：需求洞察工具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事理学价值：知识经济与可持续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事的结构：时间空间行为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0" y="2362200"/>
            <a:ext cx="1178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0400" y="3073400"/>
            <a:ext cx="1178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过去与未来的统一体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0400" y="3835400"/>
            <a:ext cx="731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时间并非孤立节点，而是包含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记忆与期望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的统一体。过去通过经验投射于未来，深刻影响当下行为。设计需理解用户时间流中的习惯迁移，才能避免功能错位。 </a:t>
            </a:r>
            <a:endParaRPr lang="en-US" sz="1600" dirty="0"/>
          </a:p>
        </p:txBody>
      </p:sp>
      <p:pic>
        <p:nvPicPr>
          <p:cNvPr id="5" name="Image 0" descr="https://kimi-web-img.moonshot.cn/img/thumbs.dreamstime.com/c00573521397da0120fd868388e2d915fcf4310e.jpg">    </p:cNvPr>
          <p:cNvPicPr>
            <a:picLocks noChangeAspect="1"/>
          </p:cNvPicPr>
          <p:nvPr/>
        </p:nvPicPr>
        <p:blipFill>
          <a:blip r:embed="rId1"/>
          <a:srcRect l="23889" r="23889" t="0" b="0"/>
          <a:stretch/>
        </p:blipFill>
        <p:spPr>
          <a:xfrm>
            <a:off x="7315200" y="0"/>
            <a:ext cx="4876800" cy="6858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物理与心理的双重塑造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1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空间不仅是物理场所，更是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心理与社会场域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。功能、形式与意义共同定义空间，并先验地规范人的行为角色。设计必须让物与空间磁场同频。 </a:t>
            </a:r>
            <a:endParaRPr lang="en-US" sz="1600" dirty="0"/>
          </a:p>
        </p:txBody>
      </p:sp>
      <p:pic>
        <p:nvPicPr>
          <p:cNvPr id="5" name="Image 0" descr="https://kimi-web-img.moonshot.cn/img/gcdn.daz3d.com/ce52239687ad378f06653acac25cb5b3ad989156.jpg">    </p:cNvPr>
          <p:cNvPicPr>
            <a:picLocks noChangeAspect="1"/>
          </p:cNvPicPr>
          <p:nvPr/>
        </p:nvPicPr>
        <p:blipFill>
          <a:blip r:embed="rId1"/>
          <a:srcRect l="24180" r="24180" t="0" b="0"/>
          <a:stretch/>
        </p:blipFill>
        <p:spPr>
          <a:xfrm>
            <a:off x="60960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197600" y="2997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</a:t>
            </a:r>
            <a:endParaRPr lang="en-US" sz="1600" dirty="0"/>
          </a:p>
        </p:txBody>
      </p:sp>
      <p:pic>
        <p:nvPicPr>
          <p:cNvPr id="7" name="Image 1" descr="https://kimi-web-img.moonshot.cn/img/theprisondirect.com/2b6e58258c7ec64998a1aba567ce5378d195aa82.jpg">    </p:cNvPr>
          <p:cNvPicPr>
            <a:picLocks noChangeAspect="1"/>
          </p:cNvPicPr>
          <p:nvPr/>
        </p:nvPicPr>
        <p:blipFill>
          <a:blip r:embed="rId2"/>
          <a:srcRect l="19518" r="19518" t="0" b="0"/>
          <a:stretch/>
        </p:blipFill>
        <p:spPr>
          <a:xfrm>
            <a:off x="90932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8" name="Text 4"/>
          <p:cNvSpPr/>
          <p:nvPr/>
        </p:nvSpPr>
        <p:spPr>
          <a:xfrm>
            <a:off x="9194800" y="2997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监狱</a:t>
            </a:r>
            <a:endParaRPr lang="en-US" sz="1600" dirty="0"/>
          </a:p>
        </p:txBody>
      </p:sp>
      <p:pic>
        <p:nvPicPr>
          <p:cNvPr id="9" name="Image 2" descr="https://kimi-web-img.moonshot.cn/img/c8.alamy.com/08f215020a2d947dffb0c746364ba4f49ee4bf88.jpg">    </p:cNvPr>
          <p:cNvPicPr>
            <a:picLocks noChangeAspect="1"/>
          </p:cNvPicPr>
          <p:nvPr/>
        </p:nvPicPr>
        <p:blipFill>
          <a:blip r:embed="rId3"/>
          <a:srcRect l="0" r="0" t="33476" b="33476"/>
          <a:stretch/>
        </p:blipFill>
        <p:spPr>
          <a:xfrm>
            <a:off x="6096000" y="3505200"/>
            <a:ext cx="5842000" cy="3098800"/>
          </a:xfrm>
          <a:prstGeom prst="roundRect">
            <a:avLst>
              <a:gd name="adj" fmla="val 3279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197600" y="624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电梯朝向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256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人与物：综合人的整体需求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368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人包含生理、认知、社会、文化多重维度。仅满足人体尺寸不等于以人为本，还需提供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“精神把手”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——象征、情感、文化脉络。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2516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032091" y="3733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93" y="394424"/>
                </a:moveTo>
                <a:cubicBezTo>
                  <a:pt x="4911" y="413891"/>
                  <a:pt x="22146" y="428625"/>
                  <a:pt x="42863" y="428625"/>
                </a:cubicBezTo>
                <a:lnTo>
                  <a:pt x="357188" y="428625"/>
                </a:lnTo>
                <a:cubicBezTo>
                  <a:pt x="380851" y="428625"/>
                  <a:pt x="400050" y="409426"/>
                  <a:pt x="400050" y="385763"/>
                </a:cubicBezTo>
                <a:lnTo>
                  <a:pt x="400050" y="300038"/>
                </a:lnTo>
                <a:cubicBezTo>
                  <a:pt x="400050" y="276374"/>
                  <a:pt x="380851" y="257175"/>
                  <a:pt x="357188" y="257175"/>
                </a:cubicBezTo>
                <a:lnTo>
                  <a:pt x="314325" y="257175"/>
                </a:lnTo>
                <a:lnTo>
                  <a:pt x="314325" y="321469"/>
                </a:lnTo>
                <a:cubicBezTo>
                  <a:pt x="314325" y="333345"/>
                  <a:pt x="304770" y="342900"/>
                  <a:pt x="292894" y="342900"/>
                </a:cubicBezTo>
                <a:cubicBezTo>
                  <a:pt x="281017" y="342900"/>
                  <a:pt x="271463" y="333345"/>
                  <a:pt x="271463" y="321469"/>
                </a:cubicBezTo>
                <a:lnTo>
                  <a:pt x="271463" y="257175"/>
                </a:lnTo>
                <a:lnTo>
                  <a:pt x="214313" y="257175"/>
                </a:lnTo>
                <a:lnTo>
                  <a:pt x="214313" y="321469"/>
                </a:lnTo>
                <a:cubicBezTo>
                  <a:pt x="214313" y="333345"/>
                  <a:pt x="204758" y="342900"/>
                  <a:pt x="192881" y="342900"/>
                </a:cubicBezTo>
                <a:cubicBezTo>
                  <a:pt x="181005" y="342900"/>
                  <a:pt x="171450" y="333345"/>
                  <a:pt x="171450" y="321469"/>
                </a:cubicBezTo>
                <a:lnTo>
                  <a:pt x="171450" y="257175"/>
                </a:lnTo>
                <a:lnTo>
                  <a:pt x="107156" y="257175"/>
                </a:lnTo>
                <a:cubicBezTo>
                  <a:pt x="95280" y="257175"/>
                  <a:pt x="85725" y="247620"/>
                  <a:pt x="85725" y="235744"/>
                </a:cubicBezTo>
                <a:cubicBezTo>
                  <a:pt x="85725" y="223867"/>
                  <a:pt x="95280" y="214313"/>
                  <a:pt x="107156" y="214313"/>
                </a:cubicBezTo>
                <a:lnTo>
                  <a:pt x="171450" y="214313"/>
                </a:lnTo>
                <a:lnTo>
                  <a:pt x="171450" y="157163"/>
                </a:lnTo>
                <a:lnTo>
                  <a:pt x="107156" y="157163"/>
                </a:lnTo>
                <a:cubicBezTo>
                  <a:pt x="95280" y="157163"/>
                  <a:pt x="85725" y="147608"/>
                  <a:pt x="85725" y="135731"/>
                </a:cubicBezTo>
                <a:cubicBezTo>
                  <a:pt x="85725" y="123855"/>
                  <a:pt x="95280" y="114300"/>
                  <a:pt x="107156" y="114300"/>
                </a:cubicBezTo>
                <a:lnTo>
                  <a:pt x="171450" y="114300"/>
                </a:lnTo>
                <a:lnTo>
                  <a:pt x="171450" y="71438"/>
                </a:lnTo>
                <a:cubicBezTo>
                  <a:pt x="171450" y="47774"/>
                  <a:pt x="152251" y="28575"/>
                  <a:pt x="128588" y="28575"/>
                </a:cubicBezTo>
                <a:lnTo>
                  <a:pt x="42863" y="28575"/>
                </a:lnTo>
                <a:cubicBezTo>
                  <a:pt x="19199" y="28575"/>
                  <a:pt x="0" y="47774"/>
                  <a:pt x="0" y="71438"/>
                </a:cubicBezTo>
                <a:lnTo>
                  <a:pt x="0" y="385763"/>
                </a:lnTo>
                <a:cubicBezTo>
                  <a:pt x="0" y="388709"/>
                  <a:pt x="268" y="391656"/>
                  <a:pt x="893" y="394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774916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33616" y="4978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人体工程学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4916" y="4038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5867400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38800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497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信息加工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8800" y="4038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50284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74134" y="3733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02684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0284" y="497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文化脉络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3068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行为与信息：S-O-R与符号加工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8168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3649980" y="3086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02768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 (刺激)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2768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天色渐暗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4080" y="33528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64480" y="2545080"/>
            <a:ext cx="1422400" cy="2082800"/>
          </a:xfrm>
          <a:custGeom>
            <a:avLst/>
            <a:gdLst/>
            <a:ahLst/>
            <a:cxnLst/>
            <a:rect l="l" t="t" r="r" b="b"/>
            <a:pathLst>
              <a:path w="1422400" h="20828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1981198"/>
                </a:lnTo>
                <a:cubicBezTo>
                  <a:pt x="1422400" y="2037311"/>
                  <a:pt x="1376911" y="2082800"/>
                  <a:pt x="1320798" y="2082800"/>
                </a:cubicBezTo>
                <a:lnTo>
                  <a:pt x="101602" y="2082800"/>
                </a:lnTo>
                <a:cubicBezTo>
                  <a:pt x="45489" y="2082800"/>
                  <a:pt x="0" y="2037311"/>
                  <a:pt x="0" y="1981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58800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5861050" y="3086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 (有机体)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内部操作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3920" y="33528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9432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808" y="3086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29766"/>
                </a:moveTo>
                <a:cubicBezTo>
                  <a:pt x="95250" y="13320"/>
                  <a:pt x="108570" y="0"/>
                  <a:pt x="125016" y="0"/>
                </a:cubicBezTo>
                <a:cubicBezTo>
                  <a:pt x="141461" y="0"/>
                  <a:pt x="154781" y="13320"/>
                  <a:pt x="154781" y="29766"/>
                </a:cubicBezTo>
                <a:lnTo>
                  <a:pt x="154781" y="140047"/>
                </a:lnTo>
                <a:cubicBezTo>
                  <a:pt x="161106" y="134392"/>
                  <a:pt x="169441" y="130969"/>
                  <a:pt x="178594" y="130969"/>
                </a:cubicBezTo>
                <a:cubicBezTo>
                  <a:pt x="193923" y="130969"/>
                  <a:pt x="207020" y="140643"/>
                  <a:pt x="212080" y="154186"/>
                </a:cubicBezTo>
                <a:cubicBezTo>
                  <a:pt x="218629" y="147265"/>
                  <a:pt x="227856" y="142875"/>
                  <a:pt x="238125" y="142875"/>
                </a:cubicBezTo>
                <a:cubicBezTo>
                  <a:pt x="256952" y="142875"/>
                  <a:pt x="272355" y="157386"/>
                  <a:pt x="273769" y="175840"/>
                </a:cubicBezTo>
                <a:cubicBezTo>
                  <a:pt x="280095" y="170111"/>
                  <a:pt x="288503" y="166688"/>
                  <a:pt x="297656" y="166688"/>
                </a:cubicBezTo>
                <a:cubicBezTo>
                  <a:pt x="317376" y="166688"/>
                  <a:pt x="333375" y="182687"/>
                  <a:pt x="333375" y="202406"/>
                </a:cubicBezTo>
                <a:lnTo>
                  <a:pt x="333375" y="285750"/>
                </a:lnTo>
                <a:cubicBezTo>
                  <a:pt x="333375" y="338361"/>
                  <a:pt x="290736" y="381000"/>
                  <a:pt x="238125" y="381000"/>
                </a:cubicBezTo>
                <a:lnTo>
                  <a:pt x="174650" y="381000"/>
                </a:lnTo>
                <a:cubicBezTo>
                  <a:pt x="170929" y="381000"/>
                  <a:pt x="167283" y="380777"/>
                  <a:pt x="163711" y="380256"/>
                </a:cubicBezTo>
                <a:cubicBezTo>
                  <a:pt x="122560" y="376089"/>
                  <a:pt x="84683" y="354955"/>
                  <a:pt x="59531" y="321469"/>
                </a:cubicBezTo>
                <a:lnTo>
                  <a:pt x="5953" y="250031"/>
                </a:lnTo>
                <a:cubicBezTo>
                  <a:pt x="-3944" y="236860"/>
                  <a:pt x="-1265" y="218256"/>
                  <a:pt x="11906" y="208359"/>
                </a:cubicBezTo>
                <a:cubicBezTo>
                  <a:pt x="25078" y="198462"/>
                  <a:pt x="43681" y="201141"/>
                  <a:pt x="53578" y="214313"/>
                </a:cubicBezTo>
                <a:lnTo>
                  <a:pt x="95250" y="269900"/>
                </a:lnTo>
                <a:lnTo>
                  <a:pt x="95250" y="29766"/>
                </a:lnTo>
                <a:close/>
                <a:moveTo>
                  <a:pt x="178594" y="226219"/>
                </a:moveTo>
                <a:cubicBezTo>
                  <a:pt x="178594" y="219670"/>
                  <a:pt x="173236" y="214313"/>
                  <a:pt x="166688" y="214313"/>
                </a:cubicBezTo>
                <a:cubicBezTo>
                  <a:pt x="160139" y="214313"/>
                  <a:pt x="154781" y="219670"/>
                  <a:pt x="154781" y="226219"/>
                </a:cubicBezTo>
                <a:lnTo>
                  <a:pt x="154781" y="297656"/>
                </a:lnTo>
                <a:cubicBezTo>
                  <a:pt x="154781" y="304205"/>
                  <a:pt x="160139" y="309563"/>
                  <a:pt x="166688" y="309563"/>
                </a:cubicBezTo>
                <a:cubicBezTo>
                  <a:pt x="173236" y="309563"/>
                  <a:pt x="178594" y="304205"/>
                  <a:pt x="178594" y="297656"/>
                </a:cubicBezTo>
                <a:lnTo>
                  <a:pt x="178594" y="226219"/>
                </a:lnTo>
                <a:close/>
                <a:moveTo>
                  <a:pt x="214313" y="214313"/>
                </a:moveTo>
                <a:cubicBezTo>
                  <a:pt x="207764" y="214313"/>
                  <a:pt x="202406" y="219670"/>
                  <a:pt x="202406" y="226219"/>
                </a:cubicBezTo>
                <a:lnTo>
                  <a:pt x="202406" y="297656"/>
                </a:lnTo>
                <a:cubicBezTo>
                  <a:pt x="202406" y="304205"/>
                  <a:pt x="207764" y="309563"/>
                  <a:pt x="214313" y="309563"/>
                </a:cubicBezTo>
                <a:cubicBezTo>
                  <a:pt x="220861" y="309563"/>
                  <a:pt x="226219" y="304205"/>
                  <a:pt x="226219" y="297656"/>
                </a:cubicBezTo>
                <a:lnTo>
                  <a:pt x="226219" y="226219"/>
                </a:lnTo>
                <a:cubicBezTo>
                  <a:pt x="226219" y="219670"/>
                  <a:pt x="220861" y="214313"/>
                  <a:pt x="214313" y="214313"/>
                </a:cubicBezTo>
                <a:close/>
                <a:moveTo>
                  <a:pt x="273844" y="226219"/>
                </a:moveTo>
                <a:cubicBezTo>
                  <a:pt x="273844" y="219670"/>
                  <a:pt x="268486" y="214313"/>
                  <a:pt x="261938" y="214313"/>
                </a:cubicBezTo>
                <a:cubicBezTo>
                  <a:pt x="255389" y="214313"/>
                  <a:pt x="250031" y="219670"/>
                  <a:pt x="250031" y="226219"/>
                </a:cubicBezTo>
                <a:lnTo>
                  <a:pt x="250031" y="297656"/>
                </a:lnTo>
                <a:cubicBezTo>
                  <a:pt x="250031" y="304205"/>
                  <a:pt x="255389" y="309563"/>
                  <a:pt x="261938" y="309563"/>
                </a:cubicBezTo>
                <a:cubicBezTo>
                  <a:pt x="268486" y="309563"/>
                  <a:pt x="273844" y="304205"/>
                  <a:pt x="273844" y="297656"/>
                </a:cubicBezTo>
                <a:lnTo>
                  <a:pt x="273844" y="226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4032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 (反应)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4032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按下开关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62100" y="4973321"/>
            <a:ext cx="906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设计需建立清晰的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“条件—行为”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对应关系，理解人脑如何通过符号、符号结构及符号操作来表征、解释外部世界。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事之情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情感体验与价值判断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2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情是主体完成事件后的内在感受。同一物因事不同而意义迥异。设计需关注体验经济下的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情感溢价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，让物在过程中触发愉悦、回忆或仪式感。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21082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6" name="Image 0" descr="https://kimi-web-img.moonshot.cn/img/amritaharbajan.com/d6144397646a25b68bd01133d55dcc3163dc6de7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6299200" y="23114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315200" y="2413000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茶楼饮茶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7686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优雅从容的心理体验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35306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pic>
        <p:nvPicPr>
          <p:cNvPr id="10" name="Image 1" descr="https://kimi-web-img.moonshot.cn/img/thumbs.dreamstime.com/044fe3d6363114cdcc4c861db6e656f1970f9662.jpg">    </p:cNvPr>
          <p:cNvPicPr>
            <a:picLocks noChangeAspect="1"/>
          </p:cNvPicPr>
          <p:nvPr/>
        </p:nvPicPr>
        <p:blipFill>
          <a:blip r:embed="rId2"/>
          <a:srcRect l="16625" r="16625" t="0" b="0"/>
          <a:stretch/>
        </p:blipFill>
        <p:spPr>
          <a:xfrm>
            <a:off x="6299200" y="37338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7315200" y="38354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登山豪饮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0" y="4191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运动后畅快的生理满足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事物情理：关系场与合情合理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22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事之理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32000"/>
            <a:ext cx="1219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元素间关系的规律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85695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2738120" y="32256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131695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31695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行为主体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09695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52779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4833779" y="32256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98779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8779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行为客体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76779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9863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958013" y="3225642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168414"/>
                </a:moveTo>
                <a:cubicBezTo>
                  <a:pt x="0" y="75367"/>
                  <a:pt x="76795" y="0"/>
                  <a:pt x="171450" y="0"/>
                </a:cubicBezTo>
                <a:cubicBezTo>
                  <a:pt x="266105" y="0"/>
                  <a:pt x="342900" y="75367"/>
                  <a:pt x="342900" y="168414"/>
                </a:cubicBezTo>
                <a:cubicBezTo>
                  <a:pt x="342900" y="274945"/>
                  <a:pt x="235565" y="402640"/>
                  <a:pt x="190738" y="451306"/>
                </a:cubicBezTo>
                <a:cubicBezTo>
                  <a:pt x="180201" y="462736"/>
                  <a:pt x="162610" y="462736"/>
                  <a:pt x="152073" y="451306"/>
                </a:cubicBezTo>
                <a:cubicBezTo>
                  <a:pt x="107246" y="402640"/>
                  <a:pt x="-89" y="274945"/>
                  <a:pt x="-89" y="168414"/>
                </a:cubicBezTo>
                <a:close/>
                <a:moveTo>
                  <a:pt x="171450" y="228600"/>
                </a:moveTo>
                <a:cubicBezTo>
                  <a:pt x="202992" y="228600"/>
                  <a:pt x="228600" y="202992"/>
                  <a:pt x="228600" y="171450"/>
                </a:cubicBezTo>
                <a:cubicBezTo>
                  <a:pt x="228600" y="139908"/>
                  <a:pt x="202992" y="114300"/>
                  <a:pt x="171450" y="114300"/>
                </a:cubicBezTo>
                <a:cubicBezTo>
                  <a:pt x="139908" y="114300"/>
                  <a:pt x="114300" y="139908"/>
                  <a:pt x="114300" y="171450"/>
                </a:cubicBezTo>
                <a:cubicBezTo>
                  <a:pt x="114300" y="202992"/>
                  <a:pt x="139908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5863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5863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时空背景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3863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86946" y="2844642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096" y="3225642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332946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2946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关系规律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0" y="5130642"/>
            <a:ext cx="1026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理是事各元素间的关系规律，具有客观性，可通过观察与归纳被发现，为“实事求是”方法提供认识论支撑。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合情合理：设计检验的双重标准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438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946400" y="271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84200" y="36576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" y="41654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情感价值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。关注体验经济下的情感溢价，让物在过程中触发愉悦、回忆或仪式感。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438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8788400" y="271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36576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80200" y="41654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认知逻辑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。让行为顺畅、意义正向，符合人的目的性、认知与思维的逻辑。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5079842"/>
            <a:ext cx="1219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设计需回到具体的事中去检验，看是否“合情合理”，避免负面情感与价值判断。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108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惯习与路径依赖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717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隐藏之理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428845"/>
            <a:ext cx="5435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QWERTY键盘、VHS制式等“劣胜优”案例揭示了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惯习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的力量。惯习是外在条件内在化的生成结构，具有强大惯性。设计创新需评估路径依赖成本，或通过故事化体验重塑用户期待。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21082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6" name="Image 0" descr="https://kimi-web-img.moonshot.cn/img/thumbs.dreamstime.com/14b87ec648584d87bce12ed52cceabcfb72c2ae0.jpg">    </p:cNvPr>
          <p:cNvPicPr>
            <a:picLocks noChangeAspect="1"/>
          </p:cNvPicPr>
          <p:nvPr/>
        </p:nvPicPr>
        <p:blipFill>
          <a:blip r:embed="rId1"/>
          <a:srcRect l="16625" r="16625" t="0" b="0"/>
          <a:stretch/>
        </p:blipFill>
        <p:spPr>
          <a:xfrm>
            <a:off x="6299200" y="23114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315200" y="2413000"/>
            <a:ext cx="353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QWERTY键盘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768600"/>
            <a:ext cx="353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为放慢速度而设计，却因惯习成为标准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35306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pic>
        <p:nvPicPr>
          <p:cNvPr id="10" name="Image 1" descr="https://kimi-web-img.moonshot.cn/img/static.mercdn.net/a804388e91abc385f2bb42b80f0a1ca732afd56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9200" y="37338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7315200" y="38354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VHS录像系统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0" y="41910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技术略逊，却因市场先占成为主流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hiedesign.in/46a42b50c7de66bb66d233ff3345b1df95411cae.jp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574800" y="660400"/>
            <a:ext cx="904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设计即叙事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574800" y="1473200"/>
            <a:ext cx="904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物是道具，事是核心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0" y="2133600"/>
            <a:ext cx="8534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当功能趋同，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体验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成为差异竞争点。设计师应如编剧，预设五幕情节，让物成为推动故事的道具，创造有意义的经历。 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公共洗衣房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把等待变社交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5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Electrolux在社区洗衣房嵌入儿童区、咖啡吧，使无聊等待转化为邻里互动。设计对象从单一机器扩展至整个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服务流程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，创造情感附加值，提升品牌黏性。 </a:t>
            </a:r>
            <a:endParaRPr lang="en-US" sz="1600" dirty="0"/>
          </a:p>
        </p:txBody>
      </p:sp>
      <p:pic>
        <p:nvPicPr>
          <p:cNvPr id="5" name="Image 0" descr="https://kimi-web-img.moonshot.cn/img/static2.bigstockphoto.com/fcf66ee58a79e21e6cb842f3fc47bc451f3caaa7.jpg">    </p:cNvPr>
          <p:cNvPicPr>
            <a:picLocks noChangeAspect="1"/>
          </p:cNvPicPr>
          <p:nvPr/>
        </p:nvPicPr>
        <p:blipFill>
          <a:blip r:embed="rId1"/>
          <a:srcRect l="15653" r="15653" t="0" b="0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从造物到造事：体验经济转向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" y="254000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00615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 (Who)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8151" y="1151415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忙碌的主妇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25360" y="254000"/>
            <a:ext cx="4610100" cy="4203700"/>
          </a:xfrm>
          <a:custGeom>
            <a:avLst/>
            <a:gdLst/>
            <a:ahLst/>
            <a:cxnLst/>
            <a:rect l="l" t="t" r="r" b="b"/>
            <a:pathLst>
              <a:path w="4610100" h="4203700">
                <a:moveTo>
                  <a:pt x="101603" y="0"/>
                </a:moveTo>
                <a:lnTo>
                  <a:pt x="4508497" y="0"/>
                </a:lnTo>
                <a:cubicBezTo>
                  <a:pt x="4564573" y="0"/>
                  <a:pt x="4610100" y="45527"/>
                  <a:pt x="4610100" y="101603"/>
                </a:cubicBezTo>
                <a:lnTo>
                  <a:pt x="4610100" y="4102097"/>
                </a:lnTo>
                <a:cubicBezTo>
                  <a:pt x="4610100" y="4158173"/>
                  <a:pt x="4564573" y="4203700"/>
                  <a:pt x="4508497" y="4203700"/>
                </a:cubicBezTo>
                <a:lnTo>
                  <a:pt x="101603" y="4203700"/>
                </a:lnTo>
                <a:cubicBezTo>
                  <a:pt x="45527" y="4203700"/>
                  <a:pt x="0" y="4158173"/>
                  <a:pt x="0" y="4102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8198485" y="1998030"/>
            <a:ext cx="337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何时何地 (When/Where)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66480" y="245523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中国厨房狭窄空间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2404430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51045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为何 (Why)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58975" y="3301845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快速准备家庭餐食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555015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401630"/>
            <a:ext cx="18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 (How)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85010" y="545243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用油腻手指调节火力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5360" y="4555015"/>
            <a:ext cx="4610100" cy="2044700"/>
          </a:xfrm>
          <a:custGeom>
            <a:avLst/>
            <a:gdLst/>
            <a:ahLst/>
            <a:cxnLst/>
            <a:rect l="l" t="t" r="r" b="b"/>
            <a:pathLst>
              <a:path w="4610100" h="2044700">
                <a:moveTo>
                  <a:pt x="101601" y="0"/>
                </a:moveTo>
                <a:lnTo>
                  <a:pt x="4508499" y="0"/>
                </a:lnTo>
                <a:cubicBezTo>
                  <a:pt x="4564612" y="0"/>
                  <a:pt x="4610100" y="45488"/>
                  <a:pt x="4610100" y="101601"/>
                </a:cubicBezTo>
                <a:lnTo>
                  <a:pt x="4610100" y="1943099"/>
                </a:lnTo>
                <a:cubicBezTo>
                  <a:pt x="4610100" y="1999212"/>
                  <a:pt x="4564612" y="2044700"/>
                  <a:pt x="45084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994140" y="522383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感受 (Feel)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2080" y="568103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手忙脚乱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87879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设计事理学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97479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协调内外因的目标系统论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50331" y="3459479"/>
            <a:ext cx="1828800" cy="1270000"/>
          </a:xfrm>
          <a:custGeom>
            <a:avLst/>
            <a:gdLst/>
            <a:ahLst/>
            <a:cxnLst/>
            <a:rect l="l" t="t" r="r" b="b"/>
            <a:pathLst>
              <a:path w="1828800" h="1270000">
                <a:moveTo>
                  <a:pt x="101600" y="0"/>
                </a:moveTo>
                <a:lnTo>
                  <a:pt x="1727200" y="0"/>
                </a:lnTo>
                <a:cubicBezTo>
                  <a:pt x="1783275" y="0"/>
                  <a:pt x="1828800" y="45525"/>
                  <a:pt x="1828800" y="101600"/>
                </a:cubicBezTo>
                <a:lnTo>
                  <a:pt x="1828800" y="1168400"/>
                </a:lnTo>
                <a:cubicBezTo>
                  <a:pt x="1828800" y="1224475"/>
                  <a:pt x="1783275" y="1270000"/>
                  <a:pt x="172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19851" y="3683000"/>
            <a:ext cx="19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外在因素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19851" y="40386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人、时、空、环境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19851" y="4343400"/>
            <a:ext cx="193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(限制与资源)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4571" y="3860645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6571" y="3479800"/>
            <a:ext cx="1422400" cy="1270000"/>
          </a:xfrm>
          <a:custGeom>
            <a:avLst/>
            <a:gdLst/>
            <a:ahLst/>
            <a:cxnLst/>
            <a:rect l="l" t="t" r="r" b="b"/>
            <a:pathLst>
              <a:path w="1422400" h="12700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1168400"/>
                </a:lnTo>
                <a:cubicBezTo>
                  <a:pt x="1422400" y="1224475"/>
                  <a:pt x="1376875" y="1270000"/>
                  <a:pt x="1320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535771" y="3683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事理学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5771" y="4038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协调与重组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5771" y="43434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(核心关系能力)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3860645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7200" y="3459479"/>
            <a:ext cx="1422400" cy="1270000"/>
          </a:xfrm>
          <a:custGeom>
            <a:avLst/>
            <a:gdLst/>
            <a:ahLst/>
            <a:cxnLst/>
            <a:rect l="l" t="t" r="r" b="b"/>
            <a:pathLst>
              <a:path w="1422400" h="12700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1168400"/>
                </a:lnTo>
                <a:cubicBezTo>
                  <a:pt x="1422400" y="1224475"/>
                  <a:pt x="1376875" y="1270000"/>
                  <a:pt x="1320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683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内在目标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4038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需求与意义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43434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(出发点与终点)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实事求是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先确诊，再下药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5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现代设计分“实事”与“求是”两阶段：前者研究外部因素发现问题，后者组织内部因素解决问题。复杂问题需系统方法，事理学负责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“实事”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阶段的方法论。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1803716"/>
            <a:ext cx="5842000" cy="1524000"/>
          </a:xfrm>
          <a:custGeom>
            <a:avLst/>
            <a:gdLst/>
            <a:ahLst/>
            <a:cxnLst/>
            <a:rect l="l" t="t" r="r" b="b"/>
            <a:pathLst>
              <a:path w="5842000" h="1524000">
                <a:moveTo>
                  <a:pt x="101605" y="0"/>
                </a:moveTo>
                <a:lnTo>
                  <a:pt x="5740395" y="0"/>
                </a:lnTo>
                <a:cubicBezTo>
                  <a:pt x="5796510" y="0"/>
                  <a:pt x="5842000" y="45490"/>
                  <a:pt x="5842000" y="101605"/>
                </a:cubicBezTo>
                <a:lnTo>
                  <a:pt x="5842000" y="1422395"/>
                </a:lnTo>
                <a:cubicBezTo>
                  <a:pt x="5842000" y="1478510"/>
                  <a:pt x="5796510" y="1524000"/>
                  <a:pt x="5740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6146800" y="2108516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6800" y="2514761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研究外部因素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46800" y="2819561"/>
            <a:ext cx="574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发现问题，定义问题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530600"/>
            <a:ext cx="5842000" cy="1524000"/>
          </a:xfrm>
          <a:custGeom>
            <a:avLst/>
            <a:gdLst/>
            <a:ahLst/>
            <a:cxnLst/>
            <a:rect l="l" t="t" r="r" b="b"/>
            <a:pathLst>
              <a:path w="5842000" h="1524000">
                <a:moveTo>
                  <a:pt x="101605" y="0"/>
                </a:moveTo>
                <a:lnTo>
                  <a:pt x="5740395" y="0"/>
                </a:lnTo>
                <a:cubicBezTo>
                  <a:pt x="5796510" y="0"/>
                  <a:pt x="5842000" y="45490"/>
                  <a:pt x="5842000" y="101605"/>
                </a:cubicBezTo>
                <a:lnTo>
                  <a:pt x="5842000" y="1422395"/>
                </a:lnTo>
                <a:cubicBezTo>
                  <a:pt x="5842000" y="1478510"/>
                  <a:pt x="5796510" y="1524000"/>
                  <a:pt x="5740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6146800" y="3835400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求是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6800" y="4241645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组织内部因素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6800" y="4546445"/>
            <a:ext cx="574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解决问题，创造方案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设计事理学：方法论框架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46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理论特点：超以象外，得其圜中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39014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3920014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50586" y="37846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考察“象外”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50586" y="4140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关系总和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33628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7871778" y="2844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045200" y="37846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理解“圜中”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45200" y="4140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核心规律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4902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要理解物，先绕到物后看其外部关系总和。设计研究需跳出物本体，考察人、时、空、行为、目的、情感六维关系场。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05161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理论特点：关系 · 过程 · 理解 · 主体间性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819561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309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022761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关系主义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3327561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关注元素间关系，而非孤立元素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2819561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6604000" y="309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12097" y="87570"/>
                </a:moveTo>
                <a:cubicBezTo>
                  <a:pt x="107573" y="90071"/>
                  <a:pt x="104775" y="94893"/>
                  <a:pt x="104775" y="100013"/>
                </a:cubicBezTo>
                <a:lnTo>
                  <a:pt x="104775" y="204787"/>
                </a:lnTo>
                <a:cubicBezTo>
                  <a:pt x="104775" y="209967"/>
                  <a:pt x="107573" y="214729"/>
                  <a:pt x="112097" y="217230"/>
                </a:cubicBezTo>
                <a:cubicBezTo>
                  <a:pt x="116622" y="219730"/>
                  <a:pt x="122099" y="219670"/>
                  <a:pt x="126563" y="216932"/>
                </a:cubicBezTo>
                <a:lnTo>
                  <a:pt x="212288" y="164544"/>
                </a:lnTo>
                <a:cubicBezTo>
                  <a:pt x="216515" y="161925"/>
                  <a:pt x="219135" y="157341"/>
                  <a:pt x="219135" y="152340"/>
                </a:cubicBezTo>
                <a:cubicBezTo>
                  <a:pt x="219135" y="147340"/>
                  <a:pt x="216515" y="142756"/>
                  <a:pt x="212288" y="140137"/>
                </a:cubicBezTo>
                <a:lnTo>
                  <a:pt x="126563" y="87749"/>
                </a:lnTo>
                <a:cubicBezTo>
                  <a:pt x="122158" y="85070"/>
                  <a:pt x="116622" y="84951"/>
                  <a:pt x="112097" y="874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61200" y="3022761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过程导向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61200" y="3327561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关注动态过程，而非静态状态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0386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" y="4317839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241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理解原则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4546600"/>
            <a:ext cx="218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追求理解，而非因果解释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0" y="40386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900" y="4317839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61200" y="42418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主体间性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1200" y="4546600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价值判断权在用户，而非设计师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319cd64e668a551592b4e3d4dd4fe915c32b047.jpg">    </p:cNvPr>
          <p:cNvPicPr>
            <a:picLocks noChangeAspect="1"/>
          </p:cNvPicPr>
          <p:nvPr/>
        </p:nvPicPr>
        <p:blipFill>
          <a:blip r:embed="rId1"/>
          <a:srcRect l="16708" r="16708" t="0" b="0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108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资源重组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17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创新的本质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428839"/>
            <a:ext cx="5435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创新不是发明全新元素，而是对硬件与软件资源进行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再组合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。木拱桥在有限技术下通过结构协调实现长寿命与灾害适应，降低了对高新技术的依赖，为可持续设计提供实践路径。 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微观事理学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观察琐碎细节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聚焦具体情境中行为与感知细节，如握持方式、视线移动、情绪起伏。好设计师首先是生活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仔细观察者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，通过微小切口发现未被言明的需求。 </a:t>
            </a:r>
            <a:endParaRPr lang="en-US" sz="1600" dirty="0"/>
          </a:p>
        </p:txBody>
      </p:sp>
      <p:pic>
        <p:nvPicPr>
          <p:cNvPr id="5" name="Image 0" descr="https://kimi-web-img.moonshot.cn/img/thumbs.dreamstime.com/68d89129cff452c78bfea76aafd1010c8e188a0a.jpg">    </p:cNvPr>
          <p:cNvPicPr>
            <a:picLocks noChangeAspect="1"/>
          </p:cNvPicPr>
          <p:nvPr/>
        </p:nvPicPr>
        <p:blipFill>
          <a:blip r:embed="rId1"/>
          <a:srcRect l="16807" r="16807" t="0" b="0"/>
          <a:stretch/>
        </p:blipFill>
        <p:spPr>
          <a:xfrm>
            <a:off x="60960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197600" y="2997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握持方式</a:t>
            </a:r>
            <a:endParaRPr lang="en-US" sz="1600" dirty="0"/>
          </a:p>
        </p:txBody>
      </p:sp>
      <p:pic>
        <p:nvPicPr>
          <p:cNvPr id="7" name="Image 1" descr="https://kimi-web-img.moonshot.cn/img/file.xdf.cn/97f3d881ecef0f572da7845b79910fcd290cc15a.jpg">    </p:cNvPr>
          <p:cNvPicPr>
            <a:picLocks noChangeAspect="1"/>
          </p:cNvPicPr>
          <p:nvPr/>
        </p:nvPicPr>
        <p:blipFill>
          <a:blip r:embed="rId2"/>
          <a:srcRect l="24180" r="24180" t="0" b="0"/>
          <a:stretch/>
        </p:blipFill>
        <p:spPr>
          <a:xfrm>
            <a:off x="90932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8" name="Text 4"/>
          <p:cNvSpPr/>
          <p:nvPr/>
        </p:nvSpPr>
        <p:spPr>
          <a:xfrm>
            <a:off x="9194800" y="2997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视线移动</a:t>
            </a:r>
            <a:endParaRPr lang="en-US" sz="1600" dirty="0"/>
          </a:p>
        </p:txBody>
      </p:sp>
      <p:pic>
        <p:nvPicPr>
          <p:cNvPr id="9" name="Image 2" descr="https://kimi-web-img.moonshot.cn/img/thumbs.dreamstime.com/729fd01e7ba00603dd02d6888a076c8a871f2807.jpg">    </p:cNvPr>
          <p:cNvPicPr>
            <a:picLocks noChangeAspect="1"/>
          </p:cNvPicPr>
          <p:nvPr/>
        </p:nvPicPr>
        <p:blipFill>
          <a:blip r:embed="rId3"/>
          <a:srcRect l="0" r="0" t="13323" b="13323"/>
          <a:stretch/>
        </p:blipFill>
        <p:spPr>
          <a:xfrm>
            <a:off x="6096000" y="3505200"/>
            <a:ext cx="5842000" cy="3098800"/>
          </a:xfrm>
          <a:prstGeom prst="roundRect">
            <a:avLst>
              <a:gd name="adj" fmla="val 3279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197600" y="624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情绪起伏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862e8f41e18889540f3bb2b90df642f599d63dc1">    </p:cNvPr>
          <p:cNvPicPr>
            <a:picLocks noChangeAspect="1"/>
          </p:cNvPicPr>
          <p:nvPr/>
        </p:nvPicPr>
        <p:blipFill>
          <a:blip r:embed="rId1"/>
          <a:srcRect l="5748" r="5748" t="0" b="0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宏观事理学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整合人文社科知识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将人类学、社会学等知识注入设计视角，理解类型化人群的目的与情理。每一次研究都增加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“关于设计的知识”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总量，为构建设计科学大树提供养分。 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生活方式形态模型：需求洞察工具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54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生活方式：事系统的类型化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5654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生活方式是人群惯常经历的“事系统”与“意义丛”的结构化总和。通过观察其物与事可反推社会文化位置，模型可用于市场细分与产品定位。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6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1527175" y="389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都市白领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27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4424363" y="3898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1938" y="196453"/>
                </a:moveTo>
                <a:lnTo>
                  <a:pt x="261938" y="47625"/>
                </a:lnTo>
                <a:cubicBezTo>
                  <a:pt x="261938" y="34454"/>
                  <a:pt x="251296" y="23812"/>
                  <a:pt x="238125" y="23812"/>
                </a:cubicBezTo>
                <a:lnTo>
                  <a:pt x="190500" y="23812"/>
                </a:lnTo>
                <a:cubicBezTo>
                  <a:pt x="177329" y="23812"/>
                  <a:pt x="166688" y="34454"/>
                  <a:pt x="166688" y="47625"/>
                </a:cubicBezTo>
                <a:lnTo>
                  <a:pt x="166688" y="196453"/>
                </a:lnTo>
                <a:cubicBezTo>
                  <a:pt x="166688" y="206350"/>
                  <a:pt x="158725" y="214313"/>
                  <a:pt x="148828" y="214313"/>
                </a:cubicBezTo>
                <a:cubicBezTo>
                  <a:pt x="138931" y="214313"/>
                  <a:pt x="130969" y="206350"/>
                  <a:pt x="130969" y="196453"/>
                </a:cubicBezTo>
                <a:lnTo>
                  <a:pt x="130969" y="58117"/>
                </a:lnTo>
                <a:cubicBezTo>
                  <a:pt x="66973" y="81707"/>
                  <a:pt x="23812" y="142726"/>
                  <a:pt x="23812" y="214313"/>
                </a:cubicBezTo>
                <a:lnTo>
                  <a:pt x="23812" y="261938"/>
                </a:lnTo>
                <a:lnTo>
                  <a:pt x="404813" y="261938"/>
                </a:lnTo>
                <a:lnTo>
                  <a:pt x="404813" y="214313"/>
                </a:lnTo>
                <a:cubicBezTo>
                  <a:pt x="404068" y="143470"/>
                  <a:pt x="361355" y="82079"/>
                  <a:pt x="297656" y="58192"/>
                </a:cubicBezTo>
                <a:lnTo>
                  <a:pt x="297656" y="196453"/>
                </a:lnTo>
                <a:cubicBezTo>
                  <a:pt x="297656" y="206350"/>
                  <a:pt x="289694" y="214313"/>
                  <a:pt x="279797" y="214313"/>
                </a:cubicBezTo>
                <a:cubicBezTo>
                  <a:pt x="269900" y="214313"/>
                  <a:pt x="261938" y="206350"/>
                  <a:pt x="261938" y="196453"/>
                </a:cubicBezTo>
                <a:close/>
                <a:moveTo>
                  <a:pt x="29766" y="297656"/>
                </a:moveTo>
                <a:cubicBezTo>
                  <a:pt x="13320" y="297656"/>
                  <a:pt x="0" y="310976"/>
                  <a:pt x="0" y="327422"/>
                </a:cubicBezTo>
                <a:cubicBezTo>
                  <a:pt x="0" y="343867"/>
                  <a:pt x="13320" y="357188"/>
                  <a:pt x="29766" y="357188"/>
                </a:cubicBezTo>
                <a:lnTo>
                  <a:pt x="398859" y="357188"/>
                </a:lnTo>
                <a:cubicBezTo>
                  <a:pt x="415305" y="357188"/>
                  <a:pt x="428625" y="343867"/>
                  <a:pt x="428625" y="327422"/>
                </a:cubicBezTo>
                <a:cubicBezTo>
                  <a:pt x="428625" y="310976"/>
                  <a:pt x="415305" y="297656"/>
                  <a:pt x="398859" y="297656"/>
                </a:cubicBezTo>
                <a:lnTo>
                  <a:pt x="29766" y="2976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73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进城民工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8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7345363" y="3898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06635" y="71438"/>
                </a:moveTo>
                <a:cubicBezTo>
                  <a:pt x="96217" y="71438"/>
                  <a:pt x="86916" y="78284"/>
                  <a:pt x="83865" y="88255"/>
                </a:cubicBezTo>
                <a:lnTo>
                  <a:pt x="52388" y="190500"/>
                </a:lnTo>
                <a:lnTo>
                  <a:pt x="166688" y="190500"/>
                </a:lnTo>
                <a:cubicBezTo>
                  <a:pt x="179859" y="190500"/>
                  <a:pt x="190500" y="201141"/>
                  <a:pt x="190500" y="214313"/>
                </a:cubicBezTo>
                <a:lnTo>
                  <a:pt x="238125" y="214313"/>
                </a:lnTo>
                <a:cubicBezTo>
                  <a:pt x="238125" y="201141"/>
                  <a:pt x="248766" y="190500"/>
                  <a:pt x="261938" y="190500"/>
                </a:cubicBezTo>
                <a:lnTo>
                  <a:pt x="376238" y="190500"/>
                </a:lnTo>
                <a:lnTo>
                  <a:pt x="344760" y="88255"/>
                </a:lnTo>
                <a:cubicBezTo>
                  <a:pt x="341709" y="78284"/>
                  <a:pt x="332482" y="71438"/>
                  <a:pt x="321990" y="71438"/>
                </a:cubicBezTo>
                <a:lnTo>
                  <a:pt x="297656" y="71438"/>
                </a:lnTo>
                <a:cubicBezTo>
                  <a:pt x="284485" y="71438"/>
                  <a:pt x="273844" y="60796"/>
                  <a:pt x="273844" y="47625"/>
                </a:cubicBezTo>
                <a:cubicBezTo>
                  <a:pt x="273844" y="34454"/>
                  <a:pt x="284485" y="23812"/>
                  <a:pt x="297656" y="23812"/>
                </a:cubicBezTo>
                <a:lnTo>
                  <a:pt x="321990" y="23812"/>
                </a:lnTo>
                <a:cubicBezTo>
                  <a:pt x="353318" y="23812"/>
                  <a:pt x="381074" y="44276"/>
                  <a:pt x="390302" y="74265"/>
                </a:cubicBezTo>
                <a:lnTo>
                  <a:pt x="424086" y="184026"/>
                </a:lnTo>
                <a:cubicBezTo>
                  <a:pt x="427137" y="193849"/>
                  <a:pt x="428625" y="204043"/>
                  <a:pt x="428625" y="214313"/>
                </a:cubicBezTo>
                <a:lnTo>
                  <a:pt x="428625" y="285750"/>
                </a:lnTo>
                <a:cubicBezTo>
                  <a:pt x="428625" y="325189"/>
                  <a:pt x="396627" y="357188"/>
                  <a:pt x="357188" y="357188"/>
                </a:cubicBezTo>
                <a:lnTo>
                  <a:pt x="309563" y="357188"/>
                </a:lnTo>
                <a:cubicBezTo>
                  <a:pt x="270123" y="357188"/>
                  <a:pt x="238125" y="325189"/>
                  <a:pt x="238125" y="285750"/>
                </a:cubicBezTo>
                <a:lnTo>
                  <a:pt x="238125" y="261938"/>
                </a:lnTo>
                <a:lnTo>
                  <a:pt x="190500" y="261938"/>
                </a:lnTo>
                <a:lnTo>
                  <a:pt x="190500" y="285750"/>
                </a:lnTo>
                <a:cubicBezTo>
                  <a:pt x="190500" y="325189"/>
                  <a:pt x="158502" y="357188"/>
                  <a:pt x="119063" y="357188"/>
                </a:cubicBezTo>
                <a:lnTo>
                  <a:pt x="71438" y="357188"/>
                </a:lnTo>
                <a:cubicBezTo>
                  <a:pt x="31998" y="357188"/>
                  <a:pt x="0" y="325189"/>
                  <a:pt x="0" y="285750"/>
                </a:cubicBezTo>
                <a:lnTo>
                  <a:pt x="0" y="214313"/>
                </a:lnTo>
                <a:cubicBezTo>
                  <a:pt x="0" y="204043"/>
                  <a:pt x="1563" y="193849"/>
                  <a:pt x="4539" y="184026"/>
                </a:cubicBezTo>
                <a:lnTo>
                  <a:pt x="38323" y="74265"/>
                </a:lnTo>
                <a:cubicBezTo>
                  <a:pt x="47551" y="44276"/>
                  <a:pt x="75233" y="23812"/>
                  <a:pt x="106635" y="23812"/>
                </a:cubicBezTo>
                <a:lnTo>
                  <a:pt x="130969" y="23812"/>
                </a:lnTo>
                <a:cubicBezTo>
                  <a:pt x="144140" y="23812"/>
                  <a:pt x="154781" y="34454"/>
                  <a:pt x="154781" y="47625"/>
                </a:cubicBezTo>
                <a:cubicBezTo>
                  <a:pt x="154781" y="60796"/>
                  <a:pt x="144140" y="71438"/>
                  <a:pt x="130969" y="71438"/>
                </a:cubicBezTo>
                <a:lnTo>
                  <a:pt x="106635" y="71438"/>
                </a:lnTo>
                <a:close/>
                <a:moveTo>
                  <a:pt x="47625" y="238125"/>
                </a:moveTo>
                <a:lnTo>
                  <a:pt x="47625" y="285750"/>
                </a:lnTo>
                <a:cubicBezTo>
                  <a:pt x="47625" y="298921"/>
                  <a:pt x="58266" y="309563"/>
                  <a:pt x="71438" y="309563"/>
                </a:cubicBezTo>
                <a:lnTo>
                  <a:pt x="119063" y="309563"/>
                </a:lnTo>
                <a:cubicBezTo>
                  <a:pt x="132234" y="309563"/>
                  <a:pt x="142875" y="298921"/>
                  <a:pt x="142875" y="285750"/>
                </a:cubicBezTo>
                <a:lnTo>
                  <a:pt x="142875" y="238125"/>
                </a:lnTo>
                <a:lnTo>
                  <a:pt x="47625" y="238125"/>
                </a:lnTo>
                <a:close/>
                <a:moveTo>
                  <a:pt x="357188" y="309563"/>
                </a:moveTo>
                <a:cubicBezTo>
                  <a:pt x="370359" y="309563"/>
                  <a:pt x="381000" y="298921"/>
                  <a:pt x="381000" y="285750"/>
                </a:cubicBezTo>
                <a:lnTo>
                  <a:pt x="381000" y="238125"/>
                </a:lnTo>
                <a:lnTo>
                  <a:pt x="285750" y="238125"/>
                </a:lnTo>
                <a:lnTo>
                  <a:pt x="285750" y="285750"/>
                </a:lnTo>
                <a:cubicBezTo>
                  <a:pt x="285750" y="298921"/>
                  <a:pt x="296391" y="309563"/>
                  <a:pt x="309563" y="309563"/>
                </a:cubicBezTo>
                <a:lnTo>
                  <a:pt x="357188" y="3095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94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知识分子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9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7800" y="38989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42875" y="59531"/>
                </a:moveTo>
                <a:cubicBezTo>
                  <a:pt x="165874" y="59531"/>
                  <a:pt x="184547" y="40859"/>
                  <a:pt x="184547" y="17859"/>
                </a:cubicBezTo>
                <a:cubicBezTo>
                  <a:pt x="184547" y="-5140"/>
                  <a:pt x="165874" y="-23812"/>
                  <a:pt x="142875" y="-23812"/>
                </a:cubicBezTo>
                <a:cubicBezTo>
                  <a:pt x="119876" y="-23812"/>
                  <a:pt x="101203" y="-5140"/>
                  <a:pt x="101203" y="17859"/>
                </a:cubicBezTo>
                <a:cubicBezTo>
                  <a:pt x="101203" y="40859"/>
                  <a:pt x="119876" y="59531"/>
                  <a:pt x="142875" y="59531"/>
                </a:cubicBezTo>
                <a:close/>
                <a:moveTo>
                  <a:pt x="78432" y="169590"/>
                </a:moveTo>
                <a:lnTo>
                  <a:pt x="95250" y="152772"/>
                </a:lnTo>
                <a:lnTo>
                  <a:pt x="95250" y="204341"/>
                </a:lnTo>
                <a:cubicBezTo>
                  <a:pt x="95250" y="225177"/>
                  <a:pt x="104329" y="245046"/>
                  <a:pt x="120179" y="258589"/>
                </a:cubicBezTo>
                <a:lnTo>
                  <a:pt x="173310" y="304130"/>
                </a:lnTo>
                <a:cubicBezTo>
                  <a:pt x="177701" y="307925"/>
                  <a:pt x="180603" y="313134"/>
                  <a:pt x="181421" y="318864"/>
                </a:cubicBezTo>
                <a:lnTo>
                  <a:pt x="190798" y="384423"/>
                </a:lnTo>
                <a:cubicBezTo>
                  <a:pt x="192658" y="397446"/>
                  <a:pt x="204713" y="406524"/>
                  <a:pt x="217736" y="404664"/>
                </a:cubicBezTo>
                <a:cubicBezTo>
                  <a:pt x="230758" y="402803"/>
                  <a:pt x="239837" y="390748"/>
                  <a:pt x="237976" y="377726"/>
                </a:cubicBezTo>
                <a:lnTo>
                  <a:pt x="228600" y="312167"/>
                </a:lnTo>
                <a:cubicBezTo>
                  <a:pt x="226144" y="294977"/>
                  <a:pt x="217512" y="279350"/>
                  <a:pt x="204341" y="268039"/>
                </a:cubicBezTo>
                <a:lnTo>
                  <a:pt x="178668" y="246013"/>
                </a:lnTo>
                <a:lnTo>
                  <a:pt x="178668" y="160288"/>
                </a:lnTo>
                <a:lnTo>
                  <a:pt x="181496" y="163785"/>
                </a:lnTo>
                <a:cubicBezTo>
                  <a:pt x="195039" y="180752"/>
                  <a:pt x="215578" y="190574"/>
                  <a:pt x="237306" y="190574"/>
                </a:cubicBezTo>
                <a:lnTo>
                  <a:pt x="262012" y="190574"/>
                </a:lnTo>
                <a:cubicBezTo>
                  <a:pt x="275183" y="190574"/>
                  <a:pt x="285824" y="179933"/>
                  <a:pt x="285824" y="166762"/>
                </a:cubicBezTo>
                <a:cubicBezTo>
                  <a:pt x="285824" y="153591"/>
                  <a:pt x="275183" y="142949"/>
                  <a:pt x="262012" y="142949"/>
                </a:cubicBezTo>
                <a:lnTo>
                  <a:pt x="237306" y="142949"/>
                </a:lnTo>
                <a:cubicBezTo>
                  <a:pt x="230088" y="142949"/>
                  <a:pt x="223242" y="139675"/>
                  <a:pt x="218703" y="134020"/>
                </a:cubicBezTo>
                <a:lnTo>
                  <a:pt x="205383" y="117351"/>
                </a:lnTo>
                <a:cubicBezTo>
                  <a:pt x="188268" y="95920"/>
                  <a:pt x="162297" y="83418"/>
                  <a:pt x="134838" y="83418"/>
                </a:cubicBezTo>
                <a:cubicBezTo>
                  <a:pt x="110877" y="83418"/>
                  <a:pt x="87883" y="92943"/>
                  <a:pt x="70991" y="109910"/>
                </a:cubicBezTo>
                <a:lnTo>
                  <a:pt x="44723" y="135880"/>
                </a:lnTo>
                <a:cubicBezTo>
                  <a:pt x="31328" y="149275"/>
                  <a:pt x="23812" y="167432"/>
                  <a:pt x="23812" y="186407"/>
                </a:cubicBezTo>
                <a:lnTo>
                  <a:pt x="23812" y="214313"/>
                </a:lnTo>
                <a:cubicBezTo>
                  <a:pt x="23812" y="227484"/>
                  <a:pt x="34454" y="238125"/>
                  <a:pt x="47625" y="238125"/>
                </a:cubicBezTo>
                <a:cubicBezTo>
                  <a:pt x="60796" y="238125"/>
                  <a:pt x="71438" y="227484"/>
                  <a:pt x="71438" y="214313"/>
                </a:cubicBezTo>
                <a:lnTo>
                  <a:pt x="71438" y="186407"/>
                </a:lnTo>
                <a:cubicBezTo>
                  <a:pt x="71438" y="180082"/>
                  <a:pt x="73968" y="174054"/>
                  <a:pt x="78432" y="169590"/>
                </a:cubicBezTo>
                <a:close/>
                <a:moveTo>
                  <a:pt x="87660" y="303088"/>
                </a:moveTo>
                <a:cubicBezTo>
                  <a:pt x="86544" y="306958"/>
                  <a:pt x="84460" y="310530"/>
                  <a:pt x="81632" y="313358"/>
                </a:cubicBezTo>
                <a:lnTo>
                  <a:pt x="30807" y="364182"/>
                </a:lnTo>
                <a:cubicBezTo>
                  <a:pt x="21506" y="373484"/>
                  <a:pt x="21506" y="388590"/>
                  <a:pt x="30807" y="397892"/>
                </a:cubicBezTo>
                <a:cubicBezTo>
                  <a:pt x="40109" y="407194"/>
                  <a:pt x="55215" y="407194"/>
                  <a:pt x="64517" y="397892"/>
                </a:cubicBezTo>
                <a:lnTo>
                  <a:pt x="115342" y="347067"/>
                </a:lnTo>
                <a:cubicBezTo>
                  <a:pt x="123899" y="338510"/>
                  <a:pt x="130150" y="327868"/>
                  <a:pt x="133499" y="316185"/>
                </a:cubicBezTo>
                <a:lnTo>
                  <a:pt x="135136" y="310530"/>
                </a:lnTo>
                <a:lnTo>
                  <a:pt x="100905" y="281211"/>
                </a:lnTo>
                <a:cubicBezTo>
                  <a:pt x="99045" y="279574"/>
                  <a:pt x="97185" y="277937"/>
                  <a:pt x="95399" y="276151"/>
                </a:cubicBezTo>
                <a:lnTo>
                  <a:pt x="87660" y="3030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空巢老人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4236" y="30988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144236" y="3505039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不自由支配时间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89650" y="1841500"/>
            <a:ext cx="12700" cy="3175000"/>
          </a:xfrm>
          <a:custGeom>
            <a:avLst/>
            <a:gdLst/>
            <a:ahLst/>
            <a:cxnLst/>
            <a:rect l="l" t="t" r="r" b="b"/>
            <a:pathLst>
              <a:path w="12700" h="3175000">
                <a:moveTo>
                  <a:pt x="0" y="0"/>
                </a:moveTo>
                <a:lnTo>
                  <a:pt x="12700" y="0"/>
                </a:lnTo>
                <a:lnTo>
                  <a:pt x="12700" y="3175000"/>
                </a:lnTo>
                <a:lnTo>
                  <a:pt x="0" y="31750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5" name="Text 3"/>
          <p:cNvSpPr/>
          <p:nvPr/>
        </p:nvSpPr>
        <p:spPr>
          <a:xfrm>
            <a:off x="6051550" y="30988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休息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51550" y="3505039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自由支配时间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400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46446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1792446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86492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32492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6698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072698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66744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2744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06949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352949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246995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992995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-254000" y="6400961"/>
            <a:ext cx="1270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需求研究模型：通过衣、食、住、行、用、游、交往七维进行定位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行为意图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0" y="3403600"/>
            <a:ext cx="1282700" cy="50800"/>
          </a:xfrm>
          <a:custGeom>
            <a:avLst/>
            <a:gdLst/>
            <a:ahLst/>
            <a:cxnLst/>
            <a:rect l="l" t="t" r="r" b="b"/>
            <a:pathLst>
              <a:path w="1282700" h="50800">
                <a:moveTo>
                  <a:pt x="0" y="0"/>
                </a:moveTo>
                <a:lnTo>
                  <a:pt x="1282700" y="0"/>
                </a:lnTo>
                <a:lnTo>
                  <a:pt x="128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8C8C8C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462463" y="3327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438150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150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目的指向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56500" y="3403600"/>
            <a:ext cx="1282700" cy="50800"/>
          </a:xfrm>
          <a:custGeom>
            <a:avLst/>
            <a:gdLst/>
            <a:ahLst/>
            <a:cxnLst/>
            <a:rect l="l" t="t" r="r" b="b"/>
            <a:pathLst>
              <a:path w="1282700" h="50800">
                <a:moveTo>
                  <a:pt x="0" y="0"/>
                </a:moveTo>
                <a:lnTo>
                  <a:pt x="1282700" y="0"/>
                </a:lnTo>
                <a:lnTo>
                  <a:pt x="128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C8C8C"/>
              </a:gs>
              <a:gs pos="100000">
                <a:srgbClr val="262626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8843963" y="3327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评估调整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254000" y="6350000"/>
            <a:ext cx="127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行为与事模型：通过拆解目的—执行—感知—解释—评估五段，发现行为断裂点。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13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新工具与方法：多元途径池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66800" y="3124200"/>
            <a:ext cx="1005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事理学不指定单一工具，而提供途径池。选择标准取决于目的与情境，工具价值由使用者的理解深度决定。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965200" y="4038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38100" y="25400"/>
                </a:moveTo>
                <a:cubicBezTo>
                  <a:pt x="24090" y="25400"/>
                  <a:pt x="12700" y="36790"/>
                  <a:pt x="12700" y="50800"/>
                </a:cubicBezTo>
                <a:lnTo>
                  <a:pt x="12700" y="152400"/>
                </a:lnTo>
                <a:cubicBezTo>
                  <a:pt x="12700" y="166410"/>
                  <a:pt x="24090" y="177800"/>
                  <a:pt x="38100" y="177800"/>
                </a:cubicBezTo>
                <a:lnTo>
                  <a:pt x="139700" y="177800"/>
                </a:lnTo>
                <a:cubicBezTo>
                  <a:pt x="153710" y="177800"/>
                  <a:pt x="165100" y="166410"/>
                  <a:pt x="165100" y="152400"/>
                </a:cubicBezTo>
                <a:lnTo>
                  <a:pt x="165100" y="50800"/>
                </a:lnTo>
                <a:cubicBezTo>
                  <a:pt x="165100" y="36790"/>
                  <a:pt x="153710" y="25400"/>
                  <a:pt x="139700" y="25400"/>
                </a:cubicBezTo>
                <a:lnTo>
                  <a:pt x="38100" y="25400"/>
                </a:lnTo>
                <a:close/>
                <a:moveTo>
                  <a:pt x="184150" y="133350"/>
                </a:moveTo>
                <a:lnTo>
                  <a:pt x="213320" y="156686"/>
                </a:lnTo>
                <a:cubicBezTo>
                  <a:pt x="214987" y="158036"/>
                  <a:pt x="217051" y="158750"/>
                  <a:pt x="219194" y="158750"/>
                </a:cubicBezTo>
                <a:cubicBezTo>
                  <a:pt x="224393" y="158750"/>
                  <a:pt x="228600" y="154543"/>
                  <a:pt x="228600" y="149344"/>
                </a:cubicBezTo>
                <a:lnTo>
                  <a:pt x="228600" y="53856"/>
                </a:lnTo>
                <a:cubicBezTo>
                  <a:pt x="228600" y="48657"/>
                  <a:pt x="224393" y="44450"/>
                  <a:pt x="219194" y="44450"/>
                </a:cubicBezTo>
                <a:cubicBezTo>
                  <a:pt x="217051" y="44450"/>
                  <a:pt x="214987" y="45164"/>
                  <a:pt x="213320" y="46514"/>
                </a:cubicBezTo>
                <a:lnTo>
                  <a:pt x="184150" y="69850"/>
                </a:lnTo>
                <a:lnTo>
                  <a:pt x="184150" y="133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影像人种志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258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405130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56078"/>
                </a:moveTo>
                <a:lnTo>
                  <a:pt x="101600" y="178832"/>
                </a:lnTo>
                <a:lnTo>
                  <a:pt x="101798" y="178753"/>
                </a:lnTo>
                <a:cubicBezTo>
                  <a:pt x="123468" y="169743"/>
                  <a:pt x="146725" y="165100"/>
                  <a:pt x="170180" y="165100"/>
                </a:cubicBezTo>
                <a:lnTo>
                  <a:pt x="177800" y="165100"/>
                </a:lnTo>
                <a:lnTo>
                  <a:pt x="177800" y="38100"/>
                </a:lnTo>
                <a:lnTo>
                  <a:pt x="170180" y="38100"/>
                </a:lnTo>
                <a:cubicBezTo>
                  <a:pt x="153432" y="38100"/>
                  <a:pt x="136803" y="41434"/>
                  <a:pt x="121325" y="47863"/>
                </a:cubicBezTo>
                <a:cubicBezTo>
                  <a:pt x="114657" y="50641"/>
                  <a:pt x="108069" y="53380"/>
                  <a:pt x="101600" y="56078"/>
                </a:cubicBezTo>
                <a:close/>
                <a:moveTo>
                  <a:pt x="91638" y="24408"/>
                </a:moveTo>
                <a:lnTo>
                  <a:pt x="101600" y="28575"/>
                </a:lnTo>
                <a:lnTo>
                  <a:pt x="111562" y="24408"/>
                </a:lnTo>
                <a:cubicBezTo>
                  <a:pt x="130135" y="16669"/>
                  <a:pt x="150058" y="12700"/>
                  <a:pt x="17018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171450"/>
                </a:lnTo>
                <a:cubicBezTo>
                  <a:pt x="203200" y="181967"/>
                  <a:pt x="194667" y="190500"/>
                  <a:pt x="184150" y="190500"/>
                </a:cubicBezTo>
                <a:lnTo>
                  <a:pt x="170180" y="190500"/>
                </a:lnTo>
                <a:cubicBezTo>
                  <a:pt x="150058" y="190500"/>
                  <a:pt x="130135" y="194469"/>
                  <a:pt x="111562" y="202208"/>
                </a:cubicBezTo>
                <a:lnTo>
                  <a:pt x="106482" y="204311"/>
                </a:lnTo>
                <a:cubicBezTo>
                  <a:pt x="103346" y="205621"/>
                  <a:pt x="99854" y="205621"/>
                  <a:pt x="96718" y="204311"/>
                </a:cubicBezTo>
                <a:lnTo>
                  <a:pt x="91638" y="202208"/>
                </a:lnTo>
                <a:cubicBezTo>
                  <a:pt x="73065" y="194469"/>
                  <a:pt x="53142" y="190500"/>
                  <a:pt x="33020" y="190500"/>
                </a:cubicBezTo>
                <a:lnTo>
                  <a:pt x="19050" y="190500"/>
                </a:lnTo>
                <a:cubicBezTo>
                  <a:pt x="8533" y="190500"/>
                  <a:pt x="0" y="181967"/>
                  <a:pt x="0" y="171450"/>
                </a:cubicBezTo>
                <a:lnTo>
                  <a:pt x="0" y="31750"/>
                </a:lnTo>
                <a:cubicBezTo>
                  <a:pt x="0" y="21233"/>
                  <a:pt x="8533" y="12700"/>
                  <a:pt x="19050" y="12700"/>
                </a:cubicBezTo>
                <a:lnTo>
                  <a:pt x="33020" y="12700"/>
                </a:lnTo>
                <a:cubicBezTo>
                  <a:pt x="53142" y="12700"/>
                  <a:pt x="73065" y="16669"/>
                  <a:pt x="91638" y="244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814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用户日记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76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7035800" y="4038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67866" y="-6350"/>
                </a:moveTo>
                <a:cubicBezTo>
                  <a:pt x="53419" y="-6350"/>
                  <a:pt x="44926" y="16788"/>
                  <a:pt x="40759" y="38100"/>
                </a:cubicBezTo>
                <a:lnTo>
                  <a:pt x="28575" y="38100"/>
                </a:lnTo>
                <a:cubicBezTo>
                  <a:pt x="23297" y="38100"/>
                  <a:pt x="19050" y="42347"/>
                  <a:pt x="19050" y="47625"/>
                </a:cubicBezTo>
                <a:cubicBezTo>
                  <a:pt x="19050" y="52903"/>
                  <a:pt x="23297" y="57150"/>
                  <a:pt x="28575" y="57150"/>
                </a:cubicBezTo>
                <a:lnTo>
                  <a:pt x="38100" y="57150"/>
                </a:lnTo>
                <a:lnTo>
                  <a:pt x="38100" y="69850"/>
                </a:lnTo>
                <a:cubicBezTo>
                  <a:pt x="38100" y="76597"/>
                  <a:pt x="39410" y="83026"/>
                  <a:pt x="41791" y="88900"/>
                </a:cubicBezTo>
                <a:lnTo>
                  <a:pt x="38100" y="88900"/>
                </a:lnTo>
                <a:lnTo>
                  <a:pt x="38100" y="88900"/>
                </a:lnTo>
                <a:lnTo>
                  <a:pt x="29964" y="88900"/>
                </a:lnTo>
                <a:cubicBezTo>
                  <a:pt x="23932" y="88900"/>
                  <a:pt x="19050" y="93782"/>
                  <a:pt x="19050" y="99814"/>
                </a:cubicBezTo>
                <a:cubicBezTo>
                  <a:pt x="19050" y="101005"/>
                  <a:pt x="19248" y="102156"/>
                  <a:pt x="19606" y="103267"/>
                </a:cubicBezTo>
                <a:lnTo>
                  <a:pt x="31075" y="137636"/>
                </a:lnTo>
                <a:cubicBezTo>
                  <a:pt x="15954" y="150654"/>
                  <a:pt x="6350" y="169902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69902"/>
                  <a:pt x="161846" y="150654"/>
                  <a:pt x="146725" y="137676"/>
                </a:cubicBezTo>
                <a:lnTo>
                  <a:pt x="158194" y="103307"/>
                </a:lnTo>
                <a:cubicBezTo>
                  <a:pt x="158552" y="102195"/>
                  <a:pt x="158750" y="101044"/>
                  <a:pt x="158750" y="99854"/>
                </a:cubicBezTo>
                <a:cubicBezTo>
                  <a:pt x="158750" y="93821"/>
                  <a:pt x="153868" y="88940"/>
                  <a:pt x="147836" y="88940"/>
                </a:cubicBezTo>
                <a:lnTo>
                  <a:pt x="139700" y="88940"/>
                </a:lnTo>
                <a:lnTo>
                  <a:pt x="139700" y="88940"/>
                </a:lnTo>
                <a:lnTo>
                  <a:pt x="136009" y="88940"/>
                </a:lnTo>
                <a:cubicBezTo>
                  <a:pt x="138390" y="83066"/>
                  <a:pt x="139700" y="76637"/>
                  <a:pt x="139700" y="69890"/>
                </a:cubicBezTo>
                <a:lnTo>
                  <a:pt x="139700" y="57190"/>
                </a:lnTo>
                <a:lnTo>
                  <a:pt x="149225" y="57190"/>
                </a:lnTo>
                <a:cubicBezTo>
                  <a:pt x="154503" y="57190"/>
                  <a:pt x="158750" y="52943"/>
                  <a:pt x="158750" y="47665"/>
                </a:cubicBezTo>
                <a:cubicBezTo>
                  <a:pt x="158750" y="42386"/>
                  <a:pt x="154503" y="38140"/>
                  <a:pt x="149225" y="38140"/>
                </a:cubicBezTo>
                <a:lnTo>
                  <a:pt x="137041" y="38140"/>
                </a:lnTo>
                <a:cubicBezTo>
                  <a:pt x="132913" y="16827"/>
                  <a:pt x="124381" y="-6310"/>
                  <a:pt x="109934" y="-6310"/>
                </a:cubicBezTo>
                <a:cubicBezTo>
                  <a:pt x="106124" y="-6310"/>
                  <a:pt x="102394" y="-4763"/>
                  <a:pt x="99020" y="-3056"/>
                </a:cubicBezTo>
                <a:cubicBezTo>
                  <a:pt x="95766" y="-1429"/>
                  <a:pt x="91718" y="40"/>
                  <a:pt x="88900" y="40"/>
                </a:cubicBezTo>
                <a:cubicBezTo>
                  <a:pt x="86082" y="40"/>
                  <a:pt x="82034" y="-1429"/>
                  <a:pt x="78780" y="-3056"/>
                </a:cubicBezTo>
                <a:cubicBezTo>
                  <a:pt x="75406" y="-4802"/>
                  <a:pt x="71676" y="-6350"/>
                  <a:pt x="67866" y="-6350"/>
                </a:cubicBezTo>
                <a:close/>
                <a:moveTo>
                  <a:pt x="105053" y="185896"/>
                </a:moveTo>
                <a:lnTo>
                  <a:pt x="95210" y="157758"/>
                </a:lnTo>
                <a:lnTo>
                  <a:pt x="106283" y="144859"/>
                </a:lnTo>
                <a:cubicBezTo>
                  <a:pt x="107355" y="143589"/>
                  <a:pt x="107950" y="142002"/>
                  <a:pt x="107950" y="140335"/>
                </a:cubicBezTo>
                <a:cubicBezTo>
                  <a:pt x="107950" y="136485"/>
                  <a:pt x="104854" y="133390"/>
                  <a:pt x="101005" y="133390"/>
                </a:cubicBezTo>
                <a:lnTo>
                  <a:pt x="76795" y="133390"/>
                </a:lnTo>
                <a:cubicBezTo>
                  <a:pt x="72946" y="133390"/>
                  <a:pt x="69850" y="136485"/>
                  <a:pt x="69850" y="140335"/>
                </a:cubicBezTo>
                <a:cubicBezTo>
                  <a:pt x="69850" y="142002"/>
                  <a:pt x="70445" y="143589"/>
                  <a:pt x="71517" y="144859"/>
                </a:cubicBezTo>
                <a:lnTo>
                  <a:pt x="82590" y="157758"/>
                </a:lnTo>
                <a:lnTo>
                  <a:pt x="72747" y="185896"/>
                </a:lnTo>
                <a:lnTo>
                  <a:pt x="50125" y="114300"/>
                </a:lnTo>
                <a:lnTo>
                  <a:pt x="64294" y="114300"/>
                </a:lnTo>
                <a:cubicBezTo>
                  <a:pt x="71596" y="118348"/>
                  <a:pt x="79970" y="120650"/>
                  <a:pt x="88900" y="120650"/>
                </a:cubicBezTo>
                <a:cubicBezTo>
                  <a:pt x="97830" y="120650"/>
                  <a:pt x="106204" y="118348"/>
                  <a:pt x="113506" y="114300"/>
                </a:cubicBezTo>
                <a:lnTo>
                  <a:pt x="127675" y="114300"/>
                </a:lnTo>
                <a:lnTo>
                  <a:pt x="105053" y="185896"/>
                </a:lnTo>
                <a:close/>
                <a:moveTo>
                  <a:pt x="88900" y="101600"/>
                </a:moveTo>
                <a:cubicBezTo>
                  <a:pt x="75128" y="101600"/>
                  <a:pt x="63421" y="92829"/>
                  <a:pt x="59015" y="80566"/>
                </a:cubicBezTo>
                <a:cubicBezTo>
                  <a:pt x="61277" y="81836"/>
                  <a:pt x="63897" y="82550"/>
                  <a:pt x="66675" y="82550"/>
                </a:cubicBezTo>
                <a:lnTo>
                  <a:pt x="71596" y="82550"/>
                </a:lnTo>
                <a:cubicBezTo>
                  <a:pt x="78145" y="82550"/>
                  <a:pt x="83939" y="78343"/>
                  <a:pt x="86003" y="72152"/>
                </a:cubicBezTo>
                <a:cubicBezTo>
                  <a:pt x="86916" y="69374"/>
                  <a:pt x="90845" y="69374"/>
                  <a:pt x="91757" y="72152"/>
                </a:cubicBezTo>
                <a:cubicBezTo>
                  <a:pt x="93821" y="78343"/>
                  <a:pt x="99655" y="82550"/>
                  <a:pt x="106164" y="82550"/>
                </a:cubicBezTo>
                <a:lnTo>
                  <a:pt x="111085" y="82550"/>
                </a:lnTo>
                <a:cubicBezTo>
                  <a:pt x="113863" y="82550"/>
                  <a:pt x="116483" y="81836"/>
                  <a:pt x="118745" y="80566"/>
                </a:cubicBezTo>
                <a:cubicBezTo>
                  <a:pt x="114340" y="92829"/>
                  <a:pt x="102632" y="101600"/>
                  <a:pt x="88860" y="101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影子追踪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94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9500" y="4038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焦点团体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知识经济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创造需求即创造市场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知识经济靠新需求拉动，设计通过售前研究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创造消费者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。事理学将需求发现前置，使创新从满足需求转向创造需求，为发展中国家提供非资源依赖的增长路径。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1701961"/>
            <a:ext cx="5842000" cy="1270000"/>
          </a:xfrm>
          <a:custGeom>
            <a:avLst/>
            <a:gdLst/>
            <a:ahLst/>
            <a:cxnLst/>
            <a:rect l="l" t="t" r="r" b="b"/>
            <a:pathLst>
              <a:path w="5842000" h="1270000">
                <a:moveTo>
                  <a:pt x="101600" y="0"/>
                </a:moveTo>
                <a:lnTo>
                  <a:pt x="5740400" y="0"/>
                </a:lnTo>
                <a:cubicBezTo>
                  <a:pt x="5796475" y="0"/>
                  <a:pt x="5842000" y="45525"/>
                  <a:pt x="5842000" y="101600"/>
                </a:cubicBezTo>
                <a:lnTo>
                  <a:pt x="5842000" y="1168400"/>
                </a:lnTo>
                <a:cubicBezTo>
                  <a:pt x="5842000" y="1224475"/>
                  <a:pt x="5796475" y="1270000"/>
                  <a:pt x="57404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6146800" y="2006761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传统模式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6800" y="24130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满足已知需求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6153" y="3175000"/>
            <a:ext cx="391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事理学推动 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886200"/>
            <a:ext cx="5842000" cy="1270000"/>
          </a:xfrm>
          <a:custGeom>
            <a:avLst/>
            <a:gdLst/>
            <a:ahLst/>
            <a:cxnLst/>
            <a:rect l="l" t="t" r="r" b="b"/>
            <a:pathLst>
              <a:path w="5842000" h="1270000">
                <a:moveTo>
                  <a:pt x="101600" y="0"/>
                </a:moveTo>
                <a:lnTo>
                  <a:pt x="5740400" y="0"/>
                </a:lnTo>
                <a:cubicBezTo>
                  <a:pt x="5796475" y="0"/>
                  <a:pt x="5842000" y="45525"/>
                  <a:pt x="5842000" y="101600"/>
                </a:cubicBezTo>
                <a:lnTo>
                  <a:pt x="5842000" y="1168400"/>
                </a:lnTo>
                <a:cubicBezTo>
                  <a:pt x="5842000" y="1224475"/>
                  <a:pt x="5796475" y="1270000"/>
                  <a:pt x="57404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6146800" y="4191000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创新模式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6800" y="4597239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创造潜在需求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</a:t>
            </a:r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设计事理学方法论</dc:title>
  <dc:subject>设计事理学方法论</dc:subject>
  <dc:creator>Kimi</dc:creator>
  <cp:lastModifiedBy>Kimi</cp:lastModifiedBy>
  <cp:revision>1</cp:revision>
  <dcterms:created xsi:type="dcterms:W3CDTF">2025-09-18T15:54:53Z</dcterms:created>
  <dcterms:modified xsi:type="dcterms:W3CDTF">2025-09-18T15:54:53Z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{"Label":"设计事理学方法论","ContentProducer":"001191110108MACG2KBH8F10000","ProduceID":"d362bs543358njuo49o0","ReservedCode1":"","ContentPropagator":"001191110108MACG2KBH8F20000","PropagateID":"d362bs543358njuo49o0","ReservedCode2":""}</vt:lpwstr>
  </property>
</Properties>
</file>